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64"/>
  </p:notesMasterIdLst>
  <p:sldIdLst>
    <p:sldId id="256"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0" r:id="rId21"/>
    <p:sldId id="275" r:id="rId22"/>
    <p:sldId id="276" r:id="rId23"/>
    <p:sldId id="281" r:id="rId24"/>
    <p:sldId id="287" r:id="rId25"/>
    <p:sldId id="295" r:id="rId26"/>
    <p:sldId id="288" r:id="rId27"/>
    <p:sldId id="289" r:id="rId28"/>
    <p:sldId id="290" r:id="rId29"/>
    <p:sldId id="291" r:id="rId30"/>
    <p:sldId id="292" r:id="rId31"/>
    <p:sldId id="293" r:id="rId32"/>
    <p:sldId id="294" r:id="rId33"/>
    <p:sldId id="296" r:id="rId34"/>
    <p:sldId id="297" r:id="rId35"/>
    <p:sldId id="298" r:id="rId36"/>
    <p:sldId id="277" r:id="rId37"/>
    <p:sldId id="279" r:id="rId38"/>
    <p:sldId id="27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Lst>
  <p:sldSz cx="9144000" cy="6858000" type="screen4x3"/>
  <p:notesSz cx="9928225" cy="6797675"/>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C56E6E-661D-4E40-936F-D3F302EB2933}" v="2" dt="2026-08-26T13:52:51.9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07" d="100"/>
          <a:sy n="107" d="100"/>
        </p:scale>
        <p:origin x="1734" y="10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NSH SARAF - 70562300034" userId="S::suryansh.saraf034@nmims.in::dd31d1cf-578e-4395-85c0-36f4a0f862e2" providerId="AD" clId="Web-{D9C56E6E-661D-4E40-936F-D3F302EB2933}"/>
    <pc:docChg chg="addSld delSld">
      <pc:chgData name="SURYANSH SARAF - 70562300034" userId="S::suryansh.saraf034@nmims.in::dd31d1cf-578e-4395-85c0-36f4a0f862e2" providerId="AD" clId="Web-{D9C56E6E-661D-4E40-936F-D3F302EB2933}" dt="2026-08-26T13:52:51.904" v="1"/>
      <pc:docMkLst>
        <pc:docMk/>
      </pc:docMkLst>
      <pc:sldChg chg="new del">
        <pc:chgData name="SURYANSH SARAF - 70562300034" userId="S::suryansh.saraf034@nmims.in::dd31d1cf-578e-4395-85c0-36f4a0f862e2" providerId="AD" clId="Web-{D9C56E6E-661D-4E40-936F-D3F302EB2933}" dt="2026-08-26T13:52:51.904" v="1"/>
        <pc:sldMkLst>
          <pc:docMk/>
          <pc:sldMk cId="172202406"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125" cy="34131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22925" y="0"/>
            <a:ext cx="4303713" cy="341313"/>
          </a:xfrm>
          <a:prstGeom prst="rect">
            <a:avLst/>
          </a:prstGeom>
        </p:spPr>
        <p:txBody>
          <a:bodyPr vert="horz" lIns="91440" tIns="45720" rIns="91440" bIns="45720" rtlCol="0"/>
          <a:lstStyle>
            <a:lvl1pPr algn="r">
              <a:defRPr sz="1200"/>
            </a:lvl1pPr>
          </a:lstStyle>
          <a:p>
            <a:fld id="{551C6D3F-DA71-4318-8A83-0E7E78EFA47E}" type="datetimeFigureOut">
              <a:rPr lang="en-IN" smtClean="0"/>
              <a:t>26-08-2026</a:t>
            </a:fld>
            <a:endParaRPr lang="en-IN"/>
          </a:p>
        </p:txBody>
      </p:sp>
      <p:sp>
        <p:nvSpPr>
          <p:cNvPr id="4" name="Slide Image Placeholder 3"/>
          <p:cNvSpPr>
            <a:spLocks noGrp="1" noRot="1" noChangeAspect="1"/>
          </p:cNvSpPr>
          <p:nvPr>
            <p:ph type="sldImg" idx="2"/>
          </p:nvPr>
        </p:nvSpPr>
        <p:spPr>
          <a:xfrm>
            <a:off x="3435350" y="849313"/>
            <a:ext cx="3057525" cy="2293937"/>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92188" y="3271838"/>
            <a:ext cx="7943850" cy="26765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456363"/>
            <a:ext cx="4302125" cy="34131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22925" y="6456363"/>
            <a:ext cx="4303713" cy="341312"/>
          </a:xfrm>
          <a:prstGeom prst="rect">
            <a:avLst/>
          </a:prstGeom>
        </p:spPr>
        <p:txBody>
          <a:bodyPr vert="horz" lIns="91440" tIns="45720" rIns="91440" bIns="45720" rtlCol="0" anchor="b"/>
          <a:lstStyle>
            <a:lvl1pPr algn="r">
              <a:defRPr sz="1200"/>
            </a:lvl1pPr>
          </a:lstStyle>
          <a:p>
            <a:fld id="{87FDE6EE-B6B5-4982-AD65-F07BC5956703}" type="slidenum">
              <a:rPr lang="en-IN" smtClean="0"/>
              <a:t>‹#›</a:t>
            </a:fld>
            <a:endParaRPr lang="en-IN"/>
          </a:p>
        </p:txBody>
      </p:sp>
    </p:spTree>
    <p:extLst>
      <p:ext uri="{BB962C8B-B14F-4D97-AF65-F5344CB8AC3E}">
        <p14:creationId xmlns:p14="http://schemas.microsoft.com/office/powerpoint/2010/main" val="1220696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400" b="0" i="0">
                <a:solidFill>
                  <a:schemeClr val="tx1"/>
                </a:solidFill>
                <a:latin typeface="Verdana" panose="020B0604030504040204"/>
                <a:cs typeface="Verdana" panose="020B0604030504040204"/>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9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9D1417E7-EE20-4B8B-B98F-4487A9222BCE}" type="datetime1">
              <a:rPr lang="en-US" smtClean="0"/>
              <a:t>8/26/2026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Verdana" panose="020B0604030504040204"/>
                <a:cs typeface="Verdana" panose="020B0604030504040204"/>
              </a:defRPr>
            </a:lvl1pPr>
          </a:lstStyle>
          <a:p>
            <a:endParaRPr/>
          </a:p>
        </p:txBody>
      </p:sp>
      <p:sp>
        <p:nvSpPr>
          <p:cNvPr id="3" name="Holder 3"/>
          <p:cNvSpPr>
            <a:spLocks noGrp="1"/>
          </p:cNvSpPr>
          <p:nvPr>
            <p:ph type="body" idx="1"/>
          </p:nvPr>
        </p:nvSpPr>
        <p:spPr/>
        <p:txBody>
          <a:bodyPr lIns="0" tIns="0" rIns="0" bIns="0"/>
          <a:lstStyle>
            <a:lvl1pPr>
              <a:defRPr sz="29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2D3909D-B496-497C-8EBE-6973811F4ECE}" type="datetime1">
              <a:rPr lang="en-US" smtClean="0"/>
              <a:t>8/26/2026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Verdana" panose="020B0604030504040204"/>
                <a:cs typeface="Verdana" panose="020B0604030504040204"/>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B7007AA7-C42A-4B63-B1F8-C54A0CA02A73}" type="datetime1">
              <a:rPr lang="en-US" smtClean="0"/>
              <a:t>8/26/2026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6824471"/>
          </a:xfrm>
          <a:prstGeom prst="rect">
            <a:avLst/>
          </a:prstGeom>
        </p:spPr>
      </p:pic>
      <p:sp>
        <p:nvSpPr>
          <p:cNvPr id="17" name="bg object 17"/>
          <p:cNvSpPr/>
          <p:nvPr/>
        </p:nvSpPr>
        <p:spPr>
          <a:xfrm>
            <a:off x="0" y="1524000"/>
            <a:ext cx="9144000" cy="1143000"/>
          </a:xfrm>
          <a:custGeom>
            <a:avLst/>
            <a:gdLst/>
            <a:ahLst/>
            <a:cxnLst/>
            <a:rect l="l" t="t" r="r" b="b"/>
            <a:pathLst>
              <a:path w="9144000" h="1143000">
                <a:moveTo>
                  <a:pt x="9144000" y="0"/>
                </a:moveTo>
                <a:lnTo>
                  <a:pt x="0" y="0"/>
                </a:lnTo>
                <a:lnTo>
                  <a:pt x="0" y="1143000"/>
                </a:lnTo>
                <a:lnTo>
                  <a:pt x="9144000" y="1143000"/>
                </a:lnTo>
                <a:lnTo>
                  <a:pt x="9144000" y="0"/>
                </a:lnTo>
                <a:close/>
              </a:path>
            </a:pathLst>
          </a:custGeom>
          <a:solidFill>
            <a:srgbClr val="FFFFFF"/>
          </a:solidFill>
        </p:spPr>
        <p:txBody>
          <a:bodyPr wrap="square" lIns="0" tIns="0" rIns="0" bIns="0" rtlCol="0"/>
          <a:lstStyle/>
          <a:p>
            <a:endParaRPr/>
          </a:p>
        </p:txBody>
      </p:sp>
      <p:sp>
        <p:nvSpPr>
          <p:cNvPr id="18" name="bg object 18"/>
          <p:cNvSpPr/>
          <p:nvPr/>
        </p:nvSpPr>
        <p:spPr>
          <a:xfrm>
            <a:off x="0" y="1600200"/>
            <a:ext cx="1295400" cy="990600"/>
          </a:xfrm>
          <a:custGeom>
            <a:avLst/>
            <a:gdLst/>
            <a:ahLst/>
            <a:cxnLst/>
            <a:rect l="l" t="t" r="r" b="b"/>
            <a:pathLst>
              <a:path w="1295400" h="990600">
                <a:moveTo>
                  <a:pt x="1295400" y="0"/>
                </a:moveTo>
                <a:lnTo>
                  <a:pt x="0" y="0"/>
                </a:lnTo>
                <a:lnTo>
                  <a:pt x="0" y="990600"/>
                </a:lnTo>
                <a:lnTo>
                  <a:pt x="1295400" y="990600"/>
                </a:lnTo>
                <a:lnTo>
                  <a:pt x="1295400" y="0"/>
                </a:lnTo>
                <a:close/>
              </a:path>
            </a:pathLst>
          </a:custGeom>
          <a:solidFill>
            <a:srgbClr val="DD8047"/>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tx1"/>
                </a:solidFill>
                <a:latin typeface="Verdana" panose="020B0604030504040204"/>
                <a:cs typeface="Verdana" panose="020B060403050404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CA461B6-193D-4699-976C-1FA3D4FE0B91}" type="datetime1">
              <a:rPr lang="en-US" smtClean="0"/>
              <a:t>8/26/2026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8F13F27E-E07E-4FA5-B82E-D49987A7E2FB}" type="datetime1">
              <a:rPr lang="en-US" smtClean="0"/>
              <a:t>8/26/2026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280160"/>
            <a:ext cx="533400" cy="228600"/>
          </a:xfrm>
          <a:custGeom>
            <a:avLst/>
            <a:gdLst/>
            <a:ahLst/>
            <a:cxnLst/>
            <a:rect l="l" t="t" r="r" b="b"/>
            <a:pathLst>
              <a:path w="533400" h="228600">
                <a:moveTo>
                  <a:pt x="533400" y="0"/>
                </a:moveTo>
                <a:lnTo>
                  <a:pt x="0" y="0"/>
                </a:lnTo>
                <a:lnTo>
                  <a:pt x="0" y="228600"/>
                </a:lnTo>
                <a:lnTo>
                  <a:pt x="533400" y="228600"/>
                </a:lnTo>
                <a:lnTo>
                  <a:pt x="533400" y="0"/>
                </a:lnTo>
                <a:close/>
              </a:path>
            </a:pathLst>
          </a:custGeom>
          <a:solidFill>
            <a:srgbClr val="DD8047"/>
          </a:solidFill>
        </p:spPr>
        <p:txBody>
          <a:bodyPr wrap="square" lIns="0" tIns="0" rIns="0" bIns="0" rtlCol="0"/>
          <a:lstStyle/>
          <a:p>
            <a:endParaRPr/>
          </a:p>
        </p:txBody>
      </p:sp>
      <p:sp>
        <p:nvSpPr>
          <p:cNvPr id="17" name="bg object 17"/>
          <p:cNvSpPr/>
          <p:nvPr/>
        </p:nvSpPr>
        <p:spPr>
          <a:xfrm>
            <a:off x="590550" y="1280160"/>
            <a:ext cx="8553450" cy="228600"/>
          </a:xfrm>
          <a:custGeom>
            <a:avLst/>
            <a:gdLst/>
            <a:ahLst/>
            <a:cxnLst/>
            <a:rect l="l" t="t" r="r" b="b"/>
            <a:pathLst>
              <a:path w="8553450" h="228600">
                <a:moveTo>
                  <a:pt x="8553450" y="0"/>
                </a:moveTo>
                <a:lnTo>
                  <a:pt x="0" y="0"/>
                </a:lnTo>
                <a:lnTo>
                  <a:pt x="0" y="228600"/>
                </a:lnTo>
                <a:lnTo>
                  <a:pt x="8553450" y="228600"/>
                </a:lnTo>
                <a:lnTo>
                  <a:pt x="8553450" y="0"/>
                </a:lnTo>
                <a:close/>
              </a:path>
            </a:pathLst>
          </a:custGeom>
          <a:solidFill>
            <a:srgbClr val="0070C0"/>
          </a:solidFill>
        </p:spPr>
        <p:txBody>
          <a:bodyPr wrap="square" lIns="0" tIns="0" rIns="0" bIns="0" rtlCol="0"/>
          <a:lstStyle/>
          <a:p>
            <a:endParaRPr/>
          </a:p>
        </p:txBody>
      </p:sp>
      <p:sp>
        <p:nvSpPr>
          <p:cNvPr id="2" name="Holder 2"/>
          <p:cNvSpPr>
            <a:spLocks noGrp="1"/>
          </p:cNvSpPr>
          <p:nvPr>
            <p:ph type="title"/>
          </p:nvPr>
        </p:nvSpPr>
        <p:spPr>
          <a:xfrm>
            <a:off x="688340" y="348995"/>
            <a:ext cx="7917687" cy="795527"/>
          </a:xfrm>
          <a:prstGeom prst="rect">
            <a:avLst/>
          </a:prstGeom>
        </p:spPr>
        <p:txBody>
          <a:bodyPr wrap="square" lIns="0" tIns="0" rIns="0" bIns="0">
            <a:spAutoFit/>
          </a:bodyPr>
          <a:lstStyle>
            <a:lvl1pPr>
              <a:defRPr sz="4400" b="0" i="0">
                <a:solidFill>
                  <a:schemeClr val="tx1"/>
                </a:solidFill>
                <a:latin typeface="Verdana" panose="020B0604030504040204"/>
                <a:cs typeface="Verdana" panose="020B0604030504040204"/>
              </a:defRPr>
            </a:lvl1pPr>
          </a:lstStyle>
          <a:p>
            <a:endParaRPr/>
          </a:p>
        </p:txBody>
      </p:sp>
      <p:sp>
        <p:nvSpPr>
          <p:cNvPr id="3" name="Holder 3"/>
          <p:cNvSpPr>
            <a:spLocks noGrp="1"/>
          </p:cNvSpPr>
          <p:nvPr>
            <p:ph type="body" idx="1"/>
          </p:nvPr>
        </p:nvSpPr>
        <p:spPr>
          <a:xfrm>
            <a:off x="691387" y="1540782"/>
            <a:ext cx="7854315" cy="4761230"/>
          </a:xfrm>
          <a:prstGeom prst="rect">
            <a:avLst/>
          </a:prstGeom>
        </p:spPr>
        <p:txBody>
          <a:bodyPr wrap="square" lIns="0" tIns="0" rIns="0" bIns="0">
            <a:spAutoFit/>
          </a:bodyPr>
          <a:lstStyle>
            <a:lvl1pPr>
              <a:defRPr sz="29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C9D48CFA-1D83-4710-B02C-301484F70B33}" type="datetime1">
              <a:rPr lang="en-US" smtClean="0"/>
              <a:t>8/26/2026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understanding-partial-autocorrelation-functions-pacf-in-time-series-data/" TargetMode="External"/><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hyperlink" Target="https://www.geeksforgeeks.org/autocorrelation-and-partial-autocorrelation/"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hyperlink" Target="https://otexts.com/fpp3/arima-r.html#fig:caf2"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0" y="0"/>
              <a:ext cx="9144000" cy="5971540"/>
            </a:xfrm>
            <a:custGeom>
              <a:avLst/>
              <a:gdLst/>
              <a:ahLst/>
              <a:cxnLst/>
              <a:rect l="l" t="t" r="r" b="b"/>
              <a:pathLst>
                <a:path w="9144000" h="5971540">
                  <a:moveTo>
                    <a:pt x="0" y="5971031"/>
                  </a:moveTo>
                  <a:lnTo>
                    <a:pt x="9144000" y="5971031"/>
                  </a:lnTo>
                  <a:lnTo>
                    <a:pt x="9144000" y="0"/>
                  </a:lnTo>
                  <a:lnTo>
                    <a:pt x="0" y="0"/>
                  </a:lnTo>
                  <a:lnTo>
                    <a:pt x="0" y="5971031"/>
                  </a:lnTo>
                  <a:close/>
                </a:path>
              </a:pathLst>
            </a:custGeom>
            <a:solidFill>
              <a:srgbClr val="0070C0"/>
            </a:solidFill>
          </p:spPr>
          <p:txBody>
            <a:bodyPr wrap="square" lIns="0" tIns="0" rIns="0" bIns="0" rtlCol="0"/>
            <a:lstStyle/>
            <a:p>
              <a:endParaRPr/>
            </a:p>
          </p:txBody>
        </p:sp>
        <p:sp>
          <p:nvSpPr>
            <p:cNvPr id="4" name="object 4"/>
            <p:cNvSpPr/>
            <p:nvPr/>
          </p:nvSpPr>
          <p:spPr>
            <a:xfrm>
              <a:off x="0" y="5971032"/>
              <a:ext cx="9144000" cy="887094"/>
            </a:xfrm>
            <a:custGeom>
              <a:avLst/>
              <a:gdLst/>
              <a:ahLst/>
              <a:cxnLst/>
              <a:rect l="l" t="t" r="r" b="b"/>
              <a:pathLst>
                <a:path w="9144000" h="887095">
                  <a:moveTo>
                    <a:pt x="9144000" y="0"/>
                  </a:moveTo>
                  <a:lnTo>
                    <a:pt x="0" y="0"/>
                  </a:lnTo>
                  <a:lnTo>
                    <a:pt x="0" y="886967"/>
                  </a:lnTo>
                  <a:lnTo>
                    <a:pt x="9144000" y="886967"/>
                  </a:lnTo>
                  <a:lnTo>
                    <a:pt x="9144000" y="0"/>
                  </a:lnTo>
                  <a:close/>
                </a:path>
              </a:pathLst>
            </a:custGeom>
            <a:solidFill>
              <a:srgbClr val="FFFFFF"/>
            </a:solidFill>
          </p:spPr>
          <p:txBody>
            <a:bodyPr wrap="square" lIns="0" tIns="0" rIns="0" bIns="0" rtlCol="0"/>
            <a:lstStyle/>
            <a:p>
              <a:endParaRPr/>
            </a:p>
          </p:txBody>
        </p:sp>
        <p:sp>
          <p:nvSpPr>
            <p:cNvPr id="5" name="object 5"/>
            <p:cNvSpPr/>
            <p:nvPr/>
          </p:nvSpPr>
          <p:spPr>
            <a:xfrm>
              <a:off x="0" y="6053327"/>
              <a:ext cx="2240280" cy="713740"/>
            </a:xfrm>
            <a:custGeom>
              <a:avLst/>
              <a:gdLst/>
              <a:ahLst/>
              <a:cxnLst/>
              <a:rect l="l" t="t" r="r" b="b"/>
              <a:pathLst>
                <a:path w="2240280" h="713740">
                  <a:moveTo>
                    <a:pt x="0" y="713231"/>
                  </a:moveTo>
                  <a:lnTo>
                    <a:pt x="0" y="0"/>
                  </a:lnTo>
                  <a:lnTo>
                    <a:pt x="2240280" y="0"/>
                  </a:lnTo>
                  <a:lnTo>
                    <a:pt x="2240280" y="713231"/>
                  </a:lnTo>
                  <a:lnTo>
                    <a:pt x="0" y="713231"/>
                  </a:lnTo>
                  <a:close/>
                </a:path>
              </a:pathLst>
            </a:custGeom>
            <a:solidFill>
              <a:srgbClr val="DD8047"/>
            </a:solidFill>
          </p:spPr>
          <p:txBody>
            <a:bodyPr wrap="square" lIns="0" tIns="0" rIns="0" bIns="0" rtlCol="0"/>
            <a:lstStyle/>
            <a:p>
              <a:endParaRPr/>
            </a:p>
          </p:txBody>
        </p:sp>
        <p:sp>
          <p:nvSpPr>
            <p:cNvPr id="6" name="object 6"/>
            <p:cNvSpPr/>
            <p:nvPr/>
          </p:nvSpPr>
          <p:spPr>
            <a:xfrm>
              <a:off x="2359151" y="6044183"/>
              <a:ext cx="6784975" cy="713740"/>
            </a:xfrm>
            <a:custGeom>
              <a:avLst/>
              <a:gdLst/>
              <a:ahLst/>
              <a:cxnLst/>
              <a:rect l="l" t="t" r="r" b="b"/>
              <a:pathLst>
                <a:path w="6784975" h="713740">
                  <a:moveTo>
                    <a:pt x="6784848" y="0"/>
                  </a:moveTo>
                  <a:lnTo>
                    <a:pt x="0" y="0"/>
                  </a:lnTo>
                  <a:lnTo>
                    <a:pt x="0" y="713231"/>
                  </a:lnTo>
                  <a:lnTo>
                    <a:pt x="6784848" y="713231"/>
                  </a:lnTo>
                  <a:lnTo>
                    <a:pt x="6784848" y="0"/>
                  </a:lnTo>
                  <a:close/>
                </a:path>
              </a:pathLst>
            </a:custGeom>
            <a:solidFill>
              <a:srgbClr val="94B6D2"/>
            </a:solidFill>
          </p:spPr>
          <p:txBody>
            <a:bodyPr wrap="square" lIns="0" tIns="0" rIns="0" bIns="0" rtlCol="0"/>
            <a:lstStyle/>
            <a:p>
              <a:endParaRPr/>
            </a:p>
          </p:txBody>
        </p:sp>
      </p:grpSp>
      <p:sp>
        <p:nvSpPr>
          <p:cNvPr id="7" name="object 7"/>
          <p:cNvSpPr txBox="1">
            <a:spLocks noGrp="1"/>
          </p:cNvSpPr>
          <p:nvPr>
            <p:ph type="title"/>
          </p:nvPr>
        </p:nvSpPr>
        <p:spPr>
          <a:xfrm>
            <a:off x="838200" y="2290572"/>
            <a:ext cx="7543800" cy="1367682"/>
          </a:xfrm>
          <a:prstGeom prst="rect">
            <a:avLst/>
          </a:prstGeom>
        </p:spPr>
        <p:txBody>
          <a:bodyPr vert="horz" wrap="square" lIns="0" tIns="33655" rIns="0" bIns="0" rtlCol="0">
            <a:spAutoFit/>
          </a:bodyPr>
          <a:lstStyle/>
          <a:p>
            <a:pPr marL="346075" marR="5080" indent="-334010" algn="ctr">
              <a:lnSpc>
                <a:spcPts val="5210"/>
              </a:lnSpc>
              <a:spcBef>
                <a:spcPts val="265"/>
              </a:spcBef>
            </a:pPr>
            <a:r>
              <a:rPr b="1" spc="-10" dirty="0">
                <a:solidFill>
                  <a:schemeClr val="bg1"/>
                </a:solidFill>
                <a:latin typeface="Arial" panose="020B0604020202020204"/>
                <a:ea typeface="+mn-ea"/>
                <a:cs typeface="Arial" panose="020B0604020202020204"/>
              </a:rPr>
              <a:t>TIME SERIES ANALYSIS</a:t>
            </a:r>
            <a:br>
              <a:rPr lang="en-US" b="1" spc="-10" dirty="0">
                <a:solidFill>
                  <a:schemeClr val="bg1"/>
                </a:solidFill>
                <a:latin typeface="Arial" panose="020B0604020202020204"/>
                <a:ea typeface="+mn-ea"/>
                <a:cs typeface="Arial" panose="020B0604020202020204"/>
              </a:rPr>
            </a:br>
            <a:r>
              <a:rPr lang="en-IN" b="1" spc="-10" dirty="0">
                <a:solidFill>
                  <a:schemeClr val="bg1"/>
                </a:solidFill>
                <a:latin typeface="Arial" panose="020B0604020202020204"/>
                <a:ea typeface="+mn-ea"/>
                <a:cs typeface="Arial" panose="020B0604020202020204"/>
              </a:rPr>
              <a:t>Unit 3-4-5-6</a:t>
            </a:r>
            <a:endParaRPr b="1" spc="-10" dirty="0">
              <a:solidFill>
                <a:schemeClr val="bg1"/>
              </a:solidFill>
              <a:latin typeface="Arial" panose="020B0604020202020204"/>
              <a:ea typeface="+mn-ea"/>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401949"/>
            <a:ext cx="7917687" cy="505267"/>
          </a:xfrm>
          <a:prstGeom prst="rect">
            <a:avLst/>
          </a:prstGeom>
        </p:spPr>
        <p:txBody>
          <a:bodyPr vert="horz" wrap="square" lIns="0" tIns="12700" rIns="0" bIns="0" rtlCol="0">
            <a:spAutoFit/>
          </a:bodyPr>
          <a:lstStyle/>
          <a:p>
            <a:pPr marL="15240">
              <a:lnSpc>
                <a:spcPct val="100000"/>
              </a:lnSpc>
              <a:spcBef>
                <a:spcPts val="100"/>
              </a:spcBef>
            </a:pPr>
            <a:r>
              <a:rPr lang="en-US" sz="3200" b="1" spc="-10" dirty="0">
                <a:solidFill>
                  <a:srgbClr val="FF0000"/>
                </a:solidFill>
                <a:latin typeface="Arial" panose="020B0604020202020204"/>
                <a:ea typeface="+mn-ea"/>
                <a:cs typeface="Arial" panose="020B0604020202020204"/>
              </a:rPr>
              <a:t>Differencing</a:t>
            </a:r>
            <a:endParaRPr sz="3200" b="1" spc="-10" dirty="0">
              <a:solidFill>
                <a:srgbClr val="FF0000"/>
              </a:solidFill>
              <a:latin typeface="Arial" panose="020B0604020202020204"/>
              <a:ea typeface="+mn-ea"/>
              <a:cs typeface="Arial" panose="020B0604020202020204"/>
            </a:endParaRPr>
          </a:p>
        </p:txBody>
      </p:sp>
      <p:sp>
        <p:nvSpPr>
          <p:cNvPr id="7" name="TextBox 6"/>
          <p:cNvSpPr txBox="1"/>
          <p:nvPr/>
        </p:nvSpPr>
        <p:spPr>
          <a:xfrm>
            <a:off x="228600" y="1676400"/>
            <a:ext cx="8763000" cy="794576"/>
          </a:xfrm>
          <a:prstGeom prst="rect">
            <a:avLst/>
          </a:prstGeom>
          <a:noFill/>
        </p:spPr>
        <p:txBody>
          <a:bodyPr wrap="square">
            <a:spAutoFit/>
          </a:bodyPr>
          <a:lstStyle/>
          <a:p>
            <a:pPr>
              <a:lnSpc>
                <a:spcPct val="150000"/>
              </a:lnSpc>
            </a:pPr>
            <a:r>
              <a:rPr lang="en-US" sz="1600" b="0" i="0" dirty="0">
                <a:solidFill>
                  <a:srgbClr val="333333"/>
                </a:solidFill>
                <a:effectLst/>
                <a:latin typeface="Book Antiqua" panose="02040602050305030304" pitchFamily="18" charset="0"/>
              </a:rPr>
              <a:t>The backward shift operator B is a useful notational device when working with time series lags:</a:t>
            </a:r>
          </a:p>
        </p:txBody>
      </p:sp>
      <p:pic>
        <p:nvPicPr>
          <p:cNvPr id="9" name="Picture 8"/>
          <p:cNvPicPr>
            <a:picLocks noChangeAspect="1"/>
          </p:cNvPicPr>
          <p:nvPr/>
        </p:nvPicPr>
        <p:blipFill>
          <a:blip r:embed="rId2"/>
          <a:stretch>
            <a:fillRect/>
          </a:stretch>
        </p:blipFill>
        <p:spPr>
          <a:xfrm>
            <a:off x="2590800" y="2322731"/>
            <a:ext cx="1247775" cy="342900"/>
          </a:xfrm>
          <a:prstGeom prst="rect">
            <a:avLst/>
          </a:prstGeom>
        </p:spPr>
      </p:pic>
      <p:sp>
        <p:nvSpPr>
          <p:cNvPr id="11" name="TextBox 10"/>
          <p:cNvSpPr txBox="1"/>
          <p:nvPr/>
        </p:nvSpPr>
        <p:spPr>
          <a:xfrm>
            <a:off x="4034027" y="2340171"/>
            <a:ext cx="4572000" cy="261610"/>
          </a:xfrm>
          <a:prstGeom prst="rect">
            <a:avLst/>
          </a:prstGeom>
          <a:noFill/>
        </p:spPr>
        <p:txBody>
          <a:bodyPr wrap="square">
            <a:spAutoFit/>
          </a:bodyPr>
          <a:lstStyle/>
          <a:p>
            <a:r>
              <a:rPr lang="en-US" sz="1100" b="0" i="0" dirty="0">
                <a:solidFill>
                  <a:srgbClr val="FF0000"/>
                </a:solidFill>
                <a:effectLst/>
                <a:latin typeface="Book Antiqua" panose="02040602050305030304" pitchFamily="18" charset="0"/>
              </a:rPr>
              <a:t>(Some references use L for “lag” instead of B for “backshift”.)</a:t>
            </a:r>
            <a:endParaRPr lang="en-IN" sz="1100" dirty="0">
              <a:solidFill>
                <a:srgbClr val="FF0000"/>
              </a:solidFill>
              <a:latin typeface="Book Antiqua" panose="02040602050305030304" pitchFamily="18" charset="0"/>
            </a:endParaRPr>
          </a:p>
        </p:txBody>
      </p:sp>
      <p:sp>
        <p:nvSpPr>
          <p:cNvPr id="13" name="TextBox 12"/>
          <p:cNvSpPr txBox="1"/>
          <p:nvPr/>
        </p:nvSpPr>
        <p:spPr>
          <a:xfrm>
            <a:off x="266700" y="3006236"/>
            <a:ext cx="8686800" cy="794576"/>
          </a:xfrm>
          <a:prstGeom prst="rect">
            <a:avLst/>
          </a:prstGeom>
          <a:noFill/>
        </p:spPr>
        <p:txBody>
          <a:bodyPr wrap="square">
            <a:spAutoFit/>
          </a:bodyPr>
          <a:lstStyle/>
          <a:p>
            <a:pPr>
              <a:lnSpc>
                <a:spcPct val="150000"/>
              </a:lnSpc>
            </a:pPr>
            <a:r>
              <a:rPr lang="en-US" sz="1600" b="0" i="0" dirty="0">
                <a:solidFill>
                  <a:srgbClr val="333333"/>
                </a:solidFill>
                <a:effectLst/>
                <a:latin typeface="Book Antiqua" panose="02040602050305030304" pitchFamily="18" charset="0"/>
              </a:rPr>
              <a:t>In other words, B, operating on </a:t>
            </a:r>
            <a:r>
              <a:rPr lang="en-US" sz="1600" b="0" i="0" dirty="0" err="1">
                <a:solidFill>
                  <a:srgbClr val="333333"/>
                </a:solidFill>
                <a:effectLst/>
                <a:latin typeface="Book Antiqua" panose="02040602050305030304" pitchFamily="18" charset="0"/>
              </a:rPr>
              <a:t>yt</a:t>
            </a:r>
            <a:r>
              <a:rPr lang="en-US" sz="1600" b="0" i="0" dirty="0">
                <a:solidFill>
                  <a:srgbClr val="333333"/>
                </a:solidFill>
                <a:effectLst/>
                <a:latin typeface="Book Antiqua" panose="02040602050305030304" pitchFamily="18" charset="0"/>
              </a:rPr>
              <a:t>, has the effect of shifting the data back one period. Two applications of B to </a:t>
            </a:r>
            <a:r>
              <a:rPr lang="en-US" sz="1600" b="0" i="0" dirty="0" err="1">
                <a:solidFill>
                  <a:srgbClr val="333333"/>
                </a:solidFill>
                <a:effectLst/>
                <a:latin typeface="Book Antiqua" panose="02040602050305030304" pitchFamily="18" charset="0"/>
              </a:rPr>
              <a:t>yt</a:t>
            </a:r>
            <a:r>
              <a:rPr lang="en-US" sz="1600" b="0" i="0" dirty="0">
                <a:solidFill>
                  <a:srgbClr val="333333"/>
                </a:solidFill>
                <a:effectLst/>
                <a:latin typeface="Book Antiqua" panose="02040602050305030304" pitchFamily="18" charset="0"/>
              </a:rPr>
              <a:t> shifts the data back two periods:</a:t>
            </a:r>
            <a:endParaRPr lang="en-IN" sz="1600" dirty="0">
              <a:latin typeface="Book Antiqua" panose="02040602050305030304" pitchFamily="18" charset="0"/>
            </a:endParaRPr>
          </a:p>
        </p:txBody>
      </p:sp>
      <p:pic>
        <p:nvPicPr>
          <p:cNvPr id="15" name="Picture 14"/>
          <p:cNvPicPr>
            <a:picLocks noChangeAspect="1"/>
          </p:cNvPicPr>
          <p:nvPr/>
        </p:nvPicPr>
        <p:blipFill>
          <a:blip r:embed="rId3"/>
          <a:stretch>
            <a:fillRect/>
          </a:stretch>
        </p:blipFill>
        <p:spPr>
          <a:xfrm>
            <a:off x="2681968" y="3983647"/>
            <a:ext cx="1857375" cy="352425"/>
          </a:xfrm>
          <a:prstGeom prst="rect">
            <a:avLst/>
          </a:prstGeom>
        </p:spPr>
      </p:pic>
      <p:sp>
        <p:nvSpPr>
          <p:cNvPr id="17" name="TextBox 16"/>
          <p:cNvSpPr txBox="1"/>
          <p:nvPr/>
        </p:nvSpPr>
        <p:spPr>
          <a:xfrm>
            <a:off x="228600" y="4421325"/>
            <a:ext cx="8686800" cy="338554"/>
          </a:xfrm>
          <a:prstGeom prst="rect">
            <a:avLst/>
          </a:prstGeom>
          <a:noFill/>
        </p:spPr>
        <p:txBody>
          <a:bodyPr wrap="square">
            <a:spAutoFit/>
          </a:bodyPr>
          <a:lstStyle/>
          <a:p>
            <a:r>
              <a:rPr lang="en-US" sz="1600" dirty="0">
                <a:solidFill>
                  <a:srgbClr val="333333"/>
                </a:solidFill>
                <a:latin typeface="Book Antiqua" panose="02040602050305030304" pitchFamily="18" charset="0"/>
              </a:rPr>
              <a:t>For monthly data, if we wish to consider “the same month last year,” the notation is</a:t>
            </a:r>
            <a:endParaRPr lang="en-IN" sz="1600" dirty="0">
              <a:solidFill>
                <a:srgbClr val="333333"/>
              </a:solidFill>
              <a:latin typeface="Book Antiqua" panose="02040602050305030304" pitchFamily="18" charset="0"/>
            </a:endParaRPr>
          </a:p>
        </p:txBody>
      </p:sp>
      <p:pic>
        <p:nvPicPr>
          <p:cNvPr id="19" name="Picture 18"/>
          <p:cNvPicPr>
            <a:picLocks noChangeAspect="1"/>
          </p:cNvPicPr>
          <p:nvPr/>
        </p:nvPicPr>
        <p:blipFill>
          <a:blip r:embed="rId4"/>
          <a:stretch>
            <a:fillRect/>
          </a:stretch>
        </p:blipFill>
        <p:spPr>
          <a:xfrm>
            <a:off x="3124200" y="4870236"/>
            <a:ext cx="571500" cy="323850"/>
          </a:xfrm>
          <a:prstGeom prst="rect">
            <a:avLst/>
          </a:prstGeom>
        </p:spPr>
      </p:pic>
      <p:pic>
        <p:nvPicPr>
          <p:cNvPr id="21" name="Picture 20"/>
          <p:cNvPicPr>
            <a:picLocks noChangeAspect="1"/>
          </p:cNvPicPr>
          <p:nvPr/>
        </p:nvPicPr>
        <p:blipFill>
          <a:blip r:embed="rId5"/>
          <a:stretch>
            <a:fillRect/>
          </a:stretch>
        </p:blipFill>
        <p:spPr>
          <a:xfrm>
            <a:off x="3714730" y="4918875"/>
            <a:ext cx="638594" cy="226571"/>
          </a:xfrm>
          <a:prstGeom prst="rect">
            <a:avLst/>
          </a:prstGeom>
        </p:spPr>
      </p:pic>
      <p:sp>
        <p:nvSpPr>
          <p:cNvPr id="23" name="TextBox 22"/>
          <p:cNvSpPr txBox="1"/>
          <p:nvPr/>
        </p:nvSpPr>
        <p:spPr>
          <a:xfrm>
            <a:off x="228600" y="5316883"/>
            <a:ext cx="8210059" cy="794576"/>
          </a:xfrm>
          <a:prstGeom prst="rect">
            <a:avLst/>
          </a:prstGeom>
          <a:noFill/>
        </p:spPr>
        <p:txBody>
          <a:bodyPr wrap="square">
            <a:spAutoFit/>
          </a:bodyPr>
          <a:lstStyle/>
          <a:p>
            <a:pPr>
              <a:lnSpc>
                <a:spcPct val="150000"/>
              </a:lnSpc>
            </a:pPr>
            <a:r>
              <a:rPr lang="en-US" sz="1600" dirty="0">
                <a:solidFill>
                  <a:srgbClr val="333333"/>
                </a:solidFill>
                <a:latin typeface="Book Antiqua" panose="02040602050305030304" pitchFamily="18" charset="0"/>
              </a:rPr>
              <a:t>The backward shift operator is convenient for describing the process of differencing. A first difference can be written as</a:t>
            </a:r>
            <a:endParaRPr lang="en-IN" sz="1600" dirty="0">
              <a:solidFill>
                <a:srgbClr val="333333"/>
              </a:solidFill>
              <a:latin typeface="Book Antiqua" panose="02040602050305030304" pitchFamily="18" charset="0"/>
            </a:endParaRPr>
          </a:p>
        </p:txBody>
      </p:sp>
      <p:pic>
        <p:nvPicPr>
          <p:cNvPr id="25" name="Picture 24"/>
          <p:cNvPicPr>
            <a:picLocks noChangeAspect="1"/>
          </p:cNvPicPr>
          <p:nvPr/>
        </p:nvPicPr>
        <p:blipFill>
          <a:blip r:embed="rId6"/>
          <a:stretch>
            <a:fillRect/>
          </a:stretch>
        </p:blipFill>
        <p:spPr>
          <a:xfrm>
            <a:off x="2617237" y="6111459"/>
            <a:ext cx="3162300" cy="3619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spcBef>
                <a:spcPts val="100"/>
              </a:spcBef>
            </a:pPr>
            <a:r>
              <a:rPr lang="en-US" sz="3200" b="1" spc="-10" dirty="0">
                <a:solidFill>
                  <a:srgbClr val="FF0000"/>
                </a:solidFill>
                <a:latin typeface="Arial" panose="020B0604020202020204"/>
                <a:ea typeface="+mn-ea"/>
                <a:cs typeface="Arial" panose="020B0604020202020204"/>
              </a:rPr>
              <a:t>Differencing</a:t>
            </a:r>
            <a:endParaRPr sz="3200" b="1" spc="-10" dirty="0">
              <a:solidFill>
                <a:srgbClr val="FF0000"/>
              </a:solidFill>
              <a:latin typeface="Arial" panose="020B0604020202020204"/>
              <a:ea typeface="+mn-ea"/>
              <a:cs typeface="Arial" panose="020B0604020202020204"/>
            </a:endParaRPr>
          </a:p>
        </p:txBody>
      </p:sp>
      <p:sp>
        <p:nvSpPr>
          <p:cNvPr id="7" name="TextBox 6"/>
          <p:cNvSpPr txBox="1"/>
          <p:nvPr/>
        </p:nvSpPr>
        <p:spPr>
          <a:xfrm>
            <a:off x="228600" y="1676400"/>
            <a:ext cx="8763000" cy="794576"/>
          </a:xfrm>
          <a:prstGeom prst="rect">
            <a:avLst/>
          </a:prstGeom>
          <a:noFill/>
        </p:spPr>
        <p:txBody>
          <a:bodyPr wrap="square">
            <a:spAutoFit/>
          </a:bodyPr>
          <a:lstStyle/>
          <a:p>
            <a:pPr>
              <a:lnSpc>
                <a:spcPct val="150000"/>
              </a:lnSpc>
            </a:pPr>
            <a:r>
              <a:rPr lang="en-US" sz="1600" dirty="0">
                <a:solidFill>
                  <a:srgbClr val="333333"/>
                </a:solidFill>
                <a:latin typeface="Book Antiqua" panose="02040602050305030304" pitchFamily="18" charset="0"/>
              </a:rPr>
              <a:t>So a first difference can be represented by (1−B)(1−B). Similarly, if second-order differences have to be computed, then:</a:t>
            </a:r>
          </a:p>
        </p:txBody>
      </p:sp>
      <p:sp>
        <p:nvSpPr>
          <p:cNvPr id="13" name="TextBox 12"/>
          <p:cNvSpPr txBox="1"/>
          <p:nvPr/>
        </p:nvSpPr>
        <p:spPr>
          <a:xfrm>
            <a:off x="266700" y="3006236"/>
            <a:ext cx="8686800" cy="424668"/>
          </a:xfrm>
          <a:prstGeom prst="rect">
            <a:avLst/>
          </a:prstGeom>
          <a:noFill/>
        </p:spPr>
        <p:txBody>
          <a:bodyPr wrap="square">
            <a:spAutoFit/>
          </a:bodyPr>
          <a:lstStyle/>
          <a:p>
            <a:pPr>
              <a:lnSpc>
                <a:spcPct val="150000"/>
              </a:lnSpc>
            </a:pPr>
            <a:r>
              <a:rPr lang="en-US" sz="1600" dirty="0">
                <a:solidFill>
                  <a:srgbClr val="333333"/>
                </a:solidFill>
                <a:latin typeface="Book Antiqua" panose="02040602050305030304" pitchFamily="18" charset="0"/>
              </a:rPr>
              <a:t>In general, a </a:t>
            </a:r>
            <a:r>
              <a:rPr lang="en-US" sz="1600" dirty="0" err="1">
                <a:solidFill>
                  <a:srgbClr val="333333"/>
                </a:solidFill>
                <a:latin typeface="Book Antiqua" panose="02040602050305030304" pitchFamily="18" charset="0"/>
              </a:rPr>
              <a:t>dth</a:t>
            </a:r>
            <a:r>
              <a:rPr lang="en-US" sz="1600" dirty="0">
                <a:solidFill>
                  <a:srgbClr val="333333"/>
                </a:solidFill>
                <a:latin typeface="Book Antiqua" panose="02040602050305030304" pitchFamily="18" charset="0"/>
              </a:rPr>
              <a:t>-order difference can be written as</a:t>
            </a:r>
            <a:endParaRPr lang="en-IN" sz="1600" dirty="0">
              <a:solidFill>
                <a:srgbClr val="333333"/>
              </a:solidFill>
              <a:latin typeface="Book Antiqua" panose="02040602050305030304" pitchFamily="18" charset="0"/>
            </a:endParaRPr>
          </a:p>
        </p:txBody>
      </p:sp>
      <p:pic>
        <p:nvPicPr>
          <p:cNvPr id="4" name="Picture 3"/>
          <p:cNvPicPr>
            <a:picLocks noChangeAspect="1"/>
          </p:cNvPicPr>
          <p:nvPr/>
        </p:nvPicPr>
        <p:blipFill>
          <a:blip r:embed="rId2"/>
          <a:stretch>
            <a:fillRect/>
          </a:stretch>
        </p:blipFill>
        <p:spPr>
          <a:xfrm>
            <a:off x="2205718" y="2533818"/>
            <a:ext cx="4667250" cy="409575"/>
          </a:xfrm>
          <a:prstGeom prst="rect">
            <a:avLst/>
          </a:prstGeom>
        </p:spPr>
      </p:pic>
      <p:pic>
        <p:nvPicPr>
          <p:cNvPr id="6" name="Picture 5"/>
          <p:cNvPicPr>
            <a:picLocks noChangeAspect="1"/>
          </p:cNvPicPr>
          <p:nvPr/>
        </p:nvPicPr>
        <p:blipFill>
          <a:blip r:embed="rId3"/>
          <a:stretch>
            <a:fillRect/>
          </a:stretch>
        </p:blipFill>
        <p:spPr>
          <a:xfrm>
            <a:off x="3567302" y="3564449"/>
            <a:ext cx="933450" cy="4000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spcBef>
                <a:spcPts val="100"/>
              </a:spcBef>
            </a:pPr>
            <a:r>
              <a:rPr lang="en-US" sz="3200" b="1" spc="-10" dirty="0">
                <a:solidFill>
                  <a:srgbClr val="FF0000"/>
                </a:solidFill>
                <a:latin typeface="Arial" panose="020B0604020202020204"/>
                <a:ea typeface="+mn-ea"/>
                <a:cs typeface="Arial" panose="020B0604020202020204"/>
              </a:rPr>
              <a:t>Auto-Regression</a:t>
            </a:r>
            <a:endParaRPr sz="3200" b="1" spc="-10" dirty="0">
              <a:solidFill>
                <a:srgbClr val="FF0000"/>
              </a:solidFill>
              <a:latin typeface="Arial" panose="020B0604020202020204"/>
              <a:ea typeface="+mn-ea"/>
              <a:cs typeface="Arial" panose="020B0604020202020204"/>
            </a:endParaRPr>
          </a:p>
        </p:txBody>
      </p:sp>
      <p:sp>
        <p:nvSpPr>
          <p:cNvPr id="8" name="TextBox 7"/>
          <p:cNvSpPr txBox="1"/>
          <p:nvPr/>
        </p:nvSpPr>
        <p:spPr>
          <a:xfrm>
            <a:off x="152400" y="1524000"/>
            <a:ext cx="8915400" cy="3010568"/>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600" dirty="0">
                <a:solidFill>
                  <a:srgbClr val="333333"/>
                </a:solidFill>
                <a:latin typeface="Book Antiqua" panose="02040602050305030304" pitchFamily="18" charset="0"/>
              </a:rPr>
              <a:t>In a multiple regression model, we forecast the variable of interest using a linear combination of predictors. </a:t>
            </a:r>
          </a:p>
          <a:p>
            <a:pPr algn="just">
              <a:lnSpc>
                <a:spcPct val="150000"/>
              </a:lnSpc>
            </a:pPr>
            <a:endParaRPr lang="en-US" sz="1600" dirty="0">
              <a:solidFill>
                <a:srgbClr val="333333"/>
              </a:solidFill>
              <a:latin typeface="Book Antiqua" panose="02040602050305030304" pitchFamily="18" charset="0"/>
            </a:endParaRPr>
          </a:p>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In an autoregression model, we forecast the variable of interest using a linear combination of </a:t>
            </a:r>
            <a:r>
              <a:rPr lang="en-US" sz="1600" b="0" i="1" dirty="0">
                <a:solidFill>
                  <a:srgbClr val="333333"/>
                </a:solidFill>
                <a:effectLst/>
                <a:latin typeface="Book Antiqua" panose="02040602050305030304" pitchFamily="18" charset="0"/>
              </a:rPr>
              <a:t>past values of the variable</a:t>
            </a:r>
            <a:r>
              <a:rPr lang="en-US" sz="1600" b="0" i="0" dirty="0">
                <a:solidFill>
                  <a:srgbClr val="333333"/>
                </a:solidFill>
                <a:effectLst/>
                <a:latin typeface="Book Antiqua" panose="02040602050305030304" pitchFamily="18" charset="0"/>
              </a:rPr>
              <a:t>. </a:t>
            </a:r>
          </a:p>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The term </a:t>
            </a:r>
            <a:r>
              <a:rPr lang="en-US" sz="1600" b="0" i="1" dirty="0">
                <a:solidFill>
                  <a:srgbClr val="333333"/>
                </a:solidFill>
                <a:effectLst/>
                <a:latin typeface="Book Antiqua" panose="02040602050305030304" pitchFamily="18" charset="0"/>
              </a:rPr>
              <a:t>auto</a:t>
            </a:r>
            <a:r>
              <a:rPr lang="en-US" sz="1600" b="0" i="0" dirty="0">
                <a:solidFill>
                  <a:srgbClr val="333333"/>
                </a:solidFill>
                <a:effectLst/>
                <a:latin typeface="Book Antiqua" panose="02040602050305030304" pitchFamily="18" charset="0"/>
              </a:rPr>
              <a:t>regression indicates that it is a regression of the variable against itself.</a:t>
            </a:r>
          </a:p>
          <a:p>
            <a:pPr marL="285750" indent="-285750" algn="just">
              <a:lnSpc>
                <a:spcPct val="150000"/>
              </a:lnSpc>
              <a:buFont typeface="Wingdings" panose="05000000000000000000" pitchFamily="2" charset="2"/>
              <a:buChar char="q"/>
            </a:pPr>
            <a:r>
              <a:rPr lang="en-US" sz="1600" dirty="0">
                <a:solidFill>
                  <a:srgbClr val="333333"/>
                </a:solidFill>
                <a:latin typeface="Book Antiqua" panose="02040602050305030304" pitchFamily="18" charset="0"/>
              </a:rPr>
              <a:t>Thus, an autoregressive model of order p can be written as</a:t>
            </a:r>
            <a:endParaRPr lang="en-IN" sz="1600" dirty="0">
              <a:solidFill>
                <a:srgbClr val="333333"/>
              </a:solidFill>
              <a:latin typeface="Book Antiqua" panose="02040602050305030304" pitchFamily="18" charset="0"/>
            </a:endParaRPr>
          </a:p>
          <a:p>
            <a:pPr marL="285750" indent="-285750" algn="just">
              <a:lnSpc>
                <a:spcPct val="150000"/>
              </a:lnSpc>
              <a:buFont typeface="Wingdings" panose="05000000000000000000" pitchFamily="2" charset="2"/>
              <a:buChar char="q"/>
            </a:pPr>
            <a:endParaRPr lang="en-IN" sz="1600" dirty="0">
              <a:latin typeface="Book Antiqua" panose="02040602050305030304" pitchFamily="18" charset="0"/>
            </a:endParaRPr>
          </a:p>
        </p:txBody>
      </p:sp>
      <p:pic>
        <p:nvPicPr>
          <p:cNvPr id="11" name="Picture 10"/>
          <p:cNvPicPr>
            <a:picLocks noChangeAspect="1"/>
          </p:cNvPicPr>
          <p:nvPr/>
        </p:nvPicPr>
        <p:blipFill>
          <a:blip r:embed="rId2"/>
          <a:stretch>
            <a:fillRect/>
          </a:stretch>
        </p:blipFill>
        <p:spPr>
          <a:xfrm>
            <a:off x="2667000" y="4191668"/>
            <a:ext cx="3638550" cy="342900"/>
          </a:xfrm>
          <a:prstGeom prst="rect">
            <a:avLst/>
          </a:prstGeom>
        </p:spPr>
      </p:pic>
      <p:sp>
        <p:nvSpPr>
          <p:cNvPr id="14" name="TextBox 13"/>
          <p:cNvSpPr txBox="1"/>
          <p:nvPr/>
        </p:nvSpPr>
        <p:spPr>
          <a:xfrm>
            <a:off x="1371600" y="4510380"/>
            <a:ext cx="4613988" cy="338554"/>
          </a:xfrm>
          <a:prstGeom prst="rect">
            <a:avLst/>
          </a:prstGeom>
          <a:noFill/>
        </p:spPr>
        <p:txBody>
          <a:bodyPr wrap="square">
            <a:spAutoFit/>
          </a:bodyPr>
          <a:lstStyle/>
          <a:p>
            <a:r>
              <a:rPr lang="en-US" sz="1600" b="0" i="0" dirty="0">
                <a:solidFill>
                  <a:srgbClr val="00B050"/>
                </a:solidFill>
                <a:effectLst/>
                <a:latin typeface="Book Antiqua" panose="02040602050305030304" pitchFamily="18" charset="0"/>
              </a:rPr>
              <a:t>where </a:t>
            </a:r>
            <a:r>
              <a:rPr lang="en-US" sz="1600" b="0" i="0" dirty="0" err="1">
                <a:solidFill>
                  <a:srgbClr val="00B050"/>
                </a:solidFill>
                <a:effectLst/>
                <a:latin typeface="Book Antiqua" panose="02040602050305030304" pitchFamily="18" charset="0"/>
              </a:rPr>
              <a:t>εt</a:t>
            </a:r>
            <a:r>
              <a:rPr lang="en-US" sz="1600" b="0" i="0" dirty="0">
                <a:solidFill>
                  <a:srgbClr val="00B050"/>
                </a:solidFill>
                <a:effectLst/>
                <a:latin typeface="Book Antiqua" panose="02040602050305030304" pitchFamily="18" charset="0"/>
              </a:rPr>
              <a:t> is white noise</a:t>
            </a:r>
            <a:endParaRPr lang="en-IN" sz="1600" dirty="0">
              <a:solidFill>
                <a:srgbClr val="00B050"/>
              </a:solidFill>
              <a:latin typeface="Book Antiqua" panose="02040602050305030304" pitchFamily="18" charset="0"/>
            </a:endParaRPr>
          </a:p>
        </p:txBody>
      </p:sp>
      <p:sp>
        <p:nvSpPr>
          <p:cNvPr id="16" name="TextBox 15"/>
          <p:cNvSpPr txBox="1"/>
          <p:nvPr/>
        </p:nvSpPr>
        <p:spPr>
          <a:xfrm>
            <a:off x="304800" y="5050911"/>
            <a:ext cx="8610600" cy="794320"/>
          </a:xfrm>
          <a:prstGeom prst="rect">
            <a:avLst/>
          </a:prstGeom>
          <a:noFill/>
        </p:spPr>
        <p:txBody>
          <a:bodyPr wrap="square">
            <a:spAutoFit/>
          </a:bodyPr>
          <a:lstStyle/>
          <a:p>
            <a:pPr>
              <a:lnSpc>
                <a:spcPct val="150000"/>
              </a:lnSpc>
            </a:pPr>
            <a:r>
              <a:rPr lang="en-US" sz="1600" b="0" i="0" dirty="0">
                <a:solidFill>
                  <a:srgbClr val="0070C0"/>
                </a:solidFill>
                <a:effectLst/>
                <a:latin typeface="Book Antiqua" panose="02040602050305030304" pitchFamily="18" charset="0"/>
              </a:rPr>
              <a:t>This is like a multiple regression but with </a:t>
            </a:r>
            <a:r>
              <a:rPr lang="en-US" sz="1600" b="0" i="1" dirty="0">
                <a:solidFill>
                  <a:srgbClr val="0070C0"/>
                </a:solidFill>
                <a:effectLst/>
                <a:latin typeface="Book Antiqua" panose="02040602050305030304" pitchFamily="18" charset="0"/>
              </a:rPr>
              <a:t>lagged values</a:t>
            </a:r>
            <a:r>
              <a:rPr lang="en-US" sz="1600" b="0" i="0" dirty="0">
                <a:solidFill>
                  <a:srgbClr val="0070C0"/>
                </a:solidFill>
                <a:effectLst/>
                <a:latin typeface="Book Antiqua" panose="02040602050305030304" pitchFamily="18" charset="0"/>
              </a:rPr>
              <a:t> of </a:t>
            </a:r>
            <a:r>
              <a:rPr lang="en-US" sz="1600" b="0" i="0" dirty="0" err="1">
                <a:solidFill>
                  <a:srgbClr val="0070C0"/>
                </a:solidFill>
                <a:effectLst/>
                <a:latin typeface="Book Antiqua" panose="02040602050305030304" pitchFamily="18" charset="0"/>
              </a:rPr>
              <a:t>yt</a:t>
            </a:r>
            <a:r>
              <a:rPr lang="en-US" sz="1600" b="0" i="0" dirty="0">
                <a:solidFill>
                  <a:srgbClr val="0070C0"/>
                </a:solidFill>
                <a:effectLst/>
                <a:latin typeface="Book Antiqua" panose="02040602050305030304" pitchFamily="18" charset="0"/>
              </a:rPr>
              <a:t> as predictors. We refer to this as an </a:t>
            </a:r>
            <a:r>
              <a:rPr lang="en-US" sz="1600" b="1" i="0" dirty="0">
                <a:solidFill>
                  <a:srgbClr val="0070C0"/>
                </a:solidFill>
                <a:effectLst/>
                <a:latin typeface="Book Antiqua" panose="02040602050305030304" pitchFamily="18" charset="0"/>
              </a:rPr>
              <a:t>AR(</a:t>
            </a:r>
            <a:r>
              <a:rPr lang="en-US" sz="1600" b="0" i="0" dirty="0">
                <a:solidFill>
                  <a:srgbClr val="0070C0"/>
                </a:solidFill>
                <a:effectLst/>
                <a:latin typeface="Book Antiqua" panose="02040602050305030304" pitchFamily="18" charset="0"/>
              </a:rPr>
              <a:t>p</a:t>
            </a:r>
            <a:r>
              <a:rPr lang="en-US" sz="1600" b="1" i="0" dirty="0">
                <a:solidFill>
                  <a:srgbClr val="0070C0"/>
                </a:solidFill>
                <a:effectLst/>
                <a:latin typeface="Book Antiqua" panose="02040602050305030304" pitchFamily="18" charset="0"/>
              </a:rPr>
              <a:t>) model</a:t>
            </a:r>
            <a:r>
              <a:rPr lang="en-US" sz="1600" b="0" i="0" dirty="0">
                <a:solidFill>
                  <a:srgbClr val="0070C0"/>
                </a:solidFill>
                <a:effectLst/>
                <a:latin typeface="Book Antiqua" panose="02040602050305030304" pitchFamily="18" charset="0"/>
              </a:rPr>
              <a:t>, an autoregressive model of order p.</a:t>
            </a:r>
            <a:endParaRPr lang="en-IN" sz="1600" dirty="0">
              <a:solidFill>
                <a:srgbClr val="0070C0"/>
              </a:solidFill>
              <a:latin typeface="Book Antiqua" panose="02040602050305030304" pitchFamily="18" charset="0"/>
            </a:endParaRPr>
          </a:p>
        </p:txBody>
      </p:sp>
      <p:pic>
        <p:nvPicPr>
          <p:cNvPr id="18" name="Picture 17"/>
          <p:cNvPicPr>
            <a:picLocks noChangeAspect="1"/>
          </p:cNvPicPr>
          <p:nvPr/>
        </p:nvPicPr>
        <p:blipFill>
          <a:blip r:embed="rId3"/>
          <a:stretch>
            <a:fillRect/>
          </a:stretch>
        </p:blipFill>
        <p:spPr>
          <a:xfrm>
            <a:off x="2057400" y="2330949"/>
            <a:ext cx="3724275" cy="3524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spcBef>
                <a:spcPts val="100"/>
              </a:spcBef>
            </a:pPr>
            <a:r>
              <a:rPr lang="en-US" sz="3200" b="1" spc="-10" dirty="0">
                <a:solidFill>
                  <a:srgbClr val="FF0000"/>
                </a:solidFill>
                <a:latin typeface="Arial" panose="020B0604020202020204"/>
                <a:ea typeface="+mn-ea"/>
                <a:cs typeface="Arial" panose="020B0604020202020204"/>
              </a:rPr>
              <a:t>Auto-Regression</a:t>
            </a:r>
            <a:endParaRPr sz="3200" b="1" spc="-10" dirty="0">
              <a:solidFill>
                <a:srgbClr val="FF0000"/>
              </a:solidFill>
              <a:latin typeface="Arial" panose="020B0604020202020204"/>
              <a:ea typeface="+mn-ea"/>
              <a:cs typeface="Arial" panose="020B0604020202020204"/>
            </a:endParaRPr>
          </a:p>
        </p:txBody>
      </p:sp>
      <p:sp>
        <p:nvSpPr>
          <p:cNvPr id="9" name="TextBox 8"/>
          <p:cNvSpPr txBox="1"/>
          <p:nvPr/>
        </p:nvSpPr>
        <p:spPr>
          <a:xfrm>
            <a:off x="190500" y="1674674"/>
            <a:ext cx="8763000" cy="1902572"/>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Autoregressive models are remarkably flexible at handling a wide range of different time series patterns. </a:t>
            </a:r>
          </a:p>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The two series in Figure show series from an AR(1) model and an AR(2) model. </a:t>
            </a:r>
          </a:p>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Changing the parameters ϕ1,…,</a:t>
            </a:r>
            <a:r>
              <a:rPr lang="en-US" sz="1600" b="0" i="0" dirty="0" err="1">
                <a:solidFill>
                  <a:srgbClr val="333333"/>
                </a:solidFill>
                <a:effectLst/>
                <a:latin typeface="Book Antiqua" panose="02040602050305030304" pitchFamily="18" charset="0"/>
              </a:rPr>
              <a:t>ϕp</a:t>
            </a:r>
            <a:r>
              <a:rPr lang="en-US" sz="1600" b="0" i="0" dirty="0">
                <a:solidFill>
                  <a:srgbClr val="333333"/>
                </a:solidFill>
                <a:effectLst/>
                <a:latin typeface="Book Antiqua" panose="02040602050305030304" pitchFamily="18" charset="0"/>
              </a:rPr>
              <a:t> results in different time series patterns. </a:t>
            </a:r>
          </a:p>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The variance of the error term </a:t>
            </a:r>
            <a:r>
              <a:rPr lang="en-US" sz="1600" b="0" i="0" dirty="0" err="1">
                <a:solidFill>
                  <a:srgbClr val="333333"/>
                </a:solidFill>
                <a:effectLst/>
                <a:latin typeface="Book Antiqua" panose="02040602050305030304" pitchFamily="18" charset="0"/>
              </a:rPr>
              <a:t>εt</a:t>
            </a:r>
            <a:r>
              <a:rPr lang="en-US" sz="1600" b="0" i="0" dirty="0">
                <a:solidFill>
                  <a:srgbClr val="333333"/>
                </a:solidFill>
                <a:effectLst/>
                <a:latin typeface="Book Antiqua" panose="02040602050305030304" pitchFamily="18" charset="0"/>
              </a:rPr>
              <a:t> will only change the scale of the series, not the patterns.</a:t>
            </a:r>
            <a:endParaRPr lang="en-IN" sz="1600" dirty="0">
              <a:latin typeface="Book Antiqua" panose="02040602050305030304" pitchFamily="18" charset="0"/>
            </a:endParaRPr>
          </a:p>
        </p:txBody>
      </p:sp>
      <p:pic>
        <p:nvPicPr>
          <p:cNvPr id="5" name="Picture 4"/>
          <p:cNvPicPr>
            <a:picLocks noChangeAspect="1"/>
          </p:cNvPicPr>
          <p:nvPr/>
        </p:nvPicPr>
        <p:blipFill>
          <a:blip r:embed="rId2"/>
          <a:stretch>
            <a:fillRect/>
          </a:stretch>
        </p:blipFill>
        <p:spPr>
          <a:xfrm>
            <a:off x="1553780" y="3577246"/>
            <a:ext cx="5114925" cy="2252662"/>
          </a:xfrm>
          <a:prstGeom prst="rect">
            <a:avLst/>
          </a:prstGeom>
        </p:spPr>
      </p:pic>
      <p:pic>
        <p:nvPicPr>
          <p:cNvPr id="10" name="Picture 9"/>
          <p:cNvPicPr>
            <a:picLocks noChangeAspect="1"/>
          </p:cNvPicPr>
          <p:nvPr/>
        </p:nvPicPr>
        <p:blipFill>
          <a:blip r:embed="rId3"/>
          <a:stretch>
            <a:fillRect/>
          </a:stretch>
        </p:blipFill>
        <p:spPr>
          <a:xfrm>
            <a:off x="881062" y="5943600"/>
            <a:ext cx="7381875" cy="7715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spcBef>
                <a:spcPts val="100"/>
              </a:spcBef>
            </a:pPr>
            <a:r>
              <a:rPr lang="en-US" sz="3200" b="1" spc="-10" dirty="0">
                <a:solidFill>
                  <a:srgbClr val="FF0000"/>
                </a:solidFill>
                <a:latin typeface="Arial" panose="020B0604020202020204"/>
                <a:ea typeface="+mn-ea"/>
                <a:cs typeface="Arial" panose="020B0604020202020204"/>
              </a:rPr>
              <a:t>Auto-Regression</a:t>
            </a:r>
            <a:endParaRPr sz="3200" b="1" spc="-10" dirty="0">
              <a:solidFill>
                <a:srgbClr val="FF0000"/>
              </a:solidFill>
              <a:latin typeface="Arial" panose="020B0604020202020204"/>
              <a:ea typeface="+mn-ea"/>
              <a:cs typeface="Arial" panose="020B0604020202020204"/>
            </a:endParaRPr>
          </a:p>
        </p:txBody>
      </p:sp>
      <p:sp>
        <p:nvSpPr>
          <p:cNvPr id="9" name="TextBox 8"/>
          <p:cNvSpPr txBox="1"/>
          <p:nvPr/>
        </p:nvSpPr>
        <p:spPr>
          <a:xfrm>
            <a:off x="190500" y="1674674"/>
            <a:ext cx="8763000" cy="1900520"/>
          </a:xfrm>
          <a:prstGeom prst="rect">
            <a:avLst/>
          </a:prstGeom>
          <a:noFill/>
        </p:spPr>
        <p:txBody>
          <a:bodyPr wrap="square">
            <a:spAutoFit/>
          </a:bodyPr>
          <a:lstStyle/>
          <a:p>
            <a:pPr algn="l">
              <a:lnSpc>
                <a:spcPct val="150000"/>
              </a:lnSpc>
            </a:pPr>
            <a:r>
              <a:rPr lang="en-US" sz="1600" b="0" i="0" dirty="0">
                <a:solidFill>
                  <a:srgbClr val="333333"/>
                </a:solidFill>
                <a:effectLst/>
                <a:latin typeface="Book Antiqua" panose="02040602050305030304" pitchFamily="18" charset="0"/>
              </a:rPr>
              <a:t>For an AR(1) model:</a:t>
            </a:r>
          </a:p>
          <a:p>
            <a:pPr marL="463550" indent="-285750" algn="l">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when ϕ1=0 and c=0, </a:t>
            </a:r>
            <a:r>
              <a:rPr lang="en-US" sz="1600" b="0" i="0" dirty="0" err="1">
                <a:solidFill>
                  <a:srgbClr val="333333"/>
                </a:solidFill>
                <a:effectLst/>
                <a:latin typeface="Book Antiqua" panose="02040602050305030304" pitchFamily="18" charset="0"/>
              </a:rPr>
              <a:t>yt</a:t>
            </a:r>
            <a:r>
              <a:rPr lang="en-US" sz="1600" b="0" i="0" dirty="0">
                <a:solidFill>
                  <a:srgbClr val="333333"/>
                </a:solidFill>
                <a:effectLst/>
                <a:latin typeface="Book Antiqua" panose="02040602050305030304" pitchFamily="18" charset="0"/>
              </a:rPr>
              <a:t> is equivalent to white noise;</a:t>
            </a:r>
          </a:p>
          <a:p>
            <a:pPr marL="463550" indent="-285750" algn="l">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when ϕ1=1 and c=0, </a:t>
            </a:r>
            <a:r>
              <a:rPr lang="en-US" sz="1600" b="0" i="0" dirty="0" err="1">
                <a:solidFill>
                  <a:srgbClr val="333333"/>
                </a:solidFill>
                <a:effectLst/>
                <a:latin typeface="Book Antiqua" panose="02040602050305030304" pitchFamily="18" charset="0"/>
              </a:rPr>
              <a:t>yt</a:t>
            </a:r>
            <a:r>
              <a:rPr lang="en-US" sz="1600" b="0" i="0" dirty="0">
                <a:solidFill>
                  <a:srgbClr val="333333"/>
                </a:solidFill>
                <a:effectLst/>
                <a:latin typeface="Book Antiqua" panose="02040602050305030304" pitchFamily="18" charset="0"/>
              </a:rPr>
              <a:t> is equivalent to a random walk;</a:t>
            </a:r>
          </a:p>
          <a:p>
            <a:pPr marL="463550" indent="-285750" algn="l">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when ϕ1=1 and c≠0, </a:t>
            </a:r>
            <a:r>
              <a:rPr lang="en-US" sz="1600" b="0" i="0" dirty="0" err="1">
                <a:solidFill>
                  <a:srgbClr val="333333"/>
                </a:solidFill>
                <a:effectLst/>
                <a:latin typeface="Book Antiqua" panose="02040602050305030304" pitchFamily="18" charset="0"/>
              </a:rPr>
              <a:t>yt</a:t>
            </a:r>
            <a:r>
              <a:rPr lang="en-US" sz="1600" b="0" i="0" dirty="0">
                <a:solidFill>
                  <a:srgbClr val="333333"/>
                </a:solidFill>
                <a:effectLst/>
                <a:latin typeface="Book Antiqua" panose="02040602050305030304" pitchFamily="18" charset="0"/>
              </a:rPr>
              <a:t> is equivalent to a random walk with drift;</a:t>
            </a:r>
          </a:p>
          <a:p>
            <a:pPr marL="463550" indent="-285750" algn="l">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when ϕ1&lt;0, </a:t>
            </a:r>
            <a:r>
              <a:rPr lang="en-US" sz="1600" b="0" i="0" dirty="0" err="1">
                <a:solidFill>
                  <a:srgbClr val="333333"/>
                </a:solidFill>
                <a:effectLst/>
                <a:latin typeface="Book Antiqua" panose="02040602050305030304" pitchFamily="18" charset="0"/>
              </a:rPr>
              <a:t>yt</a:t>
            </a:r>
            <a:r>
              <a:rPr lang="en-US" sz="1600" b="0" i="0" dirty="0">
                <a:solidFill>
                  <a:srgbClr val="333333"/>
                </a:solidFill>
                <a:effectLst/>
                <a:latin typeface="Book Antiqua" panose="02040602050305030304" pitchFamily="18" charset="0"/>
              </a:rPr>
              <a:t> tends to oscillate around the mean.</a:t>
            </a:r>
          </a:p>
        </p:txBody>
      </p:sp>
      <p:sp>
        <p:nvSpPr>
          <p:cNvPr id="7" name="TextBox 6"/>
          <p:cNvSpPr txBox="1"/>
          <p:nvPr/>
        </p:nvSpPr>
        <p:spPr>
          <a:xfrm>
            <a:off x="159398" y="3886200"/>
            <a:ext cx="8572500" cy="1531188"/>
          </a:xfrm>
          <a:prstGeom prst="rect">
            <a:avLst/>
          </a:prstGeom>
          <a:noFill/>
        </p:spPr>
        <p:txBody>
          <a:bodyPr wrap="square">
            <a:spAutoFit/>
          </a:bodyPr>
          <a:lstStyle/>
          <a:p>
            <a:pPr algn="just">
              <a:lnSpc>
                <a:spcPct val="150000"/>
              </a:lnSpc>
            </a:pPr>
            <a:r>
              <a:rPr lang="en-US" sz="1600" dirty="0">
                <a:solidFill>
                  <a:srgbClr val="333333"/>
                </a:solidFill>
                <a:latin typeface="Book Antiqua" panose="02040602050305030304" pitchFamily="18" charset="0"/>
              </a:rPr>
              <a:t>We normally restrict autoregressive models to stationary data, in which case some constraints on the values of the parameters are required.</a:t>
            </a:r>
          </a:p>
          <a:p>
            <a:pPr algn="just">
              <a:lnSpc>
                <a:spcPct val="150000"/>
              </a:lnSpc>
              <a:buFont typeface="Arial" panose="020B0604020202020204" pitchFamily="34" charset="0"/>
              <a:buChar char="•"/>
            </a:pPr>
            <a:r>
              <a:rPr lang="en-US" sz="1600" dirty="0">
                <a:solidFill>
                  <a:srgbClr val="333333"/>
                </a:solidFill>
                <a:latin typeface="Book Antiqua" panose="02040602050305030304" pitchFamily="18" charset="0"/>
              </a:rPr>
              <a:t>For an AR(1) model: −1&lt;ϕ1&lt;1.</a:t>
            </a:r>
          </a:p>
          <a:p>
            <a:pPr algn="just">
              <a:lnSpc>
                <a:spcPct val="150000"/>
              </a:lnSpc>
              <a:buFont typeface="Arial" panose="020B0604020202020204" pitchFamily="34" charset="0"/>
              <a:buChar char="•"/>
            </a:pPr>
            <a:r>
              <a:rPr lang="en-US" sz="1600" dirty="0">
                <a:solidFill>
                  <a:srgbClr val="333333"/>
                </a:solidFill>
                <a:latin typeface="Book Antiqua" panose="02040602050305030304" pitchFamily="18" charset="0"/>
              </a:rPr>
              <a:t>For an AR(2) model: −1&lt;ϕ2&lt;1, ϕ1+ϕ2&lt;1, ϕ2−ϕ1&lt;1.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spcBef>
                <a:spcPts val="100"/>
              </a:spcBef>
            </a:pPr>
            <a:r>
              <a:rPr lang="en-US" sz="3200" b="1" spc="-10" dirty="0">
                <a:solidFill>
                  <a:srgbClr val="FF0000"/>
                </a:solidFill>
                <a:latin typeface="Arial" panose="020B0604020202020204"/>
                <a:ea typeface="+mn-ea"/>
                <a:cs typeface="Arial" panose="020B0604020202020204"/>
              </a:rPr>
              <a:t>Moving Average Models</a:t>
            </a:r>
            <a:endParaRPr sz="3200" b="1" spc="-10" dirty="0">
              <a:solidFill>
                <a:srgbClr val="FF0000"/>
              </a:solidFill>
              <a:latin typeface="Arial" panose="020B0604020202020204"/>
              <a:ea typeface="+mn-ea"/>
              <a:cs typeface="Arial" panose="020B0604020202020204"/>
            </a:endParaRPr>
          </a:p>
        </p:txBody>
      </p:sp>
      <p:sp>
        <p:nvSpPr>
          <p:cNvPr id="9" name="TextBox 8"/>
          <p:cNvSpPr txBox="1"/>
          <p:nvPr/>
        </p:nvSpPr>
        <p:spPr>
          <a:xfrm>
            <a:off x="190500" y="1674674"/>
            <a:ext cx="8763000" cy="794000"/>
          </a:xfrm>
          <a:prstGeom prst="rect">
            <a:avLst/>
          </a:prstGeom>
          <a:noFill/>
        </p:spPr>
        <p:txBody>
          <a:bodyPr wrap="square">
            <a:spAutoFit/>
          </a:bodyPr>
          <a:lstStyle/>
          <a:p>
            <a:pPr algn="l">
              <a:lnSpc>
                <a:spcPct val="150000"/>
              </a:lnSpc>
            </a:pPr>
            <a:r>
              <a:rPr lang="en-US" sz="1600" dirty="0">
                <a:solidFill>
                  <a:srgbClr val="333333"/>
                </a:solidFill>
                <a:latin typeface="Book Antiqua" panose="02040602050305030304" pitchFamily="18" charset="0"/>
              </a:rPr>
              <a:t>Rather than using past values of the forecast variable in a regression, a moving average model uses past forecast errors in a regression-like model,</a:t>
            </a:r>
          </a:p>
        </p:txBody>
      </p:sp>
      <p:sp>
        <p:nvSpPr>
          <p:cNvPr id="7" name="TextBox 6"/>
          <p:cNvSpPr txBox="1"/>
          <p:nvPr/>
        </p:nvSpPr>
        <p:spPr>
          <a:xfrm>
            <a:off x="159398" y="3886200"/>
            <a:ext cx="8572500" cy="2271327"/>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600" dirty="0">
                <a:solidFill>
                  <a:srgbClr val="333333"/>
                </a:solidFill>
                <a:latin typeface="Book Antiqua" panose="02040602050305030304" pitchFamily="18" charset="0"/>
              </a:rPr>
              <a:t>Notice that each value of </a:t>
            </a:r>
            <a:r>
              <a:rPr lang="en-US" sz="1600" dirty="0" err="1">
                <a:solidFill>
                  <a:srgbClr val="333333"/>
                </a:solidFill>
                <a:latin typeface="Book Antiqua" panose="02040602050305030304" pitchFamily="18" charset="0"/>
              </a:rPr>
              <a:t>yt</a:t>
            </a:r>
            <a:r>
              <a:rPr lang="en-US" sz="1600" dirty="0">
                <a:solidFill>
                  <a:srgbClr val="333333"/>
                </a:solidFill>
                <a:latin typeface="Book Antiqua" panose="02040602050305030304" pitchFamily="18" charset="0"/>
              </a:rPr>
              <a:t> can be thought of as a weighted moving average of the past few forecast errors</a:t>
            </a:r>
          </a:p>
          <a:p>
            <a:pPr marL="285750" indent="-285750" algn="just">
              <a:lnSpc>
                <a:spcPct val="150000"/>
              </a:lnSpc>
              <a:buFont typeface="Wingdings" panose="05000000000000000000" pitchFamily="2" charset="2"/>
              <a:buChar char="q"/>
            </a:pPr>
            <a:r>
              <a:rPr lang="en-US" sz="1600" dirty="0">
                <a:solidFill>
                  <a:srgbClr val="333333"/>
                </a:solidFill>
                <a:latin typeface="Book Antiqua" panose="02040602050305030304" pitchFamily="18" charset="0"/>
              </a:rPr>
              <a:t>However, moving average models should not be confused with the moving average smoothing</a:t>
            </a:r>
          </a:p>
          <a:p>
            <a:pPr marL="285750" indent="-285750" algn="just">
              <a:lnSpc>
                <a:spcPct val="150000"/>
              </a:lnSpc>
              <a:buFont typeface="Wingdings" panose="05000000000000000000" pitchFamily="2" charset="2"/>
              <a:buChar char="q"/>
            </a:pPr>
            <a:r>
              <a:rPr lang="en-US" sz="1600" dirty="0">
                <a:solidFill>
                  <a:srgbClr val="333333"/>
                </a:solidFill>
                <a:latin typeface="Book Antiqua" panose="02040602050305030304" pitchFamily="18" charset="0"/>
              </a:rPr>
              <a:t>A moving average model is used for forecasting future values, while moving average smoothing is used for estimating the trend-cycle of past values.</a:t>
            </a:r>
          </a:p>
        </p:txBody>
      </p:sp>
      <p:pic>
        <p:nvPicPr>
          <p:cNvPr id="4" name="Picture 3"/>
          <p:cNvPicPr>
            <a:picLocks noChangeAspect="1"/>
          </p:cNvPicPr>
          <p:nvPr/>
        </p:nvPicPr>
        <p:blipFill>
          <a:blip r:embed="rId2"/>
          <a:stretch>
            <a:fillRect/>
          </a:stretch>
        </p:blipFill>
        <p:spPr>
          <a:xfrm>
            <a:off x="2339593" y="2590800"/>
            <a:ext cx="3543300" cy="304800"/>
          </a:xfrm>
          <a:prstGeom prst="rect">
            <a:avLst/>
          </a:prstGeom>
        </p:spPr>
      </p:pic>
      <p:sp>
        <p:nvSpPr>
          <p:cNvPr id="8" name="TextBox 7"/>
          <p:cNvSpPr txBox="1"/>
          <p:nvPr/>
        </p:nvSpPr>
        <p:spPr>
          <a:xfrm>
            <a:off x="146180" y="3057062"/>
            <a:ext cx="4613988" cy="338554"/>
          </a:xfrm>
          <a:prstGeom prst="rect">
            <a:avLst/>
          </a:prstGeom>
          <a:noFill/>
        </p:spPr>
        <p:txBody>
          <a:bodyPr wrap="square">
            <a:spAutoFit/>
          </a:bodyPr>
          <a:lstStyle/>
          <a:p>
            <a:r>
              <a:rPr lang="en-US" sz="1600" b="0" i="0" dirty="0">
                <a:solidFill>
                  <a:srgbClr val="0070C0"/>
                </a:solidFill>
                <a:effectLst/>
                <a:latin typeface="Book Antiqua" panose="02040602050305030304" pitchFamily="18" charset="0"/>
              </a:rPr>
              <a:t>We refer to this as an </a:t>
            </a:r>
            <a:r>
              <a:rPr lang="en-US" sz="1600" b="1" i="0" dirty="0">
                <a:solidFill>
                  <a:srgbClr val="0070C0"/>
                </a:solidFill>
                <a:effectLst/>
                <a:latin typeface="Book Antiqua" panose="02040602050305030304" pitchFamily="18" charset="0"/>
              </a:rPr>
              <a:t>MA(</a:t>
            </a:r>
            <a:r>
              <a:rPr lang="en-US" sz="1600" b="0" i="0" dirty="0">
                <a:solidFill>
                  <a:srgbClr val="0070C0"/>
                </a:solidFill>
                <a:effectLst/>
                <a:latin typeface="Book Antiqua" panose="02040602050305030304" pitchFamily="18" charset="0"/>
              </a:rPr>
              <a:t>q</a:t>
            </a:r>
            <a:r>
              <a:rPr lang="en-US" sz="1600" b="1" i="0" dirty="0">
                <a:solidFill>
                  <a:srgbClr val="0070C0"/>
                </a:solidFill>
                <a:effectLst/>
                <a:latin typeface="Book Antiqua" panose="02040602050305030304" pitchFamily="18" charset="0"/>
              </a:rPr>
              <a:t>) model</a:t>
            </a:r>
            <a:r>
              <a:rPr lang="en-US" sz="1600" b="0" i="0" dirty="0">
                <a:solidFill>
                  <a:srgbClr val="0070C0"/>
                </a:solidFill>
                <a:effectLst/>
                <a:latin typeface="Book Antiqua" panose="02040602050305030304" pitchFamily="18" charset="0"/>
              </a:rPr>
              <a:t>,</a:t>
            </a:r>
            <a:endParaRPr lang="en-IN" sz="1600" dirty="0">
              <a:solidFill>
                <a:srgbClr val="0070C0"/>
              </a:solidFill>
              <a:latin typeface="Book Antiqua" panose="0204060205030503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spcBef>
                <a:spcPts val="100"/>
              </a:spcBef>
            </a:pPr>
            <a:r>
              <a:rPr lang="en-US" sz="3200" b="1" spc="-10" dirty="0">
                <a:solidFill>
                  <a:srgbClr val="FF0000"/>
                </a:solidFill>
                <a:latin typeface="Arial" panose="020B0604020202020204"/>
                <a:ea typeface="+mn-ea"/>
                <a:cs typeface="Arial" panose="020B0604020202020204"/>
              </a:rPr>
              <a:t>Moving Average Models</a:t>
            </a:r>
            <a:endParaRPr sz="3200" b="1" spc="-10" dirty="0">
              <a:solidFill>
                <a:srgbClr val="FF0000"/>
              </a:solidFill>
              <a:latin typeface="Arial" panose="020B0604020202020204"/>
              <a:ea typeface="+mn-ea"/>
              <a:cs typeface="Arial" panose="020B0604020202020204"/>
            </a:endParaRPr>
          </a:p>
        </p:txBody>
      </p:sp>
      <p:pic>
        <p:nvPicPr>
          <p:cNvPr id="5" name="Picture 4"/>
          <p:cNvPicPr>
            <a:picLocks noChangeAspect="1"/>
          </p:cNvPicPr>
          <p:nvPr/>
        </p:nvPicPr>
        <p:blipFill>
          <a:blip r:embed="rId2"/>
          <a:stretch>
            <a:fillRect/>
          </a:stretch>
        </p:blipFill>
        <p:spPr>
          <a:xfrm>
            <a:off x="1447800" y="1752600"/>
            <a:ext cx="6015037" cy="2305050"/>
          </a:xfrm>
          <a:prstGeom prst="rect">
            <a:avLst/>
          </a:prstGeom>
        </p:spPr>
      </p:pic>
      <p:pic>
        <p:nvPicPr>
          <p:cNvPr id="10" name="Picture 9"/>
          <p:cNvPicPr>
            <a:picLocks noChangeAspect="1"/>
          </p:cNvPicPr>
          <p:nvPr/>
        </p:nvPicPr>
        <p:blipFill>
          <a:blip r:embed="rId3"/>
          <a:stretch>
            <a:fillRect/>
          </a:stretch>
        </p:blipFill>
        <p:spPr>
          <a:xfrm>
            <a:off x="876300" y="4057650"/>
            <a:ext cx="7391400" cy="876300"/>
          </a:xfrm>
          <a:prstGeom prst="rect">
            <a:avLst/>
          </a:prstGeom>
        </p:spPr>
      </p:pic>
      <p:sp>
        <p:nvSpPr>
          <p:cNvPr id="12" name="TextBox 11"/>
          <p:cNvSpPr txBox="1"/>
          <p:nvPr/>
        </p:nvSpPr>
        <p:spPr>
          <a:xfrm>
            <a:off x="190500" y="5029200"/>
            <a:ext cx="8763000" cy="1570495"/>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Figure shows some data from an MA(1) model and an MA(2) model. </a:t>
            </a:r>
          </a:p>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Changing the parameters θ1,…,</a:t>
            </a:r>
            <a:r>
              <a:rPr lang="en-US" sz="1600" b="0" i="0" dirty="0" err="1">
                <a:solidFill>
                  <a:srgbClr val="333333"/>
                </a:solidFill>
                <a:effectLst/>
                <a:latin typeface="Book Antiqua" panose="02040602050305030304" pitchFamily="18" charset="0"/>
              </a:rPr>
              <a:t>θq</a:t>
            </a:r>
            <a:r>
              <a:rPr lang="en-US" sz="1600" b="0" i="0" dirty="0">
                <a:solidFill>
                  <a:srgbClr val="333333"/>
                </a:solidFill>
                <a:effectLst/>
                <a:latin typeface="Book Antiqua" panose="02040602050305030304" pitchFamily="18" charset="0"/>
              </a:rPr>
              <a:t> results in different time series patterns. </a:t>
            </a:r>
          </a:p>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As with autoregressive models, the variance of the error term </a:t>
            </a:r>
            <a:r>
              <a:rPr lang="en-US" sz="1600" b="0" i="0" dirty="0" err="1">
                <a:solidFill>
                  <a:srgbClr val="333333"/>
                </a:solidFill>
                <a:effectLst/>
                <a:latin typeface="Book Antiqua" panose="02040602050305030304" pitchFamily="18" charset="0"/>
              </a:rPr>
              <a:t>εt</a:t>
            </a:r>
            <a:r>
              <a:rPr lang="en-US" sz="1600" b="0" i="0" dirty="0">
                <a:solidFill>
                  <a:srgbClr val="333333"/>
                </a:solidFill>
                <a:effectLst/>
                <a:latin typeface="Book Antiqua" panose="02040602050305030304" pitchFamily="18" charset="0"/>
              </a:rPr>
              <a:t> will only change the scale of the series, not the patterns</a:t>
            </a:r>
            <a:r>
              <a:rPr lang="en-US" b="0" i="0" dirty="0">
                <a:solidFill>
                  <a:srgbClr val="333333"/>
                </a:solidFill>
                <a:effectLst/>
                <a:latin typeface="Merriweather" panose="00000500000000000000" pitchFamily="2" charset="0"/>
              </a:rPr>
              <a:t>.</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spcBef>
                <a:spcPts val="100"/>
              </a:spcBef>
            </a:pPr>
            <a:r>
              <a:rPr lang="en-US" sz="3200" b="1" spc="-10" dirty="0">
                <a:solidFill>
                  <a:srgbClr val="FF0000"/>
                </a:solidFill>
                <a:latin typeface="Arial" panose="020B0604020202020204"/>
                <a:ea typeface="+mn-ea"/>
                <a:cs typeface="Arial" panose="020B0604020202020204"/>
              </a:rPr>
              <a:t>Moving Average Models</a:t>
            </a:r>
            <a:endParaRPr sz="3200" b="1" spc="-10" dirty="0">
              <a:solidFill>
                <a:srgbClr val="FF0000"/>
              </a:solidFill>
              <a:latin typeface="Arial" panose="020B0604020202020204"/>
              <a:ea typeface="+mn-ea"/>
              <a:cs typeface="Arial" panose="020B0604020202020204"/>
            </a:endParaRPr>
          </a:p>
        </p:txBody>
      </p:sp>
      <p:sp>
        <p:nvSpPr>
          <p:cNvPr id="7" name="TextBox 6"/>
          <p:cNvSpPr txBox="1"/>
          <p:nvPr/>
        </p:nvSpPr>
        <p:spPr>
          <a:xfrm>
            <a:off x="118188" y="1600200"/>
            <a:ext cx="8839200" cy="706797"/>
          </a:xfrm>
          <a:prstGeom prst="rect">
            <a:avLst/>
          </a:prstGeom>
          <a:noFill/>
        </p:spPr>
        <p:txBody>
          <a:bodyPr wrap="square">
            <a:spAutoFit/>
          </a:bodyPr>
          <a:lstStyle/>
          <a:p>
            <a:pPr>
              <a:lnSpc>
                <a:spcPct val="150000"/>
              </a:lnSpc>
            </a:pPr>
            <a:r>
              <a:rPr lang="en-US" sz="1400" b="0" i="0" dirty="0">
                <a:solidFill>
                  <a:srgbClr val="333333"/>
                </a:solidFill>
                <a:effectLst/>
                <a:latin typeface="Book Antiqua" panose="02040602050305030304" pitchFamily="18" charset="0"/>
              </a:rPr>
              <a:t>It is possible to write any stationary AR(p) model as an MA(∞) model. For example, using repeated substitution, we can demonstrate this for an AR(1) model:</a:t>
            </a:r>
            <a:endParaRPr lang="en-IN" sz="1400" dirty="0">
              <a:latin typeface="Book Antiqua" panose="02040602050305030304" pitchFamily="18" charset="0"/>
            </a:endParaRPr>
          </a:p>
        </p:txBody>
      </p:sp>
      <p:pic>
        <p:nvPicPr>
          <p:cNvPr id="6" name="Picture 5"/>
          <p:cNvPicPr>
            <a:picLocks noChangeAspect="1"/>
          </p:cNvPicPr>
          <p:nvPr/>
        </p:nvPicPr>
        <p:blipFill>
          <a:blip r:embed="rId2"/>
          <a:stretch>
            <a:fillRect/>
          </a:stretch>
        </p:blipFill>
        <p:spPr>
          <a:xfrm>
            <a:off x="2743200" y="2419749"/>
            <a:ext cx="3114675" cy="1352550"/>
          </a:xfrm>
          <a:prstGeom prst="rect">
            <a:avLst/>
          </a:prstGeom>
        </p:spPr>
      </p:pic>
      <p:sp>
        <p:nvSpPr>
          <p:cNvPr id="11" name="TextBox 10"/>
          <p:cNvSpPr txBox="1"/>
          <p:nvPr/>
        </p:nvSpPr>
        <p:spPr>
          <a:xfrm>
            <a:off x="152400" y="3840221"/>
            <a:ext cx="8804988" cy="423193"/>
          </a:xfrm>
          <a:prstGeom prst="rect">
            <a:avLst/>
          </a:prstGeom>
          <a:noFill/>
        </p:spPr>
        <p:txBody>
          <a:bodyPr wrap="square">
            <a:spAutoFit/>
          </a:bodyPr>
          <a:lstStyle/>
          <a:p>
            <a:pPr>
              <a:lnSpc>
                <a:spcPct val="150000"/>
              </a:lnSpc>
            </a:pPr>
            <a:r>
              <a:rPr lang="en-US" sz="1600" b="0" i="0" dirty="0">
                <a:solidFill>
                  <a:srgbClr val="333333"/>
                </a:solidFill>
                <a:effectLst/>
                <a:latin typeface="Book Antiqua" panose="02040602050305030304" pitchFamily="18" charset="0"/>
              </a:rPr>
              <a:t>provided −−1&lt;ϕ1&lt;1, the value of         will get smaller as k gets larger. So eventually we obtain</a:t>
            </a:r>
            <a:endParaRPr lang="en-IN" sz="1600" dirty="0">
              <a:latin typeface="Book Antiqua" panose="02040602050305030304" pitchFamily="18" charset="0"/>
            </a:endParaRPr>
          </a:p>
        </p:txBody>
      </p:sp>
      <p:pic>
        <p:nvPicPr>
          <p:cNvPr id="15" name="Picture 14"/>
          <p:cNvPicPr>
            <a:picLocks noChangeAspect="1"/>
          </p:cNvPicPr>
          <p:nvPr/>
        </p:nvPicPr>
        <p:blipFill>
          <a:blip r:embed="rId3"/>
          <a:stretch>
            <a:fillRect/>
          </a:stretch>
        </p:blipFill>
        <p:spPr>
          <a:xfrm>
            <a:off x="3352800" y="3965223"/>
            <a:ext cx="247650" cy="285750"/>
          </a:xfrm>
          <a:prstGeom prst="rect">
            <a:avLst/>
          </a:prstGeom>
        </p:spPr>
      </p:pic>
      <p:pic>
        <p:nvPicPr>
          <p:cNvPr id="17" name="Picture 16"/>
          <p:cNvPicPr>
            <a:picLocks noChangeAspect="1"/>
          </p:cNvPicPr>
          <p:nvPr/>
        </p:nvPicPr>
        <p:blipFill>
          <a:blip r:embed="rId4"/>
          <a:stretch>
            <a:fillRect/>
          </a:stretch>
        </p:blipFill>
        <p:spPr>
          <a:xfrm>
            <a:off x="2057400" y="4487363"/>
            <a:ext cx="3429000" cy="314325"/>
          </a:xfrm>
          <a:prstGeom prst="rect">
            <a:avLst/>
          </a:prstGeom>
        </p:spPr>
      </p:pic>
      <p:sp>
        <p:nvSpPr>
          <p:cNvPr id="19" name="TextBox 18"/>
          <p:cNvSpPr txBox="1"/>
          <p:nvPr/>
        </p:nvSpPr>
        <p:spPr>
          <a:xfrm>
            <a:off x="5562600" y="4487363"/>
            <a:ext cx="2057400" cy="338554"/>
          </a:xfrm>
          <a:prstGeom prst="rect">
            <a:avLst/>
          </a:prstGeom>
          <a:noFill/>
        </p:spPr>
        <p:txBody>
          <a:bodyPr wrap="square">
            <a:spAutoFit/>
          </a:bodyPr>
          <a:lstStyle/>
          <a:p>
            <a:r>
              <a:rPr lang="en-IN" sz="1600" b="0" i="0" dirty="0">
                <a:solidFill>
                  <a:srgbClr val="333333"/>
                </a:solidFill>
                <a:effectLst/>
                <a:latin typeface="Book Antiqua" panose="02040602050305030304" pitchFamily="18" charset="0"/>
              </a:rPr>
              <a:t>an MA(∞) process.</a:t>
            </a:r>
            <a:endParaRPr lang="en-IN" sz="1600" dirty="0">
              <a:latin typeface="Book Antiqua" panose="02040602050305030304" pitchFamily="18" charset="0"/>
            </a:endParaRPr>
          </a:p>
        </p:txBody>
      </p:sp>
      <p:sp>
        <p:nvSpPr>
          <p:cNvPr id="10" name="TextBox 9"/>
          <p:cNvSpPr txBox="1"/>
          <p:nvPr/>
        </p:nvSpPr>
        <p:spPr>
          <a:xfrm>
            <a:off x="118188" y="4931161"/>
            <a:ext cx="9025812" cy="523220"/>
          </a:xfrm>
          <a:prstGeom prst="rect">
            <a:avLst/>
          </a:prstGeom>
          <a:noFill/>
        </p:spPr>
        <p:txBody>
          <a:bodyPr wrap="square">
            <a:spAutoFit/>
          </a:bodyPr>
          <a:lstStyle/>
          <a:p>
            <a:r>
              <a:rPr lang="en-US" sz="1400" b="0" i="0" dirty="0">
                <a:solidFill>
                  <a:srgbClr val="333333"/>
                </a:solidFill>
                <a:effectLst/>
                <a:latin typeface="Book Antiqua" panose="02040602050305030304" pitchFamily="18" charset="0"/>
              </a:rPr>
              <a:t>The reverse result holds if we impose some constraints on the MA parameters. Then the MA model is called </a:t>
            </a:r>
            <a:r>
              <a:rPr lang="en-US" sz="1400" b="1" i="0" dirty="0">
                <a:solidFill>
                  <a:srgbClr val="333333"/>
                </a:solidFill>
                <a:effectLst/>
                <a:latin typeface="Book Antiqua" panose="02040602050305030304" pitchFamily="18" charset="0"/>
              </a:rPr>
              <a:t>invertible</a:t>
            </a:r>
            <a:r>
              <a:rPr lang="en-US" sz="1400" b="0" i="0" dirty="0">
                <a:solidFill>
                  <a:srgbClr val="333333"/>
                </a:solidFill>
                <a:effectLst/>
                <a:latin typeface="Book Antiqua" panose="02040602050305030304" pitchFamily="18" charset="0"/>
              </a:rPr>
              <a:t>. That is, we can write any invertible MA(q) process as an AR(∞) process.</a:t>
            </a:r>
            <a:endParaRPr lang="en-IN" sz="1400" dirty="0">
              <a:latin typeface="Book Antiqua" panose="02040602050305030304" pitchFamily="18" charset="0"/>
            </a:endParaRPr>
          </a:p>
        </p:txBody>
      </p:sp>
      <p:sp>
        <p:nvSpPr>
          <p:cNvPr id="12" name="TextBox 11"/>
          <p:cNvSpPr txBox="1"/>
          <p:nvPr/>
        </p:nvSpPr>
        <p:spPr>
          <a:xfrm>
            <a:off x="152400" y="5502730"/>
            <a:ext cx="8609045" cy="307777"/>
          </a:xfrm>
          <a:prstGeom prst="rect">
            <a:avLst/>
          </a:prstGeom>
          <a:noFill/>
        </p:spPr>
        <p:txBody>
          <a:bodyPr wrap="square">
            <a:spAutoFit/>
          </a:bodyPr>
          <a:lstStyle/>
          <a:p>
            <a:r>
              <a:rPr lang="en-US" sz="1400" dirty="0">
                <a:solidFill>
                  <a:srgbClr val="333333"/>
                </a:solidFill>
                <a:latin typeface="Book Antiqua" panose="02040602050305030304" pitchFamily="18" charset="0"/>
              </a:rPr>
              <a:t>The invertibility constraints for other models are similar to the stationarity constraints.</a:t>
            </a:r>
            <a:endParaRPr lang="en-IN" sz="1400" dirty="0">
              <a:solidFill>
                <a:srgbClr val="333333"/>
              </a:solidFill>
              <a:latin typeface="Book Antiqua" panose="02040602050305030304" pitchFamily="18" charset="0"/>
            </a:endParaRPr>
          </a:p>
        </p:txBody>
      </p:sp>
      <p:pic>
        <p:nvPicPr>
          <p:cNvPr id="8" name="Picture 7"/>
          <p:cNvPicPr>
            <a:picLocks noChangeAspect="1"/>
          </p:cNvPicPr>
          <p:nvPr/>
        </p:nvPicPr>
        <p:blipFill>
          <a:blip r:embed="rId5"/>
          <a:stretch>
            <a:fillRect/>
          </a:stretch>
        </p:blipFill>
        <p:spPr>
          <a:xfrm>
            <a:off x="776287" y="5862499"/>
            <a:ext cx="5400675" cy="6953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spcBef>
                <a:spcPts val="100"/>
              </a:spcBef>
            </a:pPr>
            <a:r>
              <a:rPr lang="en-US" sz="3200" b="1" spc="-10" dirty="0">
                <a:solidFill>
                  <a:srgbClr val="FF0000"/>
                </a:solidFill>
                <a:latin typeface="Arial" panose="020B0604020202020204"/>
                <a:ea typeface="+mn-ea"/>
                <a:cs typeface="Arial" panose="020B0604020202020204"/>
              </a:rPr>
              <a:t>ARMA Models</a:t>
            </a:r>
            <a:endParaRPr sz="3200" b="1" spc="-10" dirty="0">
              <a:solidFill>
                <a:srgbClr val="FF0000"/>
              </a:solidFill>
              <a:latin typeface="Arial" panose="020B0604020202020204"/>
              <a:ea typeface="+mn-ea"/>
              <a:cs typeface="Arial" panose="020B0604020202020204"/>
            </a:endParaRPr>
          </a:p>
        </p:txBody>
      </p:sp>
      <p:sp>
        <p:nvSpPr>
          <p:cNvPr id="10" name="TextBox 9"/>
          <p:cNvSpPr txBox="1"/>
          <p:nvPr/>
        </p:nvSpPr>
        <p:spPr>
          <a:xfrm>
            <a:off x="152400" y="1447800"/>
            <a:ext cx="8686800" cy="1163908"/>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600" b="0" i="0" dirty="0">
                <a:solidFill>
                  <a:srgbClr val="273239"/>
                </a:solidFill>
                <a:effectLst/>
                <a:latin typeface="Book Antiqua" panose="02040602050305030304" pitchFamily="18" charset="0"/>
              </a:rPr>
              <a:t>The ARMA model is a combination of both AR and MA components. </a:t>
            </a:r>
          </a:p>
          <a:p>
            <a:pPr marL="285750" indent="-285750" algn="just">
              <a:lnSpc>
                <a:spcPct val="150000"/>
              </a:lnSpc>
              <a:buFont typeface="Wingdings" panose="05000000000000000000" pitchFamily="2" charset="2"/>
              <a:buChar char="q"/>
            </a:pPr>
            <a:r>
              <a:rPr lang="en-US" sz="1600" b="0" i="0" dirty="0">
                <a:solidFill>
                  <a:srgbClr val="273239"/>
                </a:solidFill>
                <a:effectLst/>
                <a:latin typeface="Book Antiqua" panose="02040602050305030304" pitchFamily="18" charset="0"/>
              </a:rPr>
              <a:t>An ARMA(p, q) model, where </a:t>
            </a:r>
            <a:r>
              <a:rPr lang="en-US" sz="1600" b="0" i="1" dirty="0">
                <a:solidFill>
                  <a:srgbClr val="273239"/>
                </a:solidFill>
                <a:effectLst/>
                <a:latin typeface="Book Antiqua" panose="02040602050305030304" pitchFamily="18" charset="0"/>
              </a:rPr>
              <a:t>p</a:t>
            </a:r>
            <a:r>
              <a:rPr lang="en-US" sz="1600" b="0" i="0" dirty="0">
                <a:solidFill>
                  <a:srgbClr val="273239"/>
                </a:solidFill>
                <a:effectLst/>
                <a:latin typeface="Book Antiqua" panose="02040602050305030304" pitchFamily="18" charset="0"/>
              </a:rPr>
              <a:t> is the number of lagged observations (AR part) and </a:t>
            </a:r>
            <a:r>
              <a:rPr lang="en-US" sz="1600" b="0" i="1" dirty="0">
                <a:solidFill>
                  <a:srgbClr val="273239"/>
                </a:solidFill>
                <a:effectLst/>
                <a:latin typeface="Book Antiqua" panose="02040602050305030304" pitchFamily="18" charset="0"/>
              </a:rPr>
              <a:t>q</a:t>
            </a:r>
            <a:r>
              <a:rPr lang="en-US" sz="1600" b="0" i="0" dirty="0">
                <a:solidFill>
                  <a:srgbClr val="273239"/>
                </a:solidFill>
                <a:effectLst/>
                <a:latin typeface="Book Antiqua" panose="02040602050305030304" pitchFamily="18" charset="0"/>
              </a:rPr>
              <a:t> is the number of lagged forecast errors (MA part), is represented as:</a:t>
            </a:r>
            <a:endParaRPr lang="en-IN" sz="1600" dirty="0">
              <a:latin typeface="Book Antiqua" panose="02040602050305030304" pitchFamily="18" charset="0"/>
            </a:endParaRPr>
          </a:p>
        </p:txBody>
      </p:sp>
      <p:pic>
        <p:nvPicPr>
          <p:cNvPr id="5" name="Picture 4"/>
          <p:cNvPicPr>
            <a:picLocks noChangeAspect="1"/>
          </p:cNvPicPr>
          <p:nvPr/>
        </p:nvPicPr>
        <p:blipFill>
          <a:blip r:embed="rId2"/>
          <a:stretch>
            <a:fillRect/>
          </a:stretch>
        </p:blipFill>
        <p:spPr>
          <a:xfrm>
            <a:off x="2667000" y="2739368"/>
            <a:ext cx="3124200" cy="381000"/>
          </a:xfrm>
          <a:prstGeom prst="rect">
            <a:avLst/>
          </a:prstGeom>
        </p:spPr>
      </p:pic>
      <p:sp>
        <p:nvSpPr>
          <p:cNvPr id="14" name="TextBox 13"/>
          <p:cNvSpPr txBox="1"/>
          <p:nvPr/>
        </p:nvSpPr>
        <p:spPr>
          <a:xfrm>
            <a:off x="228600" y="3108769"/>
            <a:ext cx="8686800" cy="3749231"/>
          </a:xfrm>
          <a:prstGeom prst="rect">
            <a:avLst/>
          </a:prstGeom>
          <a:noFill/>
        </p:spPr>
        <p:txBody>
          <a:bodyPr wrap="square">
            <a:spAutoFit/>
          </a:bodyPr>
          <a:lstStyle/>
          <a:p>
            <a:pPr algn="just" rtl="0" fontAlgn="base">
              <a:lnSpc>
                <a:spcPct val="150000"/>
              </a:lnSpc>
            </a:pPr>
            <a:r>
              <a:rPr lang="en-US" sz="1600" dirty="0">
                <a:solidFill>
                  <a:srgbClr val="273239"/>
                </a:solidFill>
                <a:latin typeface="Book Antiqua" panose="02040602050305030304" pitchFamily="18" charset="0"/>
              </a:rPr>
              <a:t>Determining the appropriate values for p and q is crucial for building an effective ARMA model. This can be done using the following methods:</a:t>
            </a:r>
          </a:p>
          <a:p>
            <a:pPr algn="just" fontAlgn="base">
              <a:lnSpc>
                <a:spcPct val="150000"/>
              </a:lnSpc>
              <a:buFont typeface="+mj-lt"/>
              <a:buAutoNum type="arabicPeriod"/>
            </a:pPr>
            <a:r>
              <a:rPr lang="en-US" sz="1600" dirty="0">
                <a:solidFill>
                  <a:schemeClr val="accent1"/>
                </a:solidFill>
                <a:latin typeface="Book Antiqua" panose="02040602050305030304" pitchFamily="18" charset="0"/>
                <a:hlinkClick r:id="rId3"/>
              </a:rPr>
              <a:t>Partial Autocorrelation Function (PACF)</a:t>
            </a:r>
            <a:r>
              <a:rPr lang="en-US" sz="1600" dirty="0">
                <a:solidFill>
                  <a:srgbClr val="273239"/>
                </a:solidFill>
                <a:latin typeface="Book Antiqua" panose="02040602050305030304" pitchFamily="18" charset="0"/>
              </a:rPr>
              <a:t>:</a:t>
            </a:r>
          </a:p>
          <a:p>
            <a:pPr marL="742950" lvl="1" indent="-285750" algn="just" fontAlgn="base">
              <a:lnSpc>
                <a:spcPct val="150000"/>
              </a:lnSpc>
              <a:buFont typeface="+mj-lt"/>
              <a:buAutoNum type="arabicPeriod"/>
            </a:pPr>
            <a:r>
              <a:rPr lang="en-US" sz="1600" dirty="0">
                <a:solidFill>
                  <a:srgbClr val="273239"/>
                </a:solidFill>
                <a:latin typeface="Book Antiqua" panose="02040602050305030304" pitchFamily="18" charset="0"/>
              </a:rPr>
              <a:t>PACF is used to determine the order p of the AR model. It measures the correlation between observations at different lags, excluding the influence of intermediate lags.</a:t>
            </a:r>
          </a:p>
          <a:p>
            <a:pPr marL="742950" lvl="1" indent="-285750" algn="just" fontAlgn="base">
              <a:lnSpc>
                <a:spcPct val="150000"/>
              </a:lnSpc>
              <a:buFont typeface="+mj-lt"/>
              <a:buAutoNum type="arabicPeriod"/>
            </a:pPr>
            <a:r>
              <a:rPr lang="en-US" sz="1600" dirty="0">
                <a:solidFill>
                  <a:srgbClr val="273239"/>
                </a:solidFill>
                <a:latin typeface="Book Antiqua" panose="02040602050305030304" pitchFamily="18" charset="0"/>
              </a:rPr>
              <a:t>The order p is determined by the lag at which the PACF plot cuts off.</a:t>
            </a:r>
          </a:p>
          <a:p>
            <a:pPr algn="just" fontAlgn="base">
              <a:lnSpc>
                <a:spcPct val="150000"/>
              </a:lnSpc>
              <a:buFont typeface="+mj-lt"/>
              <a:buAutoNum type="arabicPeriod" startAt="2"/>
            </a:pPr>
            <a:r>
              <a:rPr lang="en-US" sz="1600" dirty="0">
                <a:solidFill>
                  <a:schemeClr val="accent1"/>
                </a:solidFill>
                <a:latin typeface="Book Antiqua" panose="02040602050305030304" pitchFamily="18" charset="0"/>
                <a:hlinkClick r:id="rId4"/>
              </a:rPr>
              <a:t>Autocorrelation Function (ACF)</a:t>
            </a:r>
            <a:r>
              <a:rPr lang="en-US" sz="1600" dirty="0">
                <a:solidFill>
                  <a:schemeClr val="accent1"/>
                </a:solidFill>
                <a:latin typeface="Book Antiqua" panose="02040602050305030304" pitchFamily="18" charset="0"/>
              </a:rPr>
              <a:t>:</a:t>
            </a:r>
          </a:p>
          <a:p>
            <a:pPr marL="742950" lvl="1" indent="-285750" algn="just" fontAlgn="base">
              <a:lnSpc>
                <a:spcPct val="150000"/>
              </a:lnSpc>
              <a:buFont typeface="+mj-lt"/>
              <a:buAutoNum type="arabicPeriod" startAt="2"/>
            </a:pPr>
            <a:r>
              <a:rPr lang="en-US" sz="1600" dirty="0">
                <a:solidFill>
                  <a:srgbClr val="273239"/>
                </a:solidFill>
                <a:latin typeface="Book Antiqua" panose="02040602050305030304" pitchFamily="18" charset="0"/>
              </a:rPr>
              <a:t>ACF is used to determine the order q of the MA model. It measures the correlation between observations at different lags.</a:t>
            </a:r>
          </a:p>
          <a:p>
            <a:pPr marL="742950" lvl="1" indent="-285750" algn="just" fontAlgn="base">
              <a:lnSpc>
                <a:spcPct val="150000"/>
              </a:lnSpc>
              <a:buFont typeface="+mj-lt"/>
              <a:buAutoNum type="arabicPeriod" startAt="2"/>
            </a:pPr>
            <a:r>
              <a:rPr lang="en-US" sz="1600" dirty="0">
                <a:solidFill>
                  <a:srgbClr val="273239"/>
                </a:solidFill>
                <a:latin typeface="Book Antiqua" panose="02040602050305030304" pitchFamily="18" charset="0"/>
              </a:rPr>
              <a:t>The order q is determined by the lag at which the ACF plot cuts off.</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spcBef>
                <a:spcPts val="100"/>
              </a:spcBef>
            </a:pPr>
            <a:r>
              <a:rPr lang="en-US" sz="3200" b="1" spc="-10" dirty="0">
                <a:solidFill>
                  <a:srgbClr val="FF0000"/>
                </a:solidFill>
                <a:latin typeface="Arial" panose="020B0604020202020204"/>
                <a:ea typeface="+mn-ea"/>
                <a:cs typeface="Arial" panose="020B0604020202020204"/>
              </a:rPr>
              <a:t>ARMA Models</a:t>
            </a:r>
            <a:endParaRPr sz="3200" b="1" spc="-10" dirty="0">
              <a:solidFill>
                <a:srgbClr val="FF0000"/>
              </a:solidFill>
              <a:latin typeface="Arial" panose="020B0604020202020204"/>
              <a:ea typeface="+mn-ea"/>
              <a:cs typeface="Arial" panose="020B0604020202020204"/>
            </a:endParaRPr>
          </a:p>
        </p:txBody>
      </p:sp>
      <p:pic>
        <p:nvPicPr>
          <p:cNvPr id="4" name="Picture 3"/>
          <p:cNvPicPr>
            <a:picLocks noChangeAspect="1"/>
          </p:cNvPicPr>
          <p:nvPr/>
        </p:nvPicPr>
        <p:blipFill>
          <a:blip r:embed="rId2"/>
          <a:stretch>
            <a:fillRect/>
          </a:stretch>
        </p:blipFill>
        <p:spPr>
          <a:xfrm>
            <a:off x="457200" y="1600200"/>
            <a:ext cx="5486400" cy="2919413"/>
          </a:xfrm>
          <a:prstGeom prst="rect">
            <a:avLst/>
          </a:prstGeom>
        </p:spPr>
      </p:pic>
      <p:sp>
        <p:nvSpPr>
          <p:cNvPr id="5" name="TextBox 4"/>
          <p:cNvSpPr txBox="1"/>
          <p:nvPr/>
        </p:nvSpPr>
        <p:spPr>
          <a:xfrm>
            <a:off x="158620" y="4519613"/>
            <a:ext cx="8846004" cy="79457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dirty="0">
                <a:solidFill>
                  <a:srgbClr val="273239"/>
                </a:solidFill>
                <a:latin typeface="Book Antiqua" panose="02040602050305030304" pitchFamily="18" charset="0"/>
              </a:rPr>
              <a:t>Causality of a stationary time series indicates that the time series is dependent on past/lag values. </a:t>
            </a:r>
            <a:endParaRPr lang="en-IN" sz="1600" dirty="0">
              <a:solidFill>
                <a:srgbClr val="273239"/>
              </a:solidFill>
              <a:latin typeface="Book Antiqua" panose="02040602050305030304" pitchFamily="18" charset="0"/>
            </a:endParaRPr>
          </a:p>
        </p:txBody>
      </p:sp>
      <p:sp>
        <p:nvSpPr>
          <p:cNvPr id="7" name="TextBox 6"/>
          <p:cNvSpPr txBox="1"/>
          <p:nvPr/>
        </p:nvSpPr>
        <p:spPr>
          <a:xfrm>
            <a:off x="132184" y="5318449"/>
            <a:ext cx="8846004" cy="116390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600" dirty="0">
                <a:solidFill>
                  <a:srgbClr val="273239"/>
                </a:solidFill>
                <a:latin typeface="Book Antiqua" panose="02040602050305030304" pitchFamily="18" charset="0"/>
              </a:rPr>
              <a:t>Invertibility refers to linear stationary process which behaves like infinite representation of autoregressive. In other word, this is the property that possessed by a moving average process. Invertibility solves non-uniqueness of autocorrelation function of moving average.</a:t>
            </a:r>
            <a:endParaRPr lang="en-IN" sz="1600" dirty="0">
              <a:solidFill>
                <a:srgbClr val="273239"/>
              </a:solidFill>
              <a:latin typeface="Book Antiqua" panose="0204060205030503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4825"/>
          </a:xfrm>
          <a:prstGeom prst="rect">
            <a:avLst/>
          </a:prstGeom>
        </p:spPr>
        <p:txBody>
          <a:bodyPr vert="horz" wrap="square" lIns="0" tIns="12700" rIns="0" bIns="0" rtlCol="0">
            <a:spAutoFit/>
          </a:bodyPr>
          <a:lstStyle/>
          <a:p>
            <a:pPr marL="15240">
              <a:spcBef>
                <a:spcPts val="100"/>
              </a:spcBef>
            </a:pPr>
            <a:r>
              <a:rPr lang="en-US" sz="3200" b="1" spc="-10" dirty="0">
                <a:solidFill>
                  <a:srgbClr val="FF0000"/>
                </a:solidFill>
                <a:latin typeface="Arial" panose="020B0604020202020204"/>
                <a:ea typeface="+mn-ea"/>
                <a:cs typeface="Arial" panose="020B0604020202020204"/>
              </a:rPr>
              <a:t>Non-seasonal ARIMA models</a:t>
            </a:r>
          </a:p>
        </p:txBody>
      </p:sp>
      <p:sp>
        <p:nvSpPr>
          <p:cNvPr id="3" name="Text Box 2"/>
          <p:cNvSpPr txBox="1"/>
          <p:nvPr/>
        </p:nvSpPr>
        <p:spPr>
          <a:xfrm>
            <a:off x="163195" y="1600200"/>
            <a:ext cx="8703310" cy="1163908"/>
          </a:xfrm>
          <a:prstGeom prst="rect">
            <a:avLst/>
          </a:prstGeom>
        </p:spPr>
        <p:txBody>
          <a:bodyPr wrap="square">
            <a:spAutoFit/>
          </a:bodyPr>
          <a:lstStyle/>
          <a:p>
            <a:pPr marL="0" indent="0" algn="just">
              <a:lnSpc>
                <a:spcPct val="150000"/>
              </a:lnSpc>
            </a:pPr>
            <a:r>
              <a:rPr lang="en-US" altLang="zh-CN" sz="1600" dirty="0">
                <a:solidFill>
                  <a:srgbClr val="273239"/>
                </a:solidFill>
                <a:latin typeface="Book Antiqua" panose="02040602050305030304" pitchFamily="18" charset="0"/>
              </a:rPr>
              <a:t>If we combine differencing with autoregression and a moving average model, we obtain a non-seasonal ARIMA model. ARIMA is an acronym for </a:t>
            </a:r>
            <a:r>
              <a:rPr lang="en-US" altLang="zh-CN" sz="1600" dirty="0" err="1">
                <a:solidFill>
                  <a:srgbClr val="273239"/>
                </a:solidFill>
                <a:latin typeface="Book Antiqua" panose="02040602050305030304" pitchFamily="18" charset="0"/>
              </a:rPr>
              <a:t>AutoRegressive</a:t>
            </a:r>
            <a:r>
              <a:rPr lang="en-US" altLang="zh-CN" sz="1600" dirty="0">
                <a:solidFill>
                  <a:srgbClr val="273239"/>
                </a:solidFill>
                <a:latin typeface="Book Antiqua" panose="02040602050305030304" pitchFamily="18" charset="0"/>
              </a:rPr>
              <a:t> Integrated Moving Average. </a:t>
            </a:r>
          </a:p>
        </p:txBody>
      </p:sp>
      <p:pic>
        <p:nvPicPr>
          <p:cNvPr id="5" name="Picture 4"/>
          <p:cNvPicPr>
            <a:picLocks noChangeAspect="1"/>
          </p:cNvPicPr>
          <p:nvPr/>
        </p:nvPicPr>
        <p:blipFill>
          <a:blip r:embed="rId2"/>
          <a:stretch>
            <a:fillRect/>
          </a:stretch>
        </p:blipFill>
        <p:spPr>
          <a:xfrm>
            <a:off x="1553780" y="2764108"/>
            <a:ext cx="5114925" cy="485775"/>
          </a:xfrm>
          <a:prstGeom prst="rect">
            <a:avLst/>
          </a:prstGeom>
        </p:spPr>
      </p:pic>
      <p:sp>
        <p:nvSpPr>
          <p:cNvPr id="7" name="TextBox 6"/>
          <p:cNvSpPr txBox="1"/>
          <p:nvPr/>
        </p:nvSpPr>
        <p:spPr>
          <a:xfrm>
            <a:off x="220345" y="3309206"/>
            <a:ext cx="8703310" cy="338554"/>
          </a:xfrm>
          <a:prstGeom prst="rect">
            <a:avLst/>
          </a:prstGeom>
          <a:noFill/>
        </p:spPr>
        <p:txBody>
          <a:bodyPr wrap="square">
            <a:spAutoFit/>
          </a:bodyPr>
          <a:lstStyle/>
          <a:p>
            <a:r>
              <a:rPr lang="en-US" sz="1600" dirty="0">
                <a:solidFill>
                  <a:srgbClr val="273239"/>
                </a:solidFill>
                <a:latin typeface="Book Antiqua" panose="02040602050305030304" pitchFamily="18" charset="0"/>
              </a:rPr>
              <a:t>where </a:t>
            </a:r>
            <a:r>
              <a:rPr lang="en-US" sz="1600" dirty="0" err="1">
                <a:solidFill>
                  <a:srgbClr val="273239"/>
                </a:solidFill>
                <a:latin typeface="Book Antiqua" panose="02040602050305030304" pitchFamily="18" charset="0"/>
              </a:rPr>
              <a:t>y′t</a:t>
            </a:r>
            <a:r>
              <a:rPr lang="en-US" sz="1600" dirty="0">
                <a:solidFill>
                  <a:srgbClr val="273239"/>
                </a:solidFill>
                <a:latin typeface="Book Antiqua" panose="02040602050305030304" pitchFamily="18" charset="0"/>
              </a:rPr>
              <a:t> is the differenced series (it may have been differenced more than once). </a:t>
            </a:r>
            <a:endParaRPr lang="en-IN" sz="1600" dirty="0">
              <a:solidFill>
                <a:srgbClr val="273239"/>
              </a:solidFill>
              <a:latin typeface="Book Antiqua" panose="02040602050305030304" pitchFamily="18" charset="0"/>
            </a:endParaRPr>
          </a:p>
        </p:txBody>
      </p:sp>
      <p:sp>
        <p:nvSpPr>
          <p:cNvPr id="11" name="TextBox 10"/>
          <p:cNvSpPr txBox="1"/>
          <p:nvPr/>
        </p:nvSpPr>
        <p:spPr>
          <a:xfrm>
            <a:off x="81021" y="3750575"/>
            <a:ext cx="8771255" cy="794576"/>
          </a:xfrm>
          <a:prstGeom prst="rect">
            <a:avLst/>
          </a:prstGeom>
          <a:noFill/>
        </p:spPr>
        <p:txBody>
          <a:bodyPr wrap="square">
            <a:spAutoFit/>
          </a:bodyPr>
          <a:lstStyle/>
          <a:p>
            <a:pPr algn="just">
              <a:lnSpc>
                <a:spcPct val="150000"/>
              </a:lnSpc>
            </a:pPr>
            <a:r>
              <a:rPr lang="en-US" sz="1600" dirty="0">
                <a:solidFill>
                  <a:srgbClr val="273239"/>
                </a:solidFill>
                <a:latin typeface="Book Antiqua" panose="02040602050305030304" pitchFamily="18" charset="0"/>
              </a:rPr>
              <a:t>The “predictors” on the right hand side include both lagged values of </a:t>
            </a:r>
            <a:r>
              <a:rPr lang="en-US" sz="1600" dirty="0" err="1">
                <a:solidFill>
                  <a:srgbClr val="273239"/>
                </a:solidFill>
                <a:latin typeface="Book Antiqua" panose="02040602050305030304" pitchFamily="18" charset="0"/>
              </a:rPr>
              <a:t>yt</a:t>
            </a:r>
            <a:r>
              <a:rPr lang="en-US" sz="1600" dirty="0">
                <a:solidFill>
                  <a:srgbClr val="273239"/>
                </a:solidFill>
                <a:latin typeface="Book Antiqua" panose="02040602050305030304" pitchFamily="18" charset="0"/>
              </a:rPr>
              <a:t> and lagged errors. We call this an ARIMA(</a:t>
            </a:r>
            <a:r>
              <a:rPr lang="en-US" sz="1600" dirty="0" err="1">
                <a:solidFill>
                  <a:srgbClr val="273239"/>
                </a:solidFill>
                <a:latin typeface="Book Antiqua" panose="02040602050305030304" pitchFamily="18" charset="0"/>
              </a:rPr>
              <a:t>p,d,q</a:t>
            </a:r>
            <a:r>
              <a:rPr lang="en-US" sz="1600" dirty="0">
                <a:solidFill>
                  <a:srgbClr val="273239"/>
                </a:solidFill>
                <a:latin typeface="Book Antiqua" panose="02040602050305030304" pitchFamily="18" charset="0"/>
              </a:rPr>
              <a:t>) model, where</a:t>
            </a:r>
            <a:endParaRPr lang="en-IN" sz="1600" dirty="0">
              <a:solidFill>
                <a:srgbClr val="273239"/>
              </a:solidFill>
              <a:latin typeface="Book Antiqua" panose="02040602050305030304" pitchFamily="18" charset="0"/>
            </a:endParaRPr>
          </a:p>
        </p:txBody>
      </p:sp>
      <p:graphicFrame>
        <p:nvGraphicFramePr>
          <p:cNvPr id="12" name="Table 11"/>
          <p:cNvGraphicFramePr>
            <a:graphicFrameLocks noGrp="1"/>
          </p:cNvGraphicFramePr>
          <p:nvPr/>
        </p:nvGraphicFramePr>
        <p:xfrm>
          <a:off x="1066800" y="4869180"/>
          <a:ext cx="5486400" cy="1005840"/>
        </p:xfrm>
        <a:graphic>
          <a:graphicData uri="http://schemas.openxmlformats.org/drawingml/2006/table">
            <a:tbl>
              <a:tblPr/>
              <a:tblGrid>
                <a:gridCol w="11430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142875">
                <a:tc>
                  <a:txBody>
                    <a:bodyPr/>
                    <a:lstStyle/>
                    <a:p>
                      <a:pPr algn="r"/>
                      <a:r>
                        <a:rPr lang="en-IN" sz="1600" dirty="0">
                          <a:solidFill>
                            <a:srgbClr val="273239"/>
                          </a:solidFill>
                          <a:latin typeface="Book Antiqua" panose="02040602050305030304" pitchFamily="18" charset="0"/>
                        </a:rPr>
                        <a:t>p =</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US" sz="1600" dirty="0">
                          <a:solidFill>
                            <a:srgbClr val="273239"/>
                          </a:solidFill>
                          <a:latin typeface="Book Antiqua" panose="02040602050305030304" pitchFamily="18" charset="0"/>
                        </a:rPr>
                        <a:t>order of the autoregressive part;</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42875">
                <a:tc>
                  <a:txBody>
                    <a:bodyPr/>
                    <a:lstStyle/>
                    <a:p>
                      <a:pPr algn="r"/>
                      <a:r>
                        <a:rPr lang="en-IN" sz="1600" dirty="0">
                          <a:solidFill>
                            <a:srgbClr val="273239"/>
                          </a:solidFill>
                          <a:latin typeface="Book Antiqua" panose="02040602050305030304" pitchFamily="18" charset="0"/>
                        </a:rPr>
                        <a:t>d =</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B05627"/>
                      </a:solidFill>
                      <a:prstDash val="solid"/>
                      <a:round/>
                      <a:headEnd type="none" w="med" len="med"/>
                      <a:tailEnd type="none" w="med" len="med"/>
                    </a:lnB>
                    <a:solidFill>
                      <a:srgbClr val="F8F8F8"/>
                    </a:solidFill>
                  </a:tcPr>
                </a:tc>
                <a:tc>
                  <a:txBody>
                    <a:bodyPr/>
                    <a:lstStyle/>
                    <a:p>
                      <a:pPr algn="l"/>
                      <a:r>
                        <a:rPr lang="en-US" sz="1600" dirty="0">
                          <a:solidFill>
                            <a:srgbClr val="273239"/>
                          </a:solidFill>
                          <a:latin typeface="Book Antiqua" panose="02040602050305030304" pitchFamily="18" charset="0"/>
                        </a:rPr>
                        <a:t>degree of first differencing involved;</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D05127"/>
                      </a:solidFill>
                      <a:prstDash val="solid"/>
                      <a:round/>
                      <a:headEnd type="none" w="med" len="med"/>
                      <a:tailEnd type="none" w="med" len="med"/>
                    </a:lnB>
                    <a:solidFill>
                      <a:srgbClr val="F8F8F8"/>
                    </a:solidFill>
                  </a:tcPr>
                </a:tc>
                <a:extLst>
                  <a:ext uri="{0D108BD9-81ED-4DB2-BD59-A6C34878D82A}">
                    <a16:rowId xmlns:a16="http://schemas.microsoft.com/office/drawing/2014/main" val="10001"/>
                  </a:ext>
                </a:extLst>
              </a:tr>
              <a:tr h="142875">
                <a:tc>
                  <a:txBody>
                    <a:bodyPr/>
                    <a:lstStyle/>
                    <a:p>
                      <a:pPr algn="r"/>
                      <a:r>
                        <a:rPr lang="en-IN" sz="1600" dirty="0">
                          <a:solidFill>
                            <a:srgbClr val="273239"/>
                          </a:solidFill>
                          <a:latin typeface="Book Antiqua" panose="02040602050305030304" pitchFamily="18" charset="0"/>
                        </a:rPr>
                        <a:t>q =</a:t>
                      </a:r>
                    </a:p>
                  </a:txBody>
                  <a:tcPr marL="47625" marR="47625" anchor="ctr">
                    <a:lnL>
                      <a:noFill/>
                    </a:lnL>
                    <a:lnR>
                      <a:noFill/>
                    </a:lnR>
                    <a:lnT w="9525" cap="flat" cmpd="sng" algn="ctr">
                      <a:solidFill>
                        <a:srgbClr val="B05627"/>
                      </a:solidFill>
                      <a:prstDash val="solid"/>
                      <a:round/>
                      <a:headEnd type="none" w="med" len="med"/>
                      <a:tailEnd type="none" w="med" len="med"/>
                    </a:lnT>
                    <a:lnB>
                      <a:noFill/>
                    </a:lnB>
                    <a:solidFill>
                      <a:srgbClr val="FFFFFF"/>
                    </a:solidFill>
                  </a:tcPr>
                </a:tc>
                <a:tc>
                  <a:txBody>
                    <a:bodyPr/>
                    <a:lstStyle/>
                    <a:p>
                      <a:pPr algn="l"/>
                      <a:r>
                        <a:rPr lang="en-US" sz="1600" dirty="0">
                          <a:solidFill>
                            <a:srgbClr val="273239"/>
                          </a:solidFill>
                          <a:latin typeface="Book Antiqua" panose="02040602050305030304" pitchFamily="18" charset="0"/>
                        </a:rPr>
                        <a:t>order of the moving average part.</a:t>
                      </a:r>
                    </a:p>
                  </a:txBody>
                  <a:tcPr marL="47625" marR="47625" anchor="ctr">
                    <a:lnL>
                      <a:noFill/>
                    </a:lnL>
                    <a:lnR>
                      <a:noFill/>
                    </a:lnR>
                    <a:lnT w="9525" cap="flat" cmpd="sng" algn="ctr">
                      <a:solidFill>
                        <a:srgbClr val="D05127"/>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7431742" y="2847917"/>
            <a:ext cx="741006" cy="276999"/>
          </a:xfrm>
          <a:prstGeom prst="rect">
            <a:avLst/>
          </a:prstGeom>
          <a:noFill/>
        </p:spPr>
        <p:txBody>
          <a:bodyPr wrap="square">
            <a:spAutoFit/>
          </a:bodyPr>
          <a:lstStyle/>
          <a:p>
            <a:r>
              <a:rPr lang="en-IN" sz="1200" b="0" i="0" dirty="0">
                <a:solidFill>
                  <a:srgbClr val="333333"/>
                </a:solidFill>
                <a:effectLst/>
                <a:latin typeface="Book Antiqua" panose="02040602050305030304" pitchFamily="18" charset="0"/>
              </a:rPr>
              <a:t>(9.1)</a:t>
            </a:r>
            <a:endParaRPr lang="en-IN" sz="1200" dirty="0">
              <a:latin typeface="Book Antiqua" panose="0204060205030503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4825"/>
          </a:xfrm>
          <a:prstGeom prst="rect">
            <a:avLst/>
          </a:prstGeom>
        </p:spPr>
        <p:txBody>
          <a:bodyPr vert="horz" wrap="square" lIns="0" tIns="12700" rIns="0" bIns="0" rtlCol="0">
            <a:spAutoFit/>
          </a:bodyPr>
          <a:lstStyle/>
          <a:p>
            <a:pPr marL="15240">
              <a:spcBef>
                <a:spcPts val="100"/>
              </a:spcBef>
            </a:pPr>
            <a:r>
              <a:rPr lang="en-US" sz="3200" b="1" spc="-10" dirty="0">
                <a:solidFill>
                  <a:srgbClr val="FF0000"/>
                </a:solidFill>
                <a:latin typeface="Arial" panose="020B0604020202020204"/>
                <a:ea typeface="+mn-ea"/>
                <a:cs typeface="Arial" panose="020B0604020202020204"/>
              </a:rPr>
              <a:t>Non-seasonal ARIMA models</a:t>
            </a:r>
          </a:p>
        </p:txBody>
      </p:sp>
      <p:graphicFrame>
        <p:nvGraphicFramePr>
          <p:cNvPr id="4" name="Table 3"/>
          <p:cNvGraphicFramePr>
            <a:graphicFrameLocks noGrp="1"/>
          </p:cNvGraphicFramePr>
          <p:nvPr/>
        </p:nvGraphicFramePr>
        <p:xfrm>
          <a:off x="533400" y="2125824"/>
          <a:ext cx="5638800" cy="1295400"/>
        </p:xfrm>
        <a:graphic>
          <a:graphicData uri="http://schemas.openxmlformats.org/drawingml/2006/table">
            <a:tbl>
              <a:tblPr/>
              <a:tblGrid>
                <a:gridCol w="17526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142875">
                <a:tc>
                  <a:txBody>
                    <a:bodyPr/>
                    <a:lstStyle/>
                    <a:p>
                      <a:pPr algn="l"/>
                      <a:r>
                        <a:rPr lang="en-IN" sz="1100" dirty="0">
                          <a:effectLst/>
                          <a:latin typeface="Book Antiqua" panose="02040602050305030304" pitchFamily="18" charset="0"/>
                        </a:rPr>
                        <a:t>White noise</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US" sz="1100" dirty="0">
                          <a:effectLst/>
                          <a:latin typeface="Book Antiqua" panose="02040602050305030304" pitchFamily="18" charset="0"/>
                        </a:rPr>
                        <a:t>ARIMA(0,0,0) with no constant</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42875">
                <a:tc>
                  <a:txBody>
                    <a:bodyPr/>
                    <a:lstStyle/>
                    <a:p>
                      <a:pPr algn="l"/>
                      <a:r>
                        <a:rPr lang="en-IN" sz="1100" dirty="0">
                          <a:effectLst/>
                          <a:latin typeface="Book Antiqua" panose="02040602050305030304" pitchFamily="18" charset="0"/>
                        </a:rPr>
                        <a:t>Random walk</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8F8F8"/>
                    </a:solidFill>
                  </a:tcPr>
                </a:tc>
                <a:tc>
                  <a:txBody>
                    <a:bodyPr/>
                    <a:lstStyle/>
                    <a:p>
                      <a:pPr algn="l"/>
                      <a:r>
                        <a:rPr lang="en-US" sz="1100" dirty="0">
                          <a:effectLst/>
                          <a:latin typeface="Book Antiqua" panose="02040602050305030304" pitchFamily="18" charset="0"/>
                        </a:rPr>
                        <a:t>ARIMA(0,1,0) with no constant</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8F8F8"/>
                    </a:solidFill>
                  </a:tcPr>
                </a:tc>
                <a:extLst>
                  <a:ext uri="{0D108BD9-81ED-4DB2-BD59-A6C34878D82A}">
                    <a16:rowId xmlns:a16="http://schemas.microsoft.com/office/drawing/2014/main" val="10001"/>
                  </a:ext>
                </a:extLst>
              </a:tr>
              <a:tr h="142875">
                <a:tc>
                  <a:txBody>
                    <a:bodyPr/>
                    <a:lstStyle/>
                    <a:p>
                      <a:pPr algn="l"/>
                      <a:r>
                        <a:rPr lang="en-IN" sz="1100">
                          <a:effectLst/>
                          <a:latin typeface="Book Antiqua" panose="02040602050305030304" pitchFamily="18" charset="0"/>
                        </a:rPr>
                        <a:t>Random walk with drift</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US" sz="1100" dirty="0">
                          <a:effectLst/>
                          <a:latin typeface="Book Antiqua" panose="02040602050305030304" pitchFamily="18" charset="0"/>
                        </a:rPr>
                        <a:t>ARIMA(0,1,0) with a constant</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42875">
                <a:tc>
                  <a:txBody>
                    <a:bodyPr/>
                    <a:lstStyle/>
                    <a:p>
                      <a:pPr algn="l"/>
                      <a:r>
                        <a:rPr lang="en-IN" sz="1100">
                          <a:effectLst/>
                          <a:latin typeface="Book Antiqua" panose="02040602050305030304" pitchFamily="18" charset="0"/>
                        </a:rPr>
                        <a:t>Autoregression</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A0D5B9"/>
                      </a:solidFill>
                      <a:prstDash val="solid"/>
                      <a:round/>
                      <a:headEnd type="none" w="med" len="med"/>
                      <a:tailEnd type="none" w="med" len="med"/>
                    </a:lnB>
                    <a:solidFill>
                      <a:srgbClr val="F8F8F8"/>
                    </a:solidFill>
                  </a:tcPr>
                </a:tc>
                <a:tc>
                  <a:txBody>
                    <a:bodyPr/>
                    <a:lstStyle/>
                    <a:p>
                      <a:pPr algn="l"/>
                      <a:r>
                        <a:rPr lang="en-IN" sz="1100" dirty="0">
                          <a:effectLst/>
                          <a:latin typeface="Book Antiqua" panose="02040602050305030304" pitchFamily="18" charset="0"/>
                        </a:rPr>
                        <a:t>ARIMA(</a:t>
                      </a:r>
                      <a:r>
                        <a:rPr lang="en-IN" sz="1100" b="0" i="0" dirty="0">
                          <a:effectLst/>
                          <a:latin typeface="Book Antiqua" panose="02040602050305030304" pitchFamily="18" charset="0"/>
                        </a:rPr>
                        <a:t>p</a:t>
                      </a:r>
                      <a:r>
                        <a:rPr lang="en-IN" sz="1100" dirty="0">
                          <a:effectLst/>
                          <a:latin typeface="Book Antiqua" panose="02040602050305030304" pitchFamily="18" charset="0"/>
                        </a:rPr>
                        <a:t>,0,0)</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40D5B9"/>
                      </a:solidFill>
                      <a:prstDash val="solid"/>
                      <a:round/>
                      <a:headEnd type="none" w="med" len="med"/>
                      <a:tailEnd type="none" w="med" len="med"/>
                    </a:lnB>
                    <a:solidFill>
                      <a:srgbClr val="F8F8F8"/>
                    </a:solidFill>
                  </a:tcPr>
                </a:tc>
                <a:extLst>
                  <a:ext uri="{0D108BD9-81ED-4DB2-BD59-A6C34878D82A}">
                    <a16:rowId xmlns:a16="http://schemas.microsoft.com/office/drawing/2014/main" val="10003"/>
                  </a:ext>
                </a:extLst>
              </a:tr>
              <a:tr h="142875">
                <a:tc>
                  <a:txBody>
                    <a:bodyPr/>
                    <a:lstStyle/>
                    <a:p>
                      <a:pPr algn="l"/>
                      <a:r>
                        <a:rPr lang="en-IN" sz="1100">
                          <a:effectLst/>
                          <a:latin typeface="Book Antiqua" panose="02040602050305030304" pitchFamily="18" charset="0"/>
                        </a:rPr>
                        <a:t>Moving average</a:t>
                      </a:r>
                    </a:p>
                  </a:txBody>
                  <a:tcPr marL="47625" marR="47625" anchor="ctr">
                    <a:lnL>
                      <a:noFill/>
                    </a:lnL>
                    <a:lnR>
                      <a:noFill/>
                    </a:lnR>
                    <a:lnT w="9525" cap="flat" cmpd="sng" algn="ctr">
                      <a:solidFill>
                        <a:srgbClr val="A0D5B9"/>
                      </a:solidFill>
                      <a:prstDash val="solid"/>
                      <a:round/>
                      <a:headEnd type="none" w="med" len="med"/>
                      <a:tailEnd type="none" w="med" len="med"/>
                    </a:lnT>
                    <a:lnB>
                      <a:noFill/>
                    </a:lnB>
                    <a:solidFill>
                      <a:srgbClr val="FFFFFF"/>
                    </a:solidFill>
                  </a:tcPr>
                </a:tc>
                <a:tc>
                  <a:txBody>
                    <a:bodyPr/>
                    <a:lstStyle/>
                    <a:p>
                      <a:pPr algn="l"/>
                      <a:r>
                        <a:rPr lang="en-IN" sz="1100" dirty="0">
                          <a:effectLst/>
                          <a:latin typeface="Book Antiqua" panose="02040602050305030304" pitchFamily="18" charset="0"/>
                        </a:rPr>
                        <a:t>ARIMA(0,0,</a:t>
                      </a:r>
                      <a:r>
                        <a:rPr lang="en-IN" sz="1100" b="0" i="0" dirty="0">
                          <a:effectLst/>
                          <a:latin typeface="Book Antiqua" panose="02040602050305030304" pitchFamily="18" charset="0"/>
                        </a:rPr>
                        <a:t>q</a:t>
                      </a:r>
                      <a:r>
                        <a:rPr lang="en-IN" sz="1100" dirty="0">
                          <a:effectLst/>
                          <a:latin typeface="Book Antiqua" panose="02040602050305030304" pitchFamily="18" charset="0"/>
                        </a:rPr>
                        <a:t>)</a:t>
                      </a:r>
                    </a:p>
                  </a:txBody>
                  <a:tcPr marL="47625" marR="47625" anchor="ctr">
                    <a:lnL>
                      <a:noFill/>
                    </a:lnL>
                    <a:lnR>
                      <a:noFill/>
                    </a:lnR>
                    <a:lnT w="9525" cap="flat" cmpd="sng" algn="ctr">
                      <a:solidFill>
                        <a:srgbClr val="40D5B9"/>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152400" y="1600200"/>
            <a:ext cx="4613988" cy="369332"/>
          </a:xfrm>
          <a:prstGeom prst="rect">
            <a:avLst/>
          </a:prstGeom>
          <a:noFill/>
        </p:spPr>
        <p:txBody>
          <a:bodyPr wrap="square">
            <a:spAutoFit/>
          </a:bodyPr>
          <a:lstStyle/>
          <a:p>
            <a:r>
              <a:rPr lang="en-US" sz="1600" dirty="0">
                <a:solidFill>
                  <a:srgbClr val="273239"/>
                </a:solidFill>
                <a:latin typeface="Book Antiqua" panose="02040602050305030304" pitchFamily="18" charset="0"/>
              </a:rPr>
              <a:t>Special cases of ARIMA models</a:t>
            </a:r>
            <a:r>
              <a:rPr lang="en-US" b="0" i="0" dirty="0">
                <a:solidFill>
                  <a:srgbClr val="777777"/>
                </a:solidFill>
                <a:effectLst/>
                <a:latin typeface="Merriweather" panose="00000500000000000000" pitchFamily="2" charset="0"/>
              </a:rPr>
              <a:t>.</a:t>
            </a:r>
            <a:endParaRPr lang="en-IN" dirty="0"/>
          </a:p>
        </p:txBody>
      </p:sp>
      <p:sp>
        <p:nvSpPr>
          <p:cNvPr id="13" name="TextBox 12"/>
          <p:cNvSpPr txBox="1"/>
          <p:nvPr/>
        </p:nvSpPr>
        <p:spPr>
          <a:xfrm>
            <a:off x="152400" y="3583736"/>
            <a:ext cx="8610600" cy="584775"/>
          </a:xfrm>
          <a:prstGeom prst="rect">
            <a:avLst/>
          </a:prstGeom>
          <a:noFill/>
        </p:spPr>
        <p:txBody>
          <a:bodyPr wrap="square">
            <a:spAutoFit/>
          </a:bodyPr>
          <a:lstStyle/>
          <a:p>
            <a:r>
              <a:rPr lang="en-US" sz="1600" dirty="0">
                <a:solidFill>
                  <a:srgbClr val="273239"/>
                </a:solidFill>
                <a:latin typeface="Book Antiqua" panose="02040602050305030304" pitchFamily="18" charset="0"/>
              </a:rPr>
              <a:t>Once we start combining components in this way to form more complicated models, it is much easier to work with the backshift notation.</a:t>
            </a:r>
            <a:endParaRPr lang="en-IN" sz="1600" dirty="0">
              <a:solidFill>
                <a:srgbClr val="273239"/>
              </a:solidFill>
              <a:latin typeface="Book Antiqua" panose="02040602050305030304" pitchFamily="18" charset="0"/>
            </a:endParaRPr>
          </a:p>
        </p:txBody>
      </p:sp>
      <p:pic>
        <p:nvPicPr>
          <p:cNvPr id="14" name="Picture 13"/>
          <p:cNvPicPr>
            <a:picLocks noChangeAspect="1"/>
          </p:cNvPicPr>
          <p:nvPr/>
        </p:nvPicPr>
        <p:blipFill>
          <a:blip r:embed="rId2"/>
          <a:stretch>
            <a:fillRect/>
          </a:stretch>
        </p:blipFill>
        <p:spPr>
          <a:xfrm>
            <a:off x="659637" y="4572000"/>
            <a:ext cx="7410450" cy="11239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4825"/>
          </a:xfrm>
          <a:prstGeom prst="rect">
            <a:avLst/>
          </a:prstGeom>
        </p:spPr>
        <p:txBody>
          <a:bodyPr vert="horz" wrap="square" lIns="0" tIns="12700" rIns="0" bIns="0" rtlCol="0">
            <a:spAutoFit/>
          </a:bodyPr>
          <a:lstStyle/>
          <a:p>
            <a:pPr marL="15240">
              <a:spcBef>
                <a:spcPts val="100"/>
              </a:spcBef>
            </a:pPr>
            <a:r>
              <a:rPr lang="en-US" sz="3200" b="1" spc="-10" dirty="0">
                <a:solidFill>
                  <a:srgbClr val="FF0000"/>
                </a:solidFill>
                <a:latin typeface="Arial" panose="020B0604020202020204"/>
                <a:ea typeface="+mn-ea"/>
                <a:cs typeface="Arial" panose="020B0604020202020204"/>
              </a:rPr>
              <a:t>Non-seasonal ARIMA models</a:t>
            </a:r>
          </a:p>
        </p:txBody>
      </p:sp>
      <p:pic>
        <p:nvPicPr>
          <p:cNvPr id="3074" name="Picture 2" descr="Annual Egyptian exports as a percentage of GDP since 196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828800"/>
            <a:ext cx="4038600" cy="17526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4191000" y="2049910"/>
            <a:ext cx="4613988" cy="307777"/>
          </a:xfrm>
          <a:prstGeom prst="rect">
            <a:avLst/>
          </a:prstGeom>
          <a:noFill/>
        </p:spPr>
        <p:txBody>
          <a:bodyPr wrap="square">
            <a:spAutoFit/>
          </a:bodyPr>
          <a:lstStyle/>
          <a:p>
            <a:r>
              <a:rPr lang="en-US" sz="1400" b="0" i="0" dirty="0">
                <a:solidFill>
                  <a:srgbClr val="333333"/>
                </a:solidFill>
                <a:effectLst/>
                <a:latin typeface="Book Antiqua" panose="02040602050305030304" pitchFamily="18" charset="0"/>
              </a:rPr>
              <a:t>This is an ARIMA(2,0,1) model:</a:t>
            </a:r>
            <a:endParaRPr lang="en-IN" sz="1400" dirty="0">
              <a:latin typeface="Book Antiqua" panose="02040602050305030304" pitchFamily="18" charset="0"/>
            </a:endParaRPr>
          </a:p>
        </p:txBody>
      </p:sp>
      <p:pic>
        <p:nvPicPr>
          <p:cNvPr id="8" name="Picture 7"/>
          <p:cNvPicPr>
            <a:picLocks noChangeAspect="1"/>
          </p:cNvPicPr>
          <p:nvPr/>
        </p:nvPicPr>
        <p:blipFill>
          <a:blip r:embed="rId3"/>
          <a:stretch>
            <a:fillRect/>
          </a:stretch>
        </p:blipFill>
        <p:spPr>
          <a:xfrm>
            <a:off x="4206551" y="2352675"/>
            <a:ext cx="3895725" cy="352425"/>
          </a:xfrm>
          <a:prstGeom prst="rect">
            <a:avLst/>
          </a:prstGeom>
        </p:spPr>
      </p:pic>
      <p:sp>
        <p:nvSpPr>
          <p:cNvPr id="14" name="TextBox 13"/>
          <p:cNvSpPr txBox="1"/>
          <p:nvPr/>
        </p:nvSpPr>
        <p:spPr>
          <a:xfrm>
            <a:off x="4206551" y="2819400"/>
            <a:ext cx="4251649" cy="523220"/>
          </a:xfrm>
          <a:prstGeom prst="rect">
            <a:avLst/>
          </a:prstGeom>
          <a:noFill/>
        </p:spPr>
        <p:txBody>
          <a:bodyPr wrap="square">
            <a:spAutoFit/>
          </a:bodyPr>
          <a:lstStyle/>
          <a:p>
            <a:r>
              <a:rPr lang="en-US" sz="1400" dirty="0">
                <a:solidFill>
                  <a:srgbClr val="333333"/>
                </a:solidFill>
                <a:latin typeface="Book Antiqua" panose="02040602050305030304" pitchFamily="18" charset="0"/>
              </a:rPr>
              <a:t>where </a:t>
            </a:r>
            <a:r>
              <a:rPr lang="en-US" sz="1400" dirty="0" err="1">
                <a:solidFill>
                  <a:srgbClr val="333333"/>
                </a:solidFill>
                <a:latin typeface="Book Antiqua" panose="02040602050305030304" pitchFamily="18" charset="0"/>
              </a:rPr>
              <a:t>εt</a:t>
            </a:r>
            <a:r>
              <a:rPr lang="en-US" sz="1400" dirty="0">
                <a:solidFill>
                  <a:srgbClr val="333333"/>
                </a:solidFill>
                <a:latin typeface="Book Antiqua" panose="02040602050305030304" pitchFamily="18" charset="0"/>
              </a:rPr>
              <a:t> is white noise with a standard deviation of 2.837=√8.046.</a:t>
            </a:r>
            <a:endParaRPr lang="en-IN" sz="1400" dirty="0">
              <a:solidFill>
                <a:srgbClr val="333333"/>
              </a:solidFill>
              <a:latin typeface="Book Antiqua" panose="02040602050305030304" pitchFamily="18" charset="0"/>
            </a:endParaRPr>
          </a:p>
        </p:txBody>
      </p:sp>
      <p:sp>
        <p:nvSpPr>
          <p:cNvPr id="16" name="TextBox 15"/>
          <p:cNvSpPr txBox="1"/>
          <p:nvPr/>
        </p:nvSpPr>
        <p:spPr>
          <a:xfrm>
            <a:off x="152400" y="3709981"/>
            <a:ext cx="8347788" cy="369332"/>
          </a:xfrm>
          <a:prstGeom prst="rect">
            <a:avLst/>
          </a:prstGeom>
          <a:noFill/>
        </p:spPr>
        <p:txBody>
          <a:bodyPr wrap="square">
            <a:spAutoFit/>
          </a:bodyPr>
          <a:lstStyle/>
          <a:p>
            <a:r>
              <a:rPr lang="en-US" b="0" i="0" dirty="0">
                <a:solidFill>
                  <a:srgbClr val="333333"/>
                </a:solidFill>
                <a:effectLst/>
                <a:latin typeface="Merriweather" panose="00000500000000000000" pitchFamily="2" charset="0"/>
              </a:rPr>
              <a:t> </a:t>
            </a:r>
            <a:r>
              <a:rPr lang="en-US" sz="1400" b="0" i="0" dirty="0">
                <a:solidFill>
                  <a:srgbClr val="333333"/>
                </a:solidFill>
                <a:effectLst/>
                <a:latin typeface="Book Antiqua" panose="02040602050305030304" pitchFamily="18" charset="0"/>
              </a:rPr>
              <a:t>Forecasts from the model are shown in below Figure</a:t>
            </a:r>
            <a:endParaRPr lang="en-IN" dirty="0">
              <a:latin typeface="Book Antiqua" panose="02040602050305030304" pitchFamily="18" charset="0"/>
            </a:endParaRPr>
          </a:p>
        </p:txBody>
      </p:sp>
      <p:pic>
        <p:nvPicPr>
          <p:cNvPr id="3076" name="Picture 4" descr="Forecasts of Egyptian export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8188" y="4079313"/>
            <a:ext cx="4953000" cy="1635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4825"/>
          </a:xfrm>
          <a:prstGeom prst="rect">
            <a:avLst/>
          </a:prstGeom>
        </p:spPr>
        <p:txBody>
          <a:bodyPr vert="horz" wrap="square" lIns="0" tIns="12700" rIns="0" bIns="0" rtlCol="0">
            <a:spAutoFit/>
          </a:bodyPr>
          <a:lstStyle/>
          <a:p>
            <a:pPr marL="15240">
              <a:spcBef>
                <a:spcPts val="100"/>
              </a:spcBef>
            </a:pPr>
            <a:r>
              <a:rPr lang="en-US" sz="3200" b="1" spc="-10" dirty="0">
                <a:solidFill>
                  <a:srgbClr val="FF0000"/>
                </a:solidFill>
                <a:latin typeface="Arial" panose="020B0604020202020204"/>
                <a:ea typeface="+mn-ea"/>
                <a:cs typeface="Arial" panose="020B0604020202020204"/>
              </a:rPr>
              <a:t>Understanding ARIMA models</a:t>
            </a:r>
          </a:p>
        </p:txBody>
      </p:sp>
      <p:sp>
        <p:nvSpPr>
          <p:cNvPr id="11" name="TextBox 10"/>
          <p:cNvSpPr txBox="1"/>
          <p:nvPr/>
        </p:nvSpPr>
        <p:spPr>
          <a:xfrm>
            <a:off x="124408" y="1600200"/>
            <a:ext cx="8549950" cy="2322624"/>
          </a:xfrm>
          <a:prstGeom prst="rect">
            <a:avLst/>
          </a:prstGeom>
          <a:noFill/>
        </p:spPr>
        <p:txBody>
          <a:bodyPr wrap="square">
            <a:spAutoFit/>
          </a:bodyPr>
          <a:lstStyle/>
          <a:p>
            <a:pPr algn="just">
              <a:lnSpc>
                <a:spcPct val="150000"/>
              </a:lnSpc>
            </a:pPr>
            <a:r>
              <a:rPr lang="en-US" sz="1400" b="0" i="0" dirty="0">
                <a:solidFill>
                  <a:srgbClr val="333333"/>
                </a:solidFill>
                <a:effectLst/>
                <a:latin typeface="Book Antiqua" panose="02040602050305030304" pitchFamily="18" charset="0"/>
              </a:rPr>
              <a:t>The constant c has an important effect on the long-term forecasts obtained from these models.</a:t>
            </a:r>
          </a:p>
          <a:p>
            <a:pPr algn="just">
              <a:lnSpc>
                <a:spcPct val="150000"/>
              </a:lnSpc>
              <a:buFont typeface="Arial" panose="020B0604020202020204" pitchFamily="34" charset="0"/>
              <a:buChar char="•"/>
            </a:pPr>
            <a:r>
              <a:rPr lang="en-US" sz="1400" b="0" i="0" dirty="0">
                <a:solidFill>
                  <a:srgbClr val="333333"/>
                </a:solidFill>
                <a:effectLst/>
                <a:latin typeface="Book Antiqua" panose="02040602050305030304" pitchFamily="18" charset="0"/>
              </a:rPr>
              <a:t>If c=0 and d=0, the long-term forecasts will go to zero.</a:t>
            </a:r>
          </a:p>
          <a:p>
            <a:pPr algn="just">
              <a:lnSpc>
                <a:spcPct val="150000"/>
              </a:lnSpc>
              <a:buFont typeface="Arial" panose="020B0604020202020204" pitchFamily="34" charset="0"/>
              <a:buChar char="•"/>
            </a:pPr>
            <a:r>
              <a:rPr lang="en-US" sz="1400" b="0" i="0" dirty="0">
                <a:solidFill>
                  <a:srgbClr val="333333"/>
                </a:solidFill>
                <a:effectLst/>
                <a:latin typeface="Book Antiqua" panose="02040602050305030304" pitchFamily="18" charset="0"/>
              </a:rPr>
              <a:t>If c=0 and d=1, the long-term forecasts will go to a non-zero constant.</a:t>
            </a:r>
          </a:p>
          <a:p>
            <a:pPr algn="just">
              <a:lnSpc>
                <a:spcPct val="150000"/>
              </a:lnSpc>
              <a:buFont typeface="Arial" panose="020B0604020202020204" pitchFamily="34" charset="0"/>
              <a:buChar char="•"/>
            </a:pPr>
            <a:r>
              <a:rPr lang="en-US" sz="1400" b="0" i="0" dirty="0">
                <a:solidFill>
                  <a:srgbClr val="333333"/>
                </a:solidFill>
                <a:effectLst/>
                <a:latin typeface="Book Antiqua" panose="02040602050305030304" pitchFamily="18" charset="0"/>
              </a:rPr>
              <a:t>If c=0 and d=2, the long-term forecasts will follow a straight line.</a:t>
            </a:r>
          </a:p>
          <a:p>
            <a:pPr algn="just">
              <a:lnSpc>
                <a:spcPct val="150000"/>
              </a:lnSpc>
              <a:buFont typeface="Arial" panose="020B0604020202020204" pitchFamily="34" charset="0"/>
              <a:buChar char="•"/>
            </a:pPr>
            <a:r>
              <a:rPr lang="en-US" sz="1400" b="0" i="0" dirty="0">
                <a:solidFill>
                  <a:srgbClr val="333333"/>
                </a:solidFill>
                <a:effectLst/>
                <a:latin typeface="Book Antiqua" panose="02040602050305030304" pitchFamily="18" charset="0"/>
              </a:rPr>
              <a:t>If c≠0 and d=0, the long-term forecasts will go to the mean of the data.</a:t>
            </a:r>
          </a:p>
          <a:p>
            <a:pPr algn="just">
              <a:lnSpc>
                <a:spcPct val="150000"/>
              </a:lnSpc>
              <a:buFont typeface="Arial" panose="020B0604020202020204" pitchFamily="34" charset="0"/>
              <a:buChar char="•"/>
            </a:pPr>
            <a:r>
              <a:rPr lang="en-US" sz="1400" b="0" i="0" dirty="0">
                <a:solidFill>
                  <a:srgbClr val="333333"/>
                </a:solidFill>
                <a:effectLst/>
                <a:latin typeface="Book Antiqua" panose="02040602050305030304" pitchFamily="18" charset="0"/>
              </a:rPr>
              <a:t>If c≠0 and d=1, the long-term forecasts will follow a straight line.</a:t>
            </a:r>
          </a:p>
          <a:p>
            <a:pPr algn="just">
              <a:lnSpc>
                <a:spcPct val="150000"/>
              </a:lnSpc>
              <a:buFont typeface="Arial" panose="020B0604020202020204" pitchFamily="34" charset="0"/>
              <a:buChar char="•"/>
            </a:pPr>
            <a:r>
              <a:rPr lang="en-US" sz="1400" b="0" i="0" dirty="0">
                <a:solidFill>
                  <a:srgbClr val="333333"/>
                </a:solidFill>
                <a:effectLst/>
                <a:latin typeface="Book Antiqua" panose="02040602050305030304" pitchFamily="18" charset="0"/>
              </a:rPr>
              <a:t>If c≠0 and d=2, the long-term forecasts will follow a quadratic trend. </a:t>
            </a:r>
            <a:endParaRPr lang="en-US" sz="1600" b="0" i="0" dirty="0">
              <a:solidFill>
                <a:srgbClr val="333333"/>
              </a:solidFill>
              <a:effectLst/>
              <a:latin typeface="Book Antiqua" panose="02040602050305030304" pitchFamily="18" charset="0"/>
            </a:endParaRPr>
          </a:p>
        </p:txBody>
      </p:sp>
      <p:sp>
        <p:nvSpPr>
          <p:cNvPr id="12" name="TextBox 11"/>
          <p:cNvSpPr txBox="1"/>
          <p:nvPr/>
        </p:nvSpPr>
        <p:spPr>
          <a:xfrm>
            <a:off x="124408" y="4267200"/>
            <a:ext cx="8867192" cy="1533240"/>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The value of d also has an effect on the prediction intervals — the higher the value of d, the more rapidly the prediction intervals increase in size. </a:t>
            </a:r>
          </a:p>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For d=0, the long-term forecast standard deviation will go to the standard deviation of the historical data, so the prediction intervals will all be essentially the same.</a:t>
            </a:r>
            <a:endParaRPr lang="en-IN" sz="1600" dirty="0">
              <a:latin typeface="Book Antiqua" panose="02040602050305030304" pitchFamily="18" charset="0"/>
            </a:endParaRPr>
          </a:p>
        </p:txBody>
      </p:sp>
      <p:sp>
        <p:nvSpPr>
          <p:cNvPr id="15" name="TextBox 14"/>
          <p:cNvSpPr txBox="1"/>
          <p:nvPr/>
        </p:nvSpPr>
        <p:spPr>
          <a:xfrm>
            <a:off x="216158" y="6040126"/>
            <a:ext cx="8458200" cy="461665"/>
          </a:xfrm>
          <a:prstGeom prst="rect">
            <a:avLst/>
          </a:prstGeom>
          <a:noFill/>
        </p:spPr>
        <p:txBody>
          <a:bodyPr wrap="square">
            <a:spAutoFit/>
          </a:bodyPr>
          <a:lstStyle/>
          <a:p>
            <a:r>
              <a:rPr lang="en-US" sz="1200" b="0" i="0" dirty="0">
                <a:solidFill>
                  <a:srgbClr val="FF0000"/>
                </a:solidFill>
                <a:effectLst/>
                <a:latin typeface="Book Antiqua" panose="02040602050305030304" pitchFamily="18" charset="0"/>
              </a:rPr>
              <a:t>This </a:t>
            </a:r>
            <a:r>
              <a:rPr lang="en-US" sz="1200" b="0" i="0" dirty="0" err="1">
                <a:solidFill>
                  <a:srgbClr val="FF0000"/>
                </a:solidFill>
                <a:effectLst/>
                <a:latin typeface="Book Antiqua" panose="02040602050305030304" pitchFamily="18" charset="0"/>
              </a:rPr>
              <a:t>behaviour</a:t>
            </a:r>
            <a:r>
              <a:rPr lang="en-US" sz="1200" b="0" i="0" dirty="0">
                <a:solidFill>
                  <a:srgbClr val="FF0000"/>
                </a:solidFill>
                <a:effectLst/>
                <a:latin typeface="Book Antiqua" panose="02040602050305030304" pitchFamily="18" charset="0"/>
              </a:rPr>
              <a:t> is seen in forecasted Figure  where d=0 and c≠0. In this figure, the prediction intervals are almost the same width for the last few forecast horizons, and the final point forecasts are close to the mean of the data.</a:t>
            </a:r>
            <a:endParaRPr lang="en-IN" sz="1200" dirty="0">
              <a:solidFill>
                <a:srgbClr val="FF0000"/>
              </a:solidFill>
              <a:latin typeface="Book Antiqua" panose="0204060205030503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ACF and PACF plots</a:t>
            </a:r>
            <a:endParaRPr lang="en-US" sz="3200" b="1" spc="-10" dirty="0">
              <a:solidFill>
                <a:srgbClr val="FF0000"/>
              </a:solidFill>
              <a:latin typeface="Arial" panose="020B0604020202020204"/>
              <a:ea typeface="+mn-ea"/>
              <a:cs typeface="Arial" panose="020B0604020202020204"/>
            </a:endParaRPr>
          </a:p>
        </p:txBody>
      </p:sp>
      <p:sp>
        <p:nvSpPr>
          <p:cNvPr id="11" name="TextBox 10"/>
          <p:cNvSpPr txBox="1"/>
          <p:nvPr/>
        </p:nvSpPr>
        <p:spPr>
          <a:xfrm>
            <a:off x="124408" y="1600200"/>
            <a:ext cx="8790992" cy="4627998"/>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400" b="0" i="0" dirty="0">
                <a:solidFill>
                  <a:srgbClr val="333333"/>
                </a:solidFill>
                <a:effectLst/>
                <a:latin typeface="Merriweather" panose="00000500000000000000" pitchFamily="2" charset="0"/>
              </a:rPr>
              <a:t>ACF plot shows the autocorrelations which measure the relationship between </a:t>
            </a:r>
            <a:r>
              <a:rPr lang="en-US" sz="1400" b="0" i="0" dirty="0" err="1">
                <a:solidFill>
                  <a:srgbClr val="333333"/>
                </a:solidFill>
                <a:effectLst/>
                <a:latin typeface="MJXc-TeX-math-I"/>
              </a:rPr>
              <a:t>yt</a:t>
            </a:r>
            <a:r>
              <a:rPr lang="en-US" sz="1400" b="0" i="0" dirty="0">
                <a:solidFill>
                  <a:srgbClr val="333333"/>
                </a:solidFill>
                <a:effectLst/>
                <a:latin typeface="Merriweather" panose="00000500000000000000" pitchFamily="2" charset="0"/>
              </a:rPr>
              <a:t> and </a:t>
            </a:r>
            <a:r>
              <a:rPr lang="en-US" sz="1400" b="0" i="0" dirty="0" err="1">
                <a:solidFill>
                  <a:srgbClr val="333333"/>
                </a:solidFill>
                <a:effectLst/>
                <a:latin typeface="MJXc-TeX-math-I"/>
              </a:rPr>
              <a:t>yt</a:t>
            </a:r>
            <a:r>
              <a:rPr lang="en-US" sz="1400" b="0" i="0" dirty="0">
                <a:solidFill>
                  <a:srgbClr val="333333"/>
                </a:solidFill>
                <a:effectLst/>
                <a:latin typeface="MJXc-TeX-main-R"/>
              </a:rPr>
              <a:t>−</a:t>
            </a:r>
            <a:r>
              <a:rPr lang="en-US" sz="1400" b="0" i="0" dirty="0">
                <a:solidFill>
                  <a:srgbClr val="333333"/>
                </a:solidFill>
                <a:effectLst/>
                <a:latin typeface="MJXc-TeX-math-I"/>
              </a:rPr>
              <a:t>k</a:t>
            </a:r>
            <a:r>
              <a:rPr lang="en-US" sz="1400" b="0" i="0" dirty="0">
                <a:solidFill>
                  <a:srgbClr val="333333"/>
                </a:solidFill>
                <a:effectLst/>
                <a:latin typeface="Merriweather" panose="00000500000000000000" pitchFamily="2" charset="0"/>
              </a:rPr>
              <a:t> for different values of </a:t>
            </a:r>
            <a:r>
              <a:rPr lang="en-US" sz="1400" b="0" i="0" dirty="0">
                <a:solidFill>
                  <a:srgbClr val="333333"/>
                </a:solidFill>
                <a:effectLst/>
                <a:latin typeface="MJXc-TeX-math-I"/>
              </a:rPr>
              <a:t>k</a:t>
            </a:r>
            <a:r>
              <a:rPr lang="en-US" sz="1400" b="0" i="0" dirty="0">
                <a:solidFill>
                  <a:srgbClr val="333333"/>
                </a:solidFill>
                <a:effectLst/>
                <a:latin typeface="Merriweather" panose="00000500000000000000" pitchFamily="2" charset="0"/>
              </a:rPr>
              <a:t>. </a:t>
            </a:r>
          </a:p>
          <a:p>
            <a:pPr marL="285750" indent="-285750" algn="just">
              <a:lnSpc>
                <a:spcPct val="150000"/>
              </a:lnSpc>
              <a:buFont typeface="Wingdings" panose="05000000000000000000" pitchFamily="2" charset="2"/>
              <a:buChar char="q"/>
            </a:pPr>
            <a:r>
              <a:rPr lang="en-US" sz="1400" b="0" i="0" dirty="0">
                <a:solidFill>
                  <a:srgbClr val="333333"/>
                </a:solidFill>
                <a:effectLst/>
                <a:latin typeface="Merriweather" panose="00000500000000000000" pitchFamily="2" charset="0"/>
              </a:rPr>
              <a:t>Now if </a:t>
            </a:r>
            <a:r>
              <a:rPr lang="en-US" sz="1400" b="0" i="0" dirty="0" err="1">
                <a:solidFill>
                  <a:srgbClr val="333333"/>
                </a:solidFill>
                <a:effectLst/>
                <a:latin typeface="MJXc-TeX-math-I"/>
              </a:rPr>
              <a:t>yt</a:t>
            </a:r>
            <a:r>
              <a:rPr lang="en-US" sz="1400" b="0" i="0" dirty="0">
                <a:solidFill>
                  <a:srgbClr val="333333"/>
                </a:solidFill>
                <a:effectLst/>
                <a:latin typeface="Merriweather" panose="00000500000000000000" pitchFamily="2" charset="0"/>
              </a:rPr>
              <a:t> and </a:t>
            </a:r>
            <a:r>
              <a:rPr lang="en-US" sz="1400" b="0" i="0" dirty="0">
                <a:solidFill>
                  <a:srgbClr val="333333"/>
                </a:solidFill>
                <a:effectLst/>
                <a:latin typeface="MJXc-TeX-math-I"/>
              </a:rPr>
              <a:t>yt</a:t>
            </a:r>
            <a:r>
              <a:rPr lang="en-US" sz="1400" b="0" i="0" dirty="0">
                <a:solidFill>
                  <a:srgbClr val="333333"/>
                </a:solidFill>
                <a:effectLst/>
                <a:latin typeface="MJXc-TeX-main-R"/>
              </a:rPr>
              <a:t>−1</a:t>
            </a:r>
            <a:r>
              <a:rPr lang="en-US" sz="1400" b="0" i="0" dirty="0">
                <a:solidFill>
                  <a:srgbClr val="333333"/>
                </a:solidFill>
                <a:effectLst/>
                <a:latin typeface="Merriweather" panose="00000500000000000000" pitchFamily="2" charset="0"/>
              </a:rPr>
              <a:t> are correlated, then </a:t>
            </a:r>
            <a:r>
              <a:rPr lang="en-US" sz="1400" b="0" i="0" dirty="0">
                <a:solidFill>
                  <a:srgbClr val="333333"/>
                </a:solidFill>
                <a:effectLst/>
                <a:latin typeface="MJXc-TeX-math-I"/>
              </a:rPr>
              <a:t>yt</a:t>
            </a:r>
            <a:r>
              <a:rPr lang="en-US" sz="1400" b="0" i="0" dirty="0">
                <a:solidFill>
                  <a:srgbClr val="333333"/>
                </a:solidFill>
                <a:effectLst/>
                <a:latin typeface="MJXc-TeX-main-R"/>
              </a:rPr>
              <a:t>−1</a:t>
            </a:r>
            <a:r>
              <a:rPr lang="en-US" sz="1400" b="0" i="0" dirty="0">
                <a:solidFill>
                  <a:srgbClr val="333333"/>
                </a:solidFill>
                <a:effectLst/>
                <a:latin typeface="Merriweather" panose="00000500000000000000" pitchFamily="2" charset="0"/>
              </a:rPr>
              <a:t> and </a:t>
            </a:r>
            <a:r>
              <a:rPr lang="en-US" sz="1400" b="0" i="0" dirty="0">
                <a:solidFill>
                  <a:srgbClr val="333333"/>
                </a:solidFill>
                <a:effectLst/>
                <a:latin typeface="MJXc-TeX-math-I"/>
              </a:rPr>
              <a:t>yt</a:t>
            </a:r>
            <a:r>
              <a:rPr lang="en-US" sz="1400" b="0" i="0" dirty="0">
                <a:solidFill>
                  <a:srgbClr val="333333"/>
                </a:solidFill>
                <a:effectLst/>
                <a:latin typeface="MJXc-TeX-main-R"/>
              </a:rPr>
              <a:t>−2</a:t>
            </a:r>
            <a:r>
              <a:rPr lang="en-US" sz="1400" b="0" i="0" dirty="0">
                <a:solidFill>
                  <a:srgbClr val="333333"/>
                </a:solidFill>
                <a:effectLst/>
                <a:latin typeface="Merriweather" panose="00000500000000000000" pitchFamily="2" charset="0"/>
              </a:rPr>
              <a:t> must also be correlated. </a:t>
            </a:r>
          </a:p>
          <a:p>
            <a:pPr marL="285750" indent="-285750" algn="just">
              <a:lnSpc>
                <a:spcPct val="150000"/>
              </a:lnSpc>
              <a:buFont typeface="Wingdings" panose="05000000000000000000" pitchFamily="2" charset="2"/>
              <a:buChar char="q"/>
            </a:pPr>
            <a:r>
              <a:rPr lang="en-US" sz="1400" b="0" i="0" dirty="0">
                <a:solidFill>
                  <a:srgbClr val="333333"/>
                </a:solidFill>
                <a:effectLst/>
                <a:latin typeface="Merriweather" panose="00000500000000000000" pitchFamily="2" charset="0"/>
              </a:rPr>
              <a:t>However, then </a:t>
            </a:r>
            <a:r>
              <a:rPr lang="en-US" sz="1400" b="0" i="0" dirty="0" err="1">
                <a:solidFill>
                  <a:srgbClr val="333333"/>
                </a:solidFill>
                <a:effectLst/>
                <a:latin typeface="MJXc-TeX-math-I"/>
              </a:rPr>
              <a:t>yt</a:t>
            </a:r>
            <a:r>
              <a:rPr lang="en-US" sz="1400" b="0" i="0" dirty="0">
                <a:solidFill>
                  <a:srgbClr val="333333"/>
                </a:solidFill>
                <a:effectLst/>
                <a:latin typeface="Merriweather" panose="00000500000000000000" pitchFamily="2" charset="0"/>
              </a:rPr>
              <a:t> and </a:t>
            </a:r>
            <a:r>
              <a:rPr lang="en-US" sz="1400" b="0" i="0" dirty="0">
                <a:solidFill>
                  <a:srgbClr val="333333"/>
                </a:solidFill>
                <a:effectLst/>
                <a:latin typeface="MJXc-TeX-math-I"/>
              </a:rPr>
              <a:t>yt</a:t>
            </a:r>
            <a:r>
              <a:rPr lang="en-US" sz="1400" b="0" i="0" dirty="0">
                <a:solidFill>
                  <a:srgbClr val="333333"/>
                </a:solidFill>
                <a:effectLst/>
                <a:latin typeface="MJXc-TeX-main-R"/>
              </a:rPr>
              <a:t>−2</a:t>
            </a:r>
            <a:r>
              <a:rPr lang="en-US" sz="1400" b="0" i="0" dirty="0">
                <a:solidFill>
                  <a:srgbClr val="333333"/>
                </a:solidFill>
                <a:effectLst/>
                <a:latin typeface="Merriweather" panose="00000500000000000000" pitchFamily="2" charset="0"/>
              </a:rPr>
              <a:t> might be correlated, simply because they are both connected to </a:t>
            </a:r>
            <a:r>
              <a:rPr lang="en-US" sz="1400" b="0" i="0" dirty="0">
                <a:solidFill>
                  <a:srgbClr val="333333"/>
                </a:solidFill>
                <a:effectLst/>
                <a:latin typeface="MJXc-TeX-math-I"/>
              </a:rPr>
              <a:t>yt</a:t>
            </a:r>
            <a:r>
              <a:rPr lang="en-US" sz="1400" b="0" i="0" dirty="0">
                <a:solidFill>
                  <a:srgbClr val="333333"/>
                </a:solidFill>
                <a:effectLst/>
                <a:latin typeface="MJXc-TeX-main-R"/>
              </a:rPr>
              <a:t>−1</a:t>
            </a:r>
            <a:r>
              <a:rPr lang="en-US" sz="1400" b="0" i="0" dirty="0">
                <a:solidFill>
                  <a:srgbClr val="333333"/>
                </a:solidFill>
                <a:effectLst/>
                <a:latin typeface="Merriweather" panose="00000500000000000000" pitchFamily="2" charset="0"/>
              </a:rPr>
              <a:t>, rather than because of any new information contained in </a:t>
            </a:r>
            <a:r>
              <a:rPr lang="en-US" sz="1400" b="0" i="0" dirty="0">
                <a:solidFill>
                  <a:srgbClr val="333333"/>
                </a:solidFill>
                <a:effectLst/>
                <a:latin typeface="MJXc-TeX-math-I"/>
              </a:rPr>
              <a:t>yt</a:t>
            </a:r>
            <a:r>
              <a:rPr lang="en-US" sz="1400" b="0" i="0" dirty="0">
                <a:solidFill>
                  <a:srgbClr val="333333"/>
                </a:solidFill>
                <a:effectLst/>
                <a:latin typeface="MJXc-TeX-main-R"/>
              </a:rPr>
              <a:t>−2</a:t>
            </a:r>
            <a:r>
              <a:rPr lang="en-US" sz="1400" b="0" i="0" dirty="0">
                <a:solidFill>
                  <a:srgbClr val="333333"/>
                </a:solidFill>
                <a:effectLst/>
                <a:latin typeface="Merriweather" panose="00000500000000000000" pitchFamily="2" charset="0"/>
              </a:rPr>
              <a:t> that could be used in forecasting </a:t>
            </a:r>
            <a:r>
              <a:rPr lang="en-US" sz="1400" b="0" i="0" dirty="0" err="1">
                <a:solidFill>
                  <a:srgbClr val="333333"/>
                </a:solidFill>
                <a:effectLst/>
                <a:latin typeface="MJXc-TeX-math-I"/>
              </a:rPr>
              <a:t>yt</a:t>
            </a:r>
            <a:r>
              <a:rPr lang="en-US" sz="1400" b="0" i="0" dirty="0">
                <a:solidFill>
                  <a:srgbClr val="333333"/>
                </a:solidFill>
                <a:effectLst/>
                <a:latin typeface="Merriweather" panose="00000500000000000000" pitchFamily="2" charset="0"/>
              </a:rPr>
              <a:t>.</a:t>
            </a:r>
          </a:p>
          <a:p>
            <a:pPr marL="285750" indent="-285750" algn="just">
              <a:lnSpc>
                <a:spcPct val="150000"/>
              </a:lnSpc>
              <a:buFont typeface="Wingdings" panose="05000000000000000000" pitchFamily="2" charset="2"/>
              <a:buChar char="q"/>
            </a:pPr>
            <a:r>
              <a:rPr lang="en-US" sz="1400" i="0" dirty="0">
                <a:solidFill>
                  <a:srgbClr val="333333"/>
                </a:solidFill>
                <a:latin typeface="Merriweather" panose="00000500000000000000" pitchFamily="2" charset="0"/>
              </a:rPr>
              <a:t>To</a:t>
            </a:r>
            <a:r>
              <a:rPr lang="en-US" sz="1600" b="0" i="0" dirty="0">
                <a:solidFill>
                  <a:srgbClr val="333333"/>
                </a:solidFill>
                <a:effectLst/>
                <a:latin typeface="Merriweather" panose="00000500000000000000" pitchFamily="2" charset="0"/>
              </a:rPr>
              <a:t> </a:t>
            </a:r>
            <a:r>
              <a:rPr lang="en-US" sz="1400" i="0" dirty="0">
                <a:solidFill>
                  <a:srgbClr val="333333"/>
                </a:solidFill>
                <a:latin typeface="Merriweather" panose="00000500000000000000" pitchFamily="2" charset="0"/>
              </a:rPr>
              <a:t>overcome this problem, we can use partial autocorrelations. These measure the relationship between </a:t>
            </a:r>
            <a:r>
              <a:rPr lang="en-US" sz="1400" i="0" dirty="0" err="1">
                <a:solidFill>
                  <a:srgbClr val="333333"/>
                </a:solidFill>
                <a:latin typeface="Merriweather" panose="00000500000000000000" pitchFamily="2" charset="0"/>
              </a:rPr>
              <a:t>yt</a:t>
            </a:r>
            <a:r>
              <a:rPr lang="en-US" sz="1400" i="0" dirty="0">
                <a:solidFill>
                  <a:srgbClr val="333333"/>
                </a:solidFill>
                <a:latin typeface="Merriweather" panose="00000500000000000000" pitchFamily="2" charset="0"/>
              </a:rPr>
              <a:t> and </a:t>
            </a:r>
            <a:r>
              <a:rPr lang="en-US" sz="1400" i="0" dirty="0" err="1">
                <a:solidFill>
                  <a:srgbClr val="333333"/>
                </a:solidFill>
                <a:latin typeface="Merriweather" panose="00000500000000000000" pitchFamily="2" charset="0"/>
              </a:rPr>
              <a:t>yt</a:t>
            </a:r>
            <a:r>
              <a:rPr lang="en-US" sz="1400" i="0" dirty="0">
                <a:solidFill>
                  <a:srgbClr val="333333"/>
                </a:solidFill>
                <a:latin typeface="Merriweather" panose="00000500000000000000" pitchFamily="2" charset="0"/>
              </a:rPr>
              <a:t>−k after removing the effects of lags 1,2,3,…,k−1.</a:t>
            </a:r>
          </a:p>
          <a:p>
            <a:pPr marL="285750" indent="-285750" algn="just">
              <a:lnSpc>
                <a:spcPct val="150000"/>
              </a:lnSpc>
              <a:buFont typeface="Wingdings" panose="05000000000000000000" pitchFamily="2" charset="2"/>
              <a:buChar char="q"/>
            </a:pPr>
            <a:r>
              <a:rPr lang="en-US" sz="1400" b="0" i="0" dirty="0">
                <a:solidFill>
                  <a:srgbClr val="333333"/>
                </a:solidFill>
                <a:effectLst/>
                <a:latin typeface="Merriweather" panose="00000500000000000000" pitchFamily="2" charset="0"/>
              </a:rPr>
              <a:t>So the first partial autocorrelation is identical to the first autocorrelation, because there is nothing between them to remove. </a:t>
            </a:r>
          </a:p>
          <a:p>
            <a:pPr marL="285750" indent="-285750" algn="just">
              <a:lnSpc>
                <a:spcPct val="150000"/>
              </a:lnSpc>
              <a:buFont typeface="Wingdings" panose="05000000000000000000" pitchFamily="2" charset="2"/>
              <a:buChar char="q"/>
            </a:pPr>
            <a:r>
              <a:rPr lang="en-US" sz="1400" b="0" i="0" dirty="0">
                <a:solidFill>
                  <a:srgbClr val="333333"/>
                </a:solidFill>
                <a:effectLst/>
                <a:latin typeface="Merriweather" panose="00000500000000000000" pitchFamily="2" charset="0"/>
              </a:rPr>
              <a:t>Each partial autocorrelation can be estimated as the last coefficient in an autoregressive model.</a:t>
            </a:r>
            <a:endParaRPr lang="en-US" sz="1400" i="0" dirty="0">
              <a:solidFill>
                <a:srgbClr val="333333"/>
              </a:solidFill>
              <a:latin typeface="Merriweather" panose="00000500000000000000" pitchFamily="2" charset="0"/>
            </a:endParaRPr>
          </a:p>
          <a:p>
            <a:pPr marL="285750" indent="-285750" algn="just">
              <a:lnSpc>
                <a:spcPct val="150000"/>
              </a:lnSpc>
              <a:buFont typeface="Wingdings" panose="05000000000000000000" pitchFamily="2" charset="2"/>
              <a:buChar char="q"/>
            </a:pPr>
            <a:r>
              <a:rPr lang="en-US" sz="1400" b="0" i="0" dirty="0">
                <a:solidFill>
                  <a:srgbClr val="333333"/>
                </a:solidFill>
                <a:effectLst/>
                <a:latin typeface="Merriweather" panose="00000500000000000000" pitchFamily="2" charset="0"/>
              </a:rPr>
              <a:t>Specifically, </a:t>
            </a:r>
            <a:r>
              <a:rPr lang="en-US" sz="1400" b="0" i="0" dirty="0">
                <a:solidFill>
                  <a:srgbClr val="333333"/>
                </a:solidFill>
                <a:effectLst/>
                <a:latin typeface="MJXc-TeX-math-I"/>
              </a:rPr>
              <a:t>αk</a:t>
            </a:r>
            <a:r>
              <a:rPr lang="en-US" sz="1400" b="0" i="0" dirty="0">
                <a:solidFill>
                  <a:srgbClr val="333333"/>
                </a:solidFill>
                <a:effectLst/>
                <a:latin typeface="Merriweather" panose="00000500000000000000" pitchFamily="2" charset="0"/>
              </a:rPr>
              <a:t>, the </a:t>
            </a:r>
            <a:r>
              <a:rPr lang="en-US" sz="1400" b="0" i="0" dirty="0">
                <a:solidFill>
                  <a:srgbClr val="333333"/>
                </a:solidFill>
                <a:effectLst/>
                <a:latin typeface="MJXc-TeX-math-I"/>
              </a:rPr>
              <a:t>k</a:t>
            </a:r>
            <a:r>
              <a:rPr lang="en-US" sz="1400" b="0" i="0" dirty="0">
                <a:solidFill>
                  <a:srgbClr val="333333"/>
                </a:solidFill>
                <a:effectLst/>
                <a:latin typeface="Merriweather" panose="00000500000000000000" pitchFamily="2" charset="0"/>
              </a:rPr>
              <a:t>th partial autocorrelation coefficient, is equal to the estimate of </a:t>
            </a:r>
            <a:r>
              <a:rPr lang="en-US" sz="1400" b="0" i="0" dirty="0" err="1">
                <a:solidFill>
                  <a:srgbClr val="333333"/>
                </a:solidFill>
                <a:effectLst/>
                <a:latin typeface="MJXc-TeX-math-I"/>
              </a:rPr>
              <a:t>ϕk</a:t>
            </a:r>
            <a:r>
              <a:rPr lang="en-US" sz="1400" b="0" i="0" dirty="0">
                <a:solidFill>
                  <a:srgbClr val="333333"/>
                </a:solidFill>
                <a:effectLst/>
                <a:latin typeface="Merriweather" panose="00000500000000000000" pitchFamily="2" charset="0"/>
              </a:rPr>
              <a:t> in an AR(</a:t>
            </a:r>
            <a:r>
              <a:rPr lang="en-US" sz="1400" b="0" i="0" dirty="0">
                <a:solidFill>
                  <a:srgbClr val="333333"/>
                </a:solidFill>
                <a:effectLst/>
                <a:latin typeface="MJXc-TeX-math-I"/>
              </a:rPr>
              <a:t>k</a:t>
            </a:r>
            <a:r>
              <a:rPr lang="en-US" sz="1400" b="0" i="0" dirty="0">
                <a:solidFill>
                  <a:srgbClr val="333333"/>
                </a:solidFill>
                <a:effectLst/>
                <a:latin typeface="Merriweather" panose="00000500000000000000" pitchFamily="2" charset="0"/>
              </a:rPr>
              <a:t>) model. </a:t>
            </a:r>
            <a:r>
              <a:rPr lang="en-US" sz="1400" i="0" dirty="0">
                <a:solidFill>
                  <a:srgbClr val="333333"/>
                </a:solidFill>
                <a:latin typeface="Merriweather" panose="00000500000000000000" pitchFamily="2" charset="0"/>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ACF and PACF plots</a:t>
            </a:r>
            <a:endParaRPr lang="en-US" sz="3200" b="1" spc="-10" dirty="0">
              <a:solidFill>
                <a:srgbClr val="FF0000"/>
              </a:solidFill>
              <a:latin typeface="Arial" panose="020B0604020202020204"/>
              <a:ea typeface="+mn-ea"/>
              <a:cs typeface="Arial" panose="020B0604020202020204"/>
            </a:endParaRPr>
          </a:p>
        </p:txBody>
      </p:sp>
      <p:sp>
        <p:nvSpPr>
          <p:cNvPr id="11" name="TextBox 10"/>
          <p:cNvSpPr txBox="1"/>
          <p:nvPr/>
        </p:nvSpPr>
        <p:spPr>
          <a:xfrm>
            <a:off x="200609" y="2908111"/>
            <a:ext cx="8790992" cy="1205523"/>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600" dirty="0">
                <a:solidFill>
                  <a:srgbClr val="333333"/>
                </a:solidFill>
                <a:latin typeface="Book Antiqua" panose="02040602050305030304" pitchFamily="18" charset="0"/>
              </a:rPr>
              <a:t>For AR(1) model</a:t>
            </a:r>
          </a:p>
          <a:p>
            <a:pPr marL="541655" indent="-271780" algn="just">
              <a:lnSpc>
                <a:spcPct val="150000"/>
              </a:lnSpc>
              <a:buFont typeface="Wingdings" panose="05000000000000000000" pitchFamily="2" charset="2"/>
              <a:buChar char="ü"/>
            </a:pPr>
            <a:r>
              <a:rPr lang="en-US" sz="1600" dirty="0">
                <a:solidFill>
                  <a:srgbClr val="333333"/>
                </a:solidFill>
                <a:latin typeface="Book Antiqua" panose="02040602050305030304" pitchFamily="18" charset="0"/>
              </a:rPr>
              <a:t>Autocorrelations exponentially decays</a:t>
            </a:r>
          </a:p>
          <a:p>
            <a:pPr marL="541655" indent="-271780" algn="just">
              <a:lnSpc>
                <a:spcPct val="150000"/>
              </a:lnSpc>
              <a:buFont typeface="Wingdings" panose="05000000000000000000" pitchFamily="2" charset="2"/>
              <a:buChar char="ü"/>
            </a:pPr>
            <a:r>
              <a:rPr lang="en-US" sz="1600" dirty="0">
                <a:solidFill>
                  <a:srgbClr val="333333"/>
                </a:solidFill>
                <a:latin typeface="Book Antiqua" panose="02040602050305030304" pitchFamily="18" charset="0"/>
              </a:rPr>
              <a:t>There is a single significant partial autocorrelation</a:t>
            </a:r>
            <a:endParaRPr lang="en-US" dirty="0">
              <a:solidFill>
                <a:srgbClr val="333333"/>
              </a:solidFill>
              <a:latin typeface="Book Antiqua" panose="02040602050305030304" pitchFamily="18" charset="0"/>
            </a:endParaRPr>
          </a:p>
        </p:txBody>
      </p:sp>
      <p:sp>
        <p:nvSpPr>
          <p:cNvPr id="4" name="TextBox 3"/>
          <p:cNvSpPr txBox="1"/>
          <p:nvPr/>
        </p:nvSpPr>
        <p:spPr>
          <a:xfrm>
            <a:off x="200609" y="1674674"/>
            <a:ext cx="8790991" cy="1163908"/>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If the data are from an ARIMA(p,d,0) or ARIMA(0,d,q) model, then the ACF and PACF plots can be helpful in determining the value of p or q.</a:t>
            </a:r>
          </a:p>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If p and q are both positive, then the plots do not help in finding suitable values of p and q.</a:t>
            </a:r>
            <a:endParaRPr lang="en-IN" sz="1600" dirty="0">
              <a:latin typeface="Book Antiqua" panose="02040602050305030304" pitchFamily="18" charset="0"/>
            </a:endParaRPr>
          </a:p>
        </p:txBody>
      </p:sp>
      <p:sp>
        <p:nvSpPr>
          <p:cNvPr id="6" name="TextBox 5"/>
          <p:cNvSpPr txBox="1"/>
          <p:nvPr/>
        </p:nvSpPr>
        <p:spPr>
          <a:xfrm>
            <a:off x="152400" y="4275497"/>
            <a:ext cx="8742782" cy="1533240"/>
          </a:xfrm>
          <a:prstGeom prst="rect">
            <a:avLst/>
          </a:prstGeom>
          <a:noFill/>
        </p:spPr>
        <p:txBody>
          <a:bodyPr wrap="square">
            <a:spAutoFit/>
          </a:bodyPr>
          <a:lstStyle/>
          <a:p>
            <a:pPr marL="285750" indent="-285750" algn="l">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The data may follow an ARIMA(p,d,0) model means AR(p) model if the ACF and PACF plots of the differenced data show the following patterns:</a:t>
            </a:r>
          </a:p>
          <a:p>
            <a:pPr marL="719455" indent="-365125" algn="l">
              <a:lnSpc>
                <a:spcPct val="150000"/>
              </a:lnSpc>
              <a:buFont typeface="Wingdings" panose="05000000000000000000" pitchFamily="2" charset="2"/>
              <a:buChar char="ü"/>
            </a:pPr>
            <a:r>
              <a:rPr lang="en-US" sz="1600" b="0" i="0" dirty="0">
                <a:solidFill>
                  <a:srgbClr val="333333"/>
                </a:solidFill>
                <a:effectLst/>
                <a:latin typeface="Book Antiqua" panose="02040602050305030304" pitchFamily="18" charset="0"/>
              </a:rPr>
              <a:t>the ACF is exponentially decaying or sinusoidal;</a:t>
            </a:r>
          </a:p>
          <a:p>
            <a:pPr marL="719455" indent="-365125" algn="l">
              <a:lnSpc>
                <a:spcPct val="150000"/>
              </a:lnSpc>
              <a:buFont typeface="Wingdings" panose="05000000000000000000" pitchFamily="2" charset="2"/>
              <a:buChar char="ü"/>
            </a:pPr>
            <a:r>
              <a:rPr lang="en-US" sz="1600" b="0" i="0" dirty="0">
                <a:solidFill>
                  <a:srgbClr val="333333"/>
                </a:solidFill>
                <a:effectLst/>
                <a:latin typeface="Book Antiqua" panose="02040602050305030304" pitchFamily="18" charset="0"/>
              </a:rPr>
              <a:t>there is a significant spike at lag p in the PACF, but none beyond lag 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ACF and PACF plots</a:t>
            </a:r>
            <a:endParaRPr lang="en-US" sz="3200" b="1" spc="-10" dirty="0">
              <a:solidFill>
                <a:srgbClr val="FF0000"/>
              </a:solidFill>
              <a:latin typeface="Arial" panose="020B0604020202020204"/>
              <a:ea typeface="+mn-ea"/>
              <a:cs typeface="Arial" panose="020B0604020202020204"/>
            </a:endParaRPr>
          </a:p>
        </p:txBody>
      </p:sp>
      <p:pic>
        <p:nvPicPr>
          <p:cNvPr id="4098" name="Picture 2" descr="ACF of Egyptian expor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98" y="1676400"/>
            <a:ext cx="5410201" cy="1905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0" y="3810000"/>
            <a:ext cx="5486400" cy="1828800"/>
          </a:xfrm>
          <a:prstGeom prst="rect">
            <a:avLst/>
          </a:prstGeom>
        </p:spPr>
      </p:pic>
      <p:sp>
        <p:nvSpPr>
          <p:cNvPr id="8" name="TextBox 7"/>
          <p:cNvSpPr txBox="1"/>
          <p:nvPr/>
        </p:nvSpPr>
        <p:spPr>
          <a:xfrm>
            <a:off x="542731" y="5646003"/>
            <a:ext cx="8458200" cy="830997"/>
          </a:xfrm>
          <a:prstGeom prst="rect">
            <a:avLst/>
          </a:prstGeom>
          <a:noFill/>
        </p:spPr>
        <p:txBody>
          <a:bodyPr wrap="square">
            <a:spAutoFit/>
          </a:bodyPr>
          <a:lstStyle/>
          <a:p>
            <a:pPr algn="just"/>
            <a:r>
              <a:rPr lang="en-US" sz="1600" b="1" i="0" dirty="0">
                <a:solidFill>
                  <a:schemeClr val="accent1"/>
                </a:solidFill>
                <a:effectLst/>
                <a:latin typeface="Book Antiqua" panose="02040602050305030304" pitchFamily="18" charset="0"/>
              </a:rPr>
              <a:t>In figure, we see that there is a decaying sinusoidal pattern in the ACF and the PACF shows the last significant spike at lag 4. This is what you would expect from an ARIMA(4,0,0) model.</a:t>
            </a:r>
            <a:endParaRPr lang="en-IN" sz="1600" b="1" dirty="0">
              <a:solidFill>
                <a:schemeClr val="accent1"/>
              </a:solidFill>
              <a:latin typeface="Book Antiqua" panose="02040602050305030304" pitchFamily="18" charset="0"/>
            </a:endParaRPr>
          </a:p>
        </p:txBody>
      </p:sp>
      <p:sp>
        <p:nvSpPr>
          <p:cNvPr id="7" name="TextBox 6">
            <a:extLst>
              <a:ext uri="{FF2B5EF4-FFF2-40B4-BE49-F238E27FC236}">
                <a16:creationId xmlns:a16="http://schemas.microsoft.com/office/drawing/2014/main" id="{AEF0DCDC-DF0F-4287-ABCD-36B9675B9AB8}"/>
              </a:ext>
            </a:extLst>
          </p:cNvPr>
          <p:cNvSpPr txBox="1"/>
          <p:nvPr/>
        </p:nvSpPr>
        <p:spPr>
          <a:xfrm>
            <a:off x="6019800" y="1677955"/>
            <a:ext cx="2590800" cy="1815882"/>
          </a:xfrm>
          <a:prstGeom prst="rect">
            <a:avLst/>
          </a:prstGeom>
          <a:noFill/>
        </p:spPr>
        <p:txBody>
          <a:bodyPr wrap="square">
            <a:spAutoFit/>
          </a:bodyPr>
          <a:lstStyle/>
          <a:p>
            <a:r>
              <a:rPr lang="en-US" sz="1600" b="1" dirty="0">
                <a:solidFill>
                  <a:srgbClr val="C00000"/>
                </a:solidFill>
                <a:latin typeface="Book Antiqua" panose="02040602050305030304" pitchFamily="18" charset="0"/>
              </a:rPr>
              <a:t>Calculate/Check Confidence Intervals</a:t>
            </a:r>
            <a:r>
              <a:rPr lang="en-US" sz="1600" dirty="0">
                <a:solidFill>
                  <a:srgbClr val="C00000"/>
                </a:solidFill>
                <a:latin typeface="Book Antiqua" panose="02040602050305030304" pitchFamily="18" charset="0"/>
              </a:rPr>
              <a:t>:</a:t>
            </a:r>
          </a:p>
          <a:p>
            <a:r>
              <a:rPr lang="en-US" sz="1600" dirty="0">
                <a:solidFill>
                  <a:srgbClr val="C00000"/>
                </a:solidFill>
                <a:latin typeface="Book Antiqua" panose="02040602050305030304" pitchFamily="18" charset="0"/>
              </a:rPr>
              <a:t> </a:t>
            </a:r>
          </a:p>
          <a:p>
            <a:r>
              <a:rPr lang="en-US" sz="1600" dirty="0">
                <a:solidFill>
                  <a:schemeClr val="tx1"/>
                </a:solidFill>
                <a:latin typeface="Book Antiqua" panose="02040602050305030304" pitchFamily="18" charset="0"/>
              </a:rPr>
              <a:t>For large sample sizes, </a:t>
            </a:r>
          </a:p>
          <a:p>
            <a:endParaRPr lang="en-US" sz="1600" dirty="0">
              <a:solidFill>
                <a:schemeClr val="tx1"/>
              </a:solidFill>
              <a:latin typeface="Book Antiqua" panose="02040602050305030304" pitchFamily="18" charset="0"/>
            </a:endParaRPr>
          </a:p>
          <a:p>
            <a:r>
              <a:rPr lang="en-US" sz="1600" dirty="0">
                <a:solidFill>
                  <a:schemeClr val="tx1"/>
                </a:solidFill>
                <a:latin typeface="Book Antiqua" panose="02040602050305030304" pitchFamily="18" charset="0"/>
              </a:rPr>
              <a:t>use ​             to set the significance bounds.</a:t>
            </a:r>
            <a:endParaRPr lang="en-IN" sz="1600" dirty="0">
              <a:solidFill>
                <a:schemeClr val="tx1"/>
              </a:solidFill>
              <a:latin typeface="Book Antiqua" panose="02040602050305030304" pitchFamily="18" charset="0"/>
            </a:endParaRPr>
          </a:p>
        </p:txBody>
      </p:sp>
      <p:pic>
        <p:nvPicPr>
          <p:cNvPr id="6" name="Picture 5">
            <a:extLst>
              <a:ext uri="{FF2B5EF4-FFF2-40B4-BE49-F238E27FC236}">
                <a16:creationId xmlns:a16="http://schemas.microsoft.com/office/drawing/2014/main" id="{FB7E4D48-5E0E-44BC-8FE7-C98466365593}"/>
              </a:ext>
            </a:extLst>
          </p:cNvPr>
          <p:cNvPicPr>
            <a:picLocks noChangeAspect="1"/>
          </p:cNvPicPr>
          <p:nvPr/>
        </p:nvPicPr>
        <p:blipFill>
          <a:blip r:embed="rId4"/>
          <a:stretch>
            <a:fillRect/>
          </a:stretch>
        </p:blipFill>
        <p:spPr>
          <a:xfrm>
            <a:off x="6553200" y="2819358"/>
            <a:ext cx="428625" cy="4381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ACF and PACF plots</a:t>
            </a:r>
            <a:endParaRPr lang="en-US" sz="3200" b="1" spc="-10" dirty="0">
              <a:solidFill>
                <a:srgbClr val="FF0000"/>
              </a:solidFill>
              <a:latin typeface="Arial" panose="020B0604020202020204"/>
              <a:ea typeface="+mn-ea"/>
              <a:cs typeface="Arial" panose="020B0604020202020204"/>
            </a:endParaRPr>
          </a:p>
        </p:txBody>
      </p:sp>
      <p:sp>
        <p:nvSpPr>
          <p:cNvPr id="8" name="TextBox 7"/>
          <p:cNvSpPr txBox="1"/>
          <p:nvPr/>
        </p:nvSpPr>
        <p:spPr>
          <a:xfrm>
            <a:off x="381000" y="3057836"/>
            <a:ext cx="8763000" cy="1533240"/>
          </a:xfrm>
          <a:prstGeom prst="rect">
            <a:avLst/>
          </a:prstGeom>
          <a:noFill/>
        </p:spPr>
        <p:txBody>
          <a:bodyPr wrap="square">
            <a:spAutoFit/>
          </a:bodyPr>
          <a:lstStyle/>
          <a:p>
            <a:pPr marL="285750" indent="-285750" algn="l">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The data may follow an ARIMA(0,d,q) model means MA(q) if the ACF and PACF plots of the differenced data show the following patterns:</a:t>
            </a:r>
          </a:p>
          <a:p>
            <a:pPr marL="719455" indent="-365125" algn="l">
              <a:lnSpc>
                <a:spcPct val="150000"/>
              </a:lnSpc>
              <a:buFont typeface="Wingdings" panose="05000000000000000000" pitchFamily="2" charset="2"/>
              <a:buChar char="ü"/>
            </a:pPr>
            <a:r>
              <a:rPr lang="en-US" sz="1600" b="0" i="0" dirty="0">
                <a:solidFill>
                  <a:srgbClr val="333333"/>
                </a:solidFill>
                <a:effectLst/>
                <a:latin typeface="Book Antiqua" panose="02040602050305030304" pitchFamily="18" charset="0"/>
              </a:rPr>
              <a:t>the PACF is exponentially decaying or sinusoidal;</a:t>
            </a:r>
          </a:p>
          <a:p>
            <a:pPr marL="719455" indent="-365125" algn="l">
              <a:lnSpc>
                <a:spcPct val="150000"/>
              </a:lnSpc>
              <a:buFont typeface="Wingdings" panose="05000000000000000000" pitchFamily="2" charset="2"/>
              <a:buChar char="ü"/>
            </a:pPr>
            <a:r>
              <a:rPr lang="en-US" sz="1600" b="0" i="0" dirty="0">
                <a:solidFill>
                  <a:srgbClr val="333333"/>
                </a:solidFill>
                <a:effectLst/>
                <a:latin typeface="Book Antiqua" panose="02040602050305030304" pitchFamily="18" charset="0"/>
              </a:rPr>
              <a:t>there is a significant spike at lag q in the ACF, but none beyond lag q.</a:t>
            </a:r>
          </a:p>
        </p:txBody>
      </p:sp>
      <p:sp>
        <p:nvSpPr>
          <p:cNvPr id="6" name="TextBox 5"/>
          <p:cNvSpPr txBox="1"/>
          <p:nvPr/>
        </p:nvSpPr>
        <p:spPr>
          <a:xfrm>
            <a:off x="419100" y="1752600"/>
            <a:ext cx="8305800" cy="1205523"/>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600" dirty="0">
                <a:solidFill>
                  <a:srgbClr val="333333"/>
                </a:solidFill>
                <a:latin typeface="Book Antiqua" panose="02040602050305030304" pitchFamily="18" charset="0"/>
              </a:rPr>
              <a:t>For MA(1) model</a:t>
            </a:r>
          </a:p>
          <a:p>
            <a:pPr marL="541655" indent="-271780" algn="just">
              <a:lnSpc>
                <a:spcPct val="150000"/>
              </a:lnSpc>
              <a:buFont typeface="Wingdings" panose="05000000000000000000" pitchFamily="2" charset="2"/>
              <a:buChar char="ü"/>
            </a:pPr>
            <a:r>
              <a:rPr lang="en-US" sz="1600" dirty="0">
                <a:solidFill>
                  <a:srgbClr val="333333"/>
                </a:solidFill>
                <a:latin typeface="Book Antiqua" panose="02040602050305030304" pitchFamily="18" charset="0"/>
              </a:rPr>
              <a:t>PACF is exponentially decaying</a:t>
            </a:r>
          </a:p>
          <a:p>
            <a:pPr marL="541655" indent="-271780" algn="just">
              <a:lnSpc>
                <a:spcPct val="150000"/>
              </a:lnSpc>
              <a:buFont typeface="Wingdings" panose="05000000000000000000" pitchFamily="2" charset="2"/>
              <a:buChar char="ü"/>
            </a:pPr>
            <a:r>
              <a:rPr lang="en-US" sz="1600" dirty="0">
                <a:solidFill>
                  <a:srgbClr val="333333"/>
                </a:solidFill>
                <a:latin typeface="Book Antiqua" panose="02040602050305030304" pitchFamily="18" charset="0"/>
              </a:rPr>
              <a:t>There is a single significant spike in ACF</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Estimation and order selection</a:t>
            </a:r>
            <a:endParaRPr lang="en-US" sz="3200" b="1" spc="-10" dirty="0">
              <a:solidFill>
                <a:srgbClr val="FF0000"/>
              </a:solidFill>
              <a:latin typeface="Arial" panose="020B0604020202020204"/>
              <a:ea typeface="+mn-ea"/>
              <a:cs typeface="Arial" panose="020B0604020202020204"/>
            </a:endParaRPr>
          </a:p>
        </p:txBody>
      </p:sp>
      <p:sp>
        <p:nvSpPr>
          <p:cNvPr id="6" name="TextBox 5"/>
          <p:cNvSpPr txBox="1"/>
          <p:nvPr/>
        </p:nvSpPr>
        <p:spPr>
          <a:xfrm>
            <a:off x="152400" y="1752600"/>
            <a:ext cx="8839200" cy="2271327"/>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Once the model order has been identified (i.e., the values of p, d and q), we need to estimate the parameters c, ϕ1,…,</a:t>
            </a:r>
            <a:r>
              <a:rPr lang="en-US" sz="1600" b="0" i="0" dirty="0" err="1">
                <a:solidFill>
                  <a:srgbClr val="333333"/>
                </a:solidFill>
                <a:effectLst/>
                <a:latin typeface="Book Antiqua" panose="02040602050305030304" pitchFamily="18" charset="0"/>
              </a:rPr>
              <a:t>ϕp</a:t>
            </a:r>
            <a:r>
              <a:rPr lang="en-US" sz="1600" b="0" i="0" dirty="0">
                <a:solidFill>
                  <a:srgbClr val="333333"/>
                </a:solidFill>
                <a:effectLst/>
                <a:latin typeface="Book Antiqua" panose="02040602050305030304" pitchFamily="18" charset="0"/>
              </a:rPr>
              <a:t>, θ1,…,</a:t>
            </a:r>
            <a:r>
              <a:rPr lang="en-US" sz="1600" b="0" i="0" dirty="0" err="1">
                <a:solidFill>
                  <a:srgbClr val="333333"/>
                </a:solidFill>
                <a:effectLst/>
                <a:latin typeface="Book Antiqua" panose="02040602050305030304" pitchFamily="18" charset="0"/>
              </a:rPr>
              <a:t>θq</a:t>
            </a:r>
            <a:r>
              <a:rPr lang="en-US" sz="1600" b="0" i="0" dirty="0">
                <a:solidFill>
                  <a:srgbClr val="333333"/>
                </a:solidFill>
                <a:effectLst/>
                <a:latin typeface="Book Antiqua" panose="02040602050305030304" pitchFamily="18" charset="0"/>
              </a:rPr>
              <a:t>. </a:t>
            </a:r>
          </a:p>
          <a:p>
            <a:pPr marL="285750" indent="-285750" algn="just">
              <a:lnSpc>
                <a:spcPct val="150000"/>
              </a:lnSpc>
              <a:buFont typeface="Wingdings" panose="05000000000000000000" pitchFamily="2" charset="2"/>
              <a:buChar char="q"/>
            </a:pPr>
            <a:r>
              <a:rPr lang="en-US" sz="1600" i="1" dirty="0">
                <a:solidFill>
                  <a:srgbClr val="FF0000"/>
                </a:solidFill>
                <a:latin typeface="Book Antiqua" panose="02040602050305030304" pitchFamily="18" charset="0"/>
              </a:rPr>
              <a:t>M</a:t>
            </a:r>
            <a:r>
              <a:rPr lang="en-US" sz="1600" b="0" i="1" dirty="0">
                <a:solidFill>
                  <a:srgbClr val="FF0000"/>
                </a:solidFill>
                <a:effectLst/>
                <a:latin typeface="Book Antiqua" panose="02040602050305030304" pitchFamily="18" charset="0"/>
              </a:rPr>
              <a:t>aximum likelihood estimation</a:t>
            </a:r>
            <a:r>
              <a:rPr lang="en-US" sz="1600" b="0" i="0" dirty="0">
                <a:solidFill>
                  <a:srgbClr val="FF0000"/>
                </a:solidFill>
                <a:effectLst/>
                <a:latin typeface="Book Antiqua" panose="02040602050305030304" pitchFamily="18" charset="0"/>
              </a:rPr>
              <a:t> (MLE)</a:t>
            </a:r>
            <a:r>
              <a:rPr lang="en-US" sz="1600" b="0" i="0" dirty="0">
                <a:solidFill>
                  <a:srgbClr val="333333"/>
                </a:solidFill>
                <a:effectLst/>
                <a:latin typeface="Book Antiqua" panose="02040602050305030304" pitchFamily="18" charset="0"/>
              </a:rPr>
              <a:t> is a technique that finds the values of the parameters which </a:t>
            </a:r>
            <a:r>
              <a:rPr lang="en-US" sz="1600" b="0" i="0" dirty="0" err="1">
                <a:solidFill>
                  <a:srgbClr val="333333"/>
                </a:solidFill>
                <a:effectLst/>
                <a:latin typeface="Book Antiqua" panose="02040602050305030304" pitchFamily="18" charset="0"/>
              </a:rPr>
              <a:t>maximise</a:t>
            </a:r>
            <a:r>
              <a:rPr lang="en-US" sz="1600" b="0" i="0" dirty="0">
                <a:solidFill>
                  <a:srgbClr val="333333"/>
                </a:solidFill>
                <a:effectLst/>
                <a:latin typeface="Book Antiqua" panose="02040602050305030304" pitchFamily="18" charset="0"/>
              </a:rPr>
              <a:t> the probability of obtaining the data that we have observed.</a:t>
            </a:r>
          </a:p>
          <a:p>
            <a:pPr marL="285750" indent="-285750" algn="just">
              <a:lnSpc>
                <a:spcPct val="150000"/>
              </a:lnSpc>
              <a:buFont typeface="Wingdings" panose="05000000000000000000" pitchFamily="2" charset="2"/>
              <a:buChar char="q"/>
            </a:pPr>
            <a:r>
              <a:rPr lang="en-US" sz="1600" dirty="0">
                <a:solidFill>
                  <a:srgbClr val="333333"/>
                </a:solidFill>
                <a:latin typeface="Book Antiqua" panose="02040602050305030304" pitchFamily="18" charset="0"/>
              </a:rPr>
              <a:t>For ARIMA, MLE is similar to the least squares estimates that would be obtained by minimizing</a:t>
            </a:r>
          </a:p>
        </p:txBody>
      </p:sp>
      <p:pic>
        <p:nvPicPr>
          <p:cNvPr id="4" name="Picture 3"/>
          <p:cNvPicPr>
            <a:picLocks noChangeAspect="1"/>
          </p:cNvPicPr>
          <p:nvPr/>
        </p:nvPicPr>
        <p:blipFill>
          <a:blip r:embed="rId2"/>
          <a:stretch>
            <a:fillRect/>
          </a:stretch>
        </p:blipFill>
        <p:spPr>
          <a:xfrm>
            <a:off x="914400" y="4023927"/>
            <a:ext cx="781050" cy="6286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4825"/>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 </a:t>
            </a:r>
            <a:r>
              <a:rPr lang="en-US" altLang="en-IN" sz="3200" b="1" spc="-10" dirty="0">
                <a:solidFill>
                  <a:srgbClr val="FF0000"/>
                </a:solidFill>
                <a:latin typeface="Arial" panose="020B0604020202020204"/>
                <a:ea typeface="+mn-ea"/>
                <a:cs typeface="Arial" panose="020B0604020202020204"/>
              </a:rPr>
              <a:t>O</a:t>
            </a:r>
            <a:r>
              <a:rPr lang="en-IN" sz="3200" b="1" spc="-10" dirty="0">
                <a:solidFill>
                  <a:srgbClr val="FF0000"/>
                </a:solidFill>
                <a:latin typeface="Arial" panose="020B0604020202020204"/>
                <a:ea typeface="+mn-ea"/>
                <a:cs typeface="Arial" panose="020B0604020202020204"/>
              </a:rPr>
              <a:t>rder selection</a:t>
            </a:r>
            <a:r>
              <a:rPr lang="en-US" altLang="en-IN" sz="3200" b="1" spc="-10" dirty="0">
                <a:solidFill>
                  <a:srgbClr val="FF0000"/>
                </a:solidFill>
                <a:latin typeface="Arial" panose="020B0604020202020204"/>
                <a:ea typeface="+mn-ea"/>
                <a:cs typeface="Arial" panose="020B0604020202020204"/>
              </a:rPr>
              <a:t> - Information Criteria</a:t>
            </a:r>
          </a:p>
        </p:txBody>
      </p:sp>
      <p:sp>
        <p:nvSpPr>
          <p:cNvPr id="6" name="TextBox 5"/>
          <p:cNvSpPr txBox="1"/>
          <p:nvPr/>
        </p:nvSpPr>
        <p:spPr>
          <a:xfrm>
            <a:off x="152400" y="1752600"/>
            <a:ext cx="8839200" cy="829945"/>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Akaike’s Information Criterion (AIC) is useful for determining the order of an ARIMA model. It can be written as</a:t>
            </a:r>
          </a:p>
        </p:txBody>
      </p:sp>
      <p:pic>
        <p:nvPicPr>
          <p:cNvPr id="3" name="Picture 2"/>
          <p:cNvPicPr>
            <a:picLocks noChangeAspect="1"/>
          </p:cNvPicPr>
          <p:nvPr/>
        </p:nvPicPr>
        <p:blipFill>
          <a:blip r:embed="rId2"/>
          <a:stretch>
            <a:fillRect/>
          </a:stretch>
        </p:blipFill>
        <p:spPr>
          <a:xfrm>
            <a:off x="2057400" y="2698750"/>
            <a:ext cx="3143250" cy="409575"/>
          </a:xfrm>
          <a:prstGeom prst="rect">
            <a:avLst/>
          </a:prstGeom>
        </p:spPr>
      </p:pic>
      <p:sp>
        <p:nvSpPr>
          <p:cNvPr id="5" name="Text Box 4"/>
          <p:cNvSpPr txBox="1"/>
          <p:nvPr/>
        </p:nvSpPr>
        <p:spPr>
          <a:xfrm>
            <a:off x="457200" y="3200400"/>
            <a:ext cx="8500110" cy="830997"/>
          </a:xfrm>
          <a:prstGeom prst="rect">
            <a:avLst/>
          </a:prstGeom>
        </p:spPr>
        <p:txBody>
          <a:bodyPr wrap="square">
            <a:spAutoFit/>
          </a:bodyPr>
          <a:lstStyle/>
          <a:p>
            <a:pPr marL="0" indent="0" algn="just"/>
            <a:r>
              <a:rPr lang="en-US" altLang="zh-CN" sz="1600" b="0" i="0" dirty="0">
                <a:solidFill>
                  <a:srgbClr val="333333"/>
                </a:solidFill>
                <a:latin typeface="Book Antiqua" panose="02040602050305030304" pitchFamily="18" charset="0"/>
                <a:ea typeface="Merriweather"/>
              </a:rPr>
              <a:t>where </a:t>
            </a:r>
            <a:r>
              <a:rPr lang="en-US" altLang="zh-CN" sz="1600" b="0" i="0" dirty="0">
                <a:solidFill>
                  <a:srgbClr val="333333"/>
                </a:solidFill>
                <a:latin typeface="Book Antiqua" panose="02040602050305030304" pitchFamily="18" charset="0"/>
                <a:ea typeface="MJXc-TeX-math-I"/>
              </a:rPr>
              <a:t>L</a:t>
            </a:r>
            <a:r>
              <a:rPr lang="en-US" altLang="zh-CN" sz="1600" b="0" i="0" dirty="0">
                <a:solidFill>
                  <a:srgbClr val="333333"/>
                </a:solidFill>
                <a:latin typeface="Book Antiqua" panose="02040602050305030304" pitchFamily="18" charset="0"/>
                <a:ea typeface="Merriweather"/>
              </a:rPr>
              <a:t> is the likelihood of the data, </a:t>
            </a:r>
            <a:r>
              <a:rPr lang="en-US" altLang="zh-CN" sz="1600" b="0" i="0" dirty="0">
                <a:solidFill>
                  <a:srgbClr val="333333"/>
                </a:solidFill>
                <a:latin typeface="Book Antiqua" panose="02040602050305030304" pitchFamily="18" charset="0"/>
                <a:ea typeface="MJXc-TeX-math-I"/>
              </a:rPr>
              <a:t>k</a:t>
            </a:r>
            <a:r>
              <a:rPr lang="en-US" altLang="zh-CN" sz="1600" b="0" i="0" dirty="0">
                <a:solidFill>
                  <a:srgbClr val="333333"/>
                </a:solidFill>
                <a:latin typeface="Book Antiqua" panose="02040602050305030304" pitchFamily="18" charset="0"/>
                <a:ea typeface="MJXc-TeX-main-R"/>
              </a:rPr>
              <a:t>=1</a:t>
            </a:r>
            <a:r>
              <a:rPr lang="en-US" altLang="zh-CN" sz="1600" b="0" i="0" dirty="0">
                <a:solidFill>
                  <a:srgbClr val="333333"/>
                </a:solidFill>
                <a:latin typeface="Book Antiqua" panose="02040602050305030304" pitchFamily="18" charset="0"/>
                <a:ea typeface="Merriweather"/>
              </a:rPr>
              <a:t> if </a:t>
            </a:r>
            <a:r>
              <a:rPr lang="en-US" altLang="zh-CN" sz="1600" b="0" i="0" dirty="0">
                <a:solidFill>
                  <a:srgbClr val="333333"/>
                </a:solidFill>
                <a:latin typeface="Book Antiqua" panose="02040602050305030304" pitchFamily="18" charset="0"/>
                <a:ea typeface="MJXc-TeX-math-I"/>
              </a:rPr>
              <a:t>c</a:t>
            </a:r>
            <a:r>
              <a:rPr lang="en-US" altLang="zh-CN" sz="1600" b="0" i="0" dirty="0">
                <a:solidFill>
                  <a:srgbClr val="333333"/>
                </a:solidFill>
                <a:latin typeface="Book Antiqua" panose="02040602050305030304" pitchFamily="18" charset="0"/>
                <a:ea typeface="MJXc-TeX-main-R"/>
              </a:rPr>
              <a:t>≠0</a:t>
            </a:r>
            <a:r>
              <a:rPr lang="en-US" altLang="zh-CN" sz="1600" b="0" i="0" dirty="0">
                <a:solidFill>
                  <a:srgbClr val="333333"/>
                </a:solidFill>
                <a:latin typeface="Book Antiqua" panose="02040602050305030304" pitchFamily="18" charset="0"/>
                <a:ea typeface="Merriweather"/>
              </a:rPr>
              <a:t> and </a:t>
            </a:r>
            <a:r>
              <a:rPr lang="en-US" altLang="zh-CN" sz="1600" b="0" i="0" dirty="0">
                <a:solidFill>
                  <a:srgbClr val="333333"/>
                </a:solidFill>
                <a:latin typeface="Book Antiqua" panose="02040602050305030304" pitchFamily="18" charset="0"/>
                <a:ea typeface="MJXc-TeX-math-I"/>
              </a:rPr>
              <a:t>k</a:t>
            </a:r>
            <a:r>
              <a:rPr lang="en-US" altLang="zh-CN" sz="1600" b="0" i="0" dirty="0">
                <a:solidFill>
                  <a:srgbClr val="333333"/>
                </a:solidFill>
                <a:latin typeface="Book Antiqua" panose="02040602050305030304" pitchFamily="18" charset="0"/>
                <a:ea typeface="MJXc-TeX-main-R"/>
              </a:rPr>
              <a:t>=0</a:t>
            </a:r>
            <a:r>
              <a:rPr lang="en-US" altLang="zh-CN" sz="1600" b="0" i="0" dirty="0">
                <a:solidFill>
                  <a:srgbClr val="333333"/>
                </a:solidFill>
                <a:latin typeface="Book Antiqua" panose="02040602050305030304" pitchFamily="18" charset="0"/>
                <a:ea typeface="Merriweather"/>
              </a:rPr>
              <a:t> if </a:t>
            </a:r>
            <a:r>
              <a:rPr lang="en-US" altLang="zh-CN" sz="1600" b="0" i="0" dirty="0">
                <a:solidFill>
                  <a:srgbClr val="333333"/>
                </a:solidFill>
                <a:latin typeface="Book Antiqua" panose="02040602050305030304" pitchFamily="18" charset="0"/>
                <a:ea typeface="MJXc-TeX-math-I"/>
              </a:rPr>
              <a:t>c</a:t>
            </a:r>
            <a:r>
              <a:rPr lang="en-US" altLang="zh-CN" sz="1600" b="0" i="0" dirty="0">
                <a:solidFill>
                  <a:srgbClr val="333333"/>
                </a:solidFill>
                <a:latin typeface="Book Antiqua" panose="02040602050305030304" pitchFamily="18" charset="0"/>
                <a:ea typeface="MJXc-TeX-main-R"/>
              </a:rPr>
              <a:t>=0</a:t>
            </a:r>
            <a:r>
              <a:rPr lang="en-US" altLang="zh-CN" sz="1600" b="0" i="0" dirty="0">
                <a:solidFill>
                  <a:srgbClr val="333333"/>
                </a:solidFill>
                <a:latin typeface="Book Antiqua" panose="02040602050305030304" pitchFamily="18" charset="0"/>
                <a:ea typeface="Merriweather"/>
              </a:rPr>
              <a:t>. Note that the last term in parentheses is the number of parameters in the model (including </a:t>
            </a:r>
            <a:r>
              <a:rPr lang="en-US" altLang="zh-CN" sz="1600" b="0" i="0" dirty="0">
                <a:solidFill>
                  <a:srgbClr val="333333"/>
                </a:solidFill>
                <a:latin typeface="Book Antiqua" panose="02040602050305030304" pitchFamily="18" charset="0"/>
                <a:ea typeface="MJXc-TeX-math-I"/>
              </a:rPr>
              <a:t>σ</a:t>
            </a:r>
            <a:r>
              <a:rPr lang="en-US" altLang="zh-CN" sz="1600" b="0" i="0" dirty="0">
                <a:solidFill>
                  <a:srgbClr val="333333"/>
                </a:solidFill>
                <a:latin typeface="Book Antiqua" panose="02040602050305030304" pitchFamily="18" charset="0"/>
                <a:ea typeface="MJXc-TeX-main-R"/>
              </a:rPr>
              <a:t>2</a:t>
            </a:r>
            <a:r>
              <a:rPr lang="en-US" altLang="zh-CN" sz="1600" b="0" i="0" dirty="0">
                <a:solidFill>
                  <a:srgbClr val="333333"/>
                </a:solidFill>
                <a:latin typeface="Book Antiqua" panose="02040602050305030304" pitchFamily="18" charset="0"/>
                <a:ea typeface="Merriweather"/>
              </a:rPr>
              <a:t>, the variance of the residuals).</a:t>
            </a:r>
          </a:p>
        </p:txBody>
      </p:sp>
      <p:sp>
        <p:nvSpPr>
          <p:cNvPr id="7" name="Text Box 6"/>
          <p:cNvSpPr txBox="1"/>
          <p:nvPr/>
        </p:nvSpPr>
        <p:spPr>
          <a:xfrm>
            <a:off x="457200" y="4191000"/>
            <a:ext cx="7153910" cy="337185"/>
          </a:xfrm>
          <a:prstGeom prst="rect">
            <a:avLst/>
          </a:prstGeom>
        </p:spPr>
        <p:txBody>
          <a:bodyPr wrap="square">
            <a:spAutoFit/>
          </a:bodyPr>
          <a:lstStyle/>
          <a:p>
            <a:pPr marL="0" indent="0"/>
            <a:r>
              <a:rPr kumimoji="0" lang="en-US" sz="1600" b="1" i="0" u="none" strike="noStrike" kern="0" cap="none" spc="0" normalizeH="0" baseline="0" noProof="1">
                <a:gradFill>
                  <a:gsLst>
                    <a:gs pos="0">
                      <a:srgbClr val="007BD3"/>
                    </a:gs>
                    <a:gs pos="100000">
                      <a:srgbClr val="034373"/>
                    </a:gs>
                  </a:gsLst>
                  <a:lin scaled="0"/>
                </a:gradFill>
                <a:effectLst/>
                <a:latin typeface="Book Antiqua" panose="02040602050305030304" pitchFamily="18" charset="0"/>
                <a:ea typeface="Arial" panose="020B0604020202020204" pitchFamily="34" charset="0"/>
                <a:cs typeface="+mn-ea"/>
              </a:rPr>
              <a:t>For ARIMA models, the corrected AIC can be written as</a:t>
            </a:r>
          </a:p>
        </p:txBody>
      </p:sp>
      <p:pic>
        <p:nvPicPr>
          <p:cNvPr id="8" name="Picture 7"/>
          <p:cNvPicPr>
            <a:picLocks noChangeAspect="1"/>
          </p:cNvPicPr>
          <p:nvPr/>
        </p:nvPicPr>
        <p:blipFill>
          <a:blip r:embed="rId3"/>
          <a:stretch>
            <a:fillRect/>
          </a:stretch>
        </p:blipFill>
        <p:spPr>
          <a:xfrm>
            <a:off x="1924050" y="4536932"/>
            <a:ext cx="4019550" cy="723900"/>
          </a:xfrm>
          <a:prstGeom prst="rect">
            <a:avLst/>
          </a:prstGeom>
        </p:spPr>
      </p:pic>
      <p:sp>
        <p:nvSpPr>
          <p:cNvPr id="9" name="Text Box 8"/>
          <p:cNvSpPr txBox="1"/>
          <p:nvPr/>
        </p:nvSpPr>
        <p:spPr>
          <a:xfrm>
            <a:off x="381000" y="5181600"/>
            <a:ext cx="7007860" cy="337185"/>
          </a:xfrm>
          <a:prstGeom prst="rect">
            <a:avLst/>
          </a:prstGeom>
        </p:spPr>
        <p:txBody>
          <a:bodyPr wrap="square">
            <a:spAutoFit/>
          </a:bodyPr>
          <a:lstStyle/>
          <a:p>
            <a:pPr marL="0" indent="0"/>
            <a:r>
              <a:rPr lang="en-US" altLang="zh-CN" sz="1600" b="1" i="0">
                <a:gradFill>
                  <a:gsLst>
                    <a:gs pos="0">
                      <a:srgbClr val="007BD3"/>
                    </a:gs>
                    <a:gs pos="100000">
                      <a:srgbClr val="034373"/>
                    </a:gs>
                  </a:gsLst>
                  <a:lin scaled="0"/>
                </a:gradFill>
                <a:latin typeface="Merriweather"/>
                <a:ea typeface="Merriweather"/>
              </a:rPr>
              <a:t>a</a:t>
            </a:r>
            <a:r>
              <a:rPr kumimoji="0" lang="en-US" sz="1600" b="1" i="0" u="none" strike="noStrike" kern="0" cap="none" spc="0" normalizeH="0" baseline="0" noProof="1">
                <a:gradFill>
                  <a:gsLst>
                    <a:gs pos="0">
                      <a:srgbClr val="007BD3"/>
                    </a:gs>
                    <a:gs pos="100000">
                      <a:srgbClr val="034373"/>
                    </a:gs>
                  </a:gsLst>
                  <a:lin scaled="0"/>
                </a:gradFill>
                <a:effectLst/>
                <a:latin typeface="Book Antiqua" panose="02040602050305030304" pitchFamily="18" charset="0"/>
                <a:ea typeface="Arial" panose="020B0604020202020204" pitchFamily="34" charset="0"/>
                <a:cs typeface="+mn-ea"/>
              </a:rPr>
              <a:t>nd the Bayesian Information Criterion can be written as</a:t>
            </a:r>
          </a:p>
        </p:txBody>
      </p:sp>
      <p:pic>
        <p:nvPicPr>
          <p:cNvPr id="10" name="Picture 9"/>
          <p:cNvPicPr>
            <a:picLocks noChangeAspect="1"/>
          </p:cNvPicPr>
          <p:nvPr/>
        </p:nvPicPr>
        <p:blipFill>
          <a:blip r:embed="rId4"/>
          <a:stretch>
            <a:fillRect/>
          </a:stretch>
        </p:blipFill>
        <p:spPr>
          <a:xfrm>
            <a:off x="2372995" y="5562600"/>
            <a:ext cx="3476625" cy="361950"/>
          </a:xfrm>
          <a:prstGeom prst="rect">
            <a:avLst/>
          </a:prstGeom>
        </p:spPr>
      </p:pic>
      <p:sp>
        <p:nvSpPr>
          <p:cNvPr id="11" name="Text Box 10"/>
          <p:cNvSpPr txBox="1"/>
          <p:nvPr/>
        </p:nvSpPr>
        <p:spPr>
          <a:xfrm>
            <a:off x="152400" y="6096000"/>
            <a:ext cx="8821420" cy="275590"/>
          </a:xfrm>
          <a:prstGeom prst="rect">
            <a:avLst/>
          </a:prstGeom>
        </p:spPr>
        <p:txBody>
          <a:bodyPr wrap="square">
            <a:spAutoFit/>
          </a:bodyPr>
          <a:lstStyle/>
          <a:p>
            <a:pPr marL="0" indent="0"/>
            <a:r>
              <a:rPr lang="en-US" altLang="zh-CN" sz="1200" b="0" i="0">
                <a:solidFill>
                  <a:srgbClr val="333333"/>
                </a:solidFill>
                <a:latin typeface="Merriweather"/>
                <a:ea typeface="Merriweather"/>
              </a:rPr>
              <a:t>Good models are obtained by minimising the AIC, AICc or BIC. Our preference is to use the AICc.</a:t>
            </a:r>
          </a:p>
        </p:txBody>
      </p:sp>
      <p:pic>
        <p:nvPicPr>
          <p:cNvPr id="12" name="Picture 11">
            <a:extLst>
              <a:ext uri="{FF2B5EF4-FFF2-40B4-BE49-F238E27FC236}">
                <a16:creationId xmlns:a16="http://schemas.microsoft.com/office/drawing/2014/main" id="{5EE6AEF2-71C8-4622-B21C-D15484561020}"/>
              </a:ext>
            </a:extLst>
          </p:cNvPr>
          <p:cNvPicPr>
            <a:picLocks noChangeAspect="1"/>
          </p:cNvPicPr>
          <p:nvPr/>
        </p:nvPicPr>
        <p:blipFill>
          <a:blip r:embed="rId5"/>
          <a:stretch>
            <a:fillRect/>
          </a:stretch>
        </p:blipFill>
        <p:spPr>
          <a:xfrm>
            <a:off x="6718935" y="4608340"/>
            <a:ext cx="2238375" cy="666750"/>
          </a:xfrm>
          <a:prstGeom prst="rect">
            <a:avLst/>
          </a:prstGeom>
        </p:spPr>
      </p:pic>
      <p:pic>
        <p:nvPicPr>
          <p:cNvPr id="14" name="Picture 13">
            <a:extLst>
              <a:ext uri="{FF2B5EF4-FFF2-40B4-BE49-F238E27FC236}">
                <a16:creationId xmlns:a16="http://schemas.microsoft.com/office/drawing/2014/main" id="{309511C4-8956-4A51-B7D9-88B168EE79FC}"/>
              </a:ext>
            </a:extLst>
          </p:cNvPr>
          <p:cNvPicPr>
            <a:picLocks noChangeAspect="1"/>
          </p:cNvPicPr>
          <p:nvPr/>
        </p:nvPicPr>
        <p:blipFill>
          <a:blip r:embed="rId6"/>
          <a:stretch>
            <a:fillRect/>
          </a:stretch>
        </p:blipFill>
        <p:spPr>
          <a:xfrm>
            <a:off x="5943600" y="2707077"/>
            <a:ext cx="2705100" cy="352425"/>
          </a:xfrm>
          <a:prstGeom prst="rect">
            <a:avLst/>
          </a:prstGeom>
        </p:spPr>
      </p:pic>
      <p:sp>
        <p:nvSpPr>
          <p:cNvPr id="17" name="TextBox 16">
            <a:extLst>
              <a:ext uri="{FF2B5EF4-FFF2-40B4-BE49-F238E27FC236}">
                <a16:creationId xmlns:a16="http://schemas.microsoft.com/office/drawing/2014/main" id="{32CB6917-7F0B-4E84-AF53-C55D476400F5}"/>
              </a:ext>
            </a:extLst>
          </p:cNvPr>
          <p:cNvSpPr txBox="1"/>
          <p:nvPr/>
        </p:nvSpPr>
        <p:spPr>
          <a:xfrm>
            <a:off x="5444412" y="2782503"/>
            <a:ext cx="533400" cy="276999"/>
          </a:xfrm>
          <a:prstGeom prst="rect">
            <a:avLst/>
          </a:prstGeom>
          <a:noFill/>
        </p:spPr>
        <p:txBody>
          <a:bodyPr wrap="square" rtlCol="0">
            <a:spAutoFit/>
          </a:bodyPr>
          <a:lstStyle/>
          <a:p>
            <a:r>
              <a:rPr lang="en-US" sz="1200" b="1" dirty="0">
                <a:solidFill>
                  <a:srgbClr val="C00000"/>
                </a:solidFill>
                <a:latin typeface="Book Antiqua" panose="02040602050305030304" pitchFamily="18" charset="0"/>
              </a:rPr>
              <a:t>OR</a:t>
            </a:r>
            <a:endParaRPr lang="en-IN" sz="1200" b="1" dirty="0">
              <a:solidFill>
                <a:srgbClr val="C00000"/>
              </a:solidFill>
              <a:latin typeface="Book Antiqua" panose="02040602050305030304" pitchFamily="18" charset="0"/>
            </a:endParaRPr>
          </a:p>
        </p:txBody>
      </p:sp>
      <p:sp>
        <p:nvSpPr>
          <p:cNvPr id="18" name="TextBox 17">
            <a:extLst>
              <a:ext uri="{FF2B5EF4-FFF2-40B4-BE49-F238E27FC236}">
                <a16:creationId xmlns:a16="http://schemas.microsoft.com/office/drawing/2014/main" id="{1D9DB3FA-9287-4C5A-B732-93C1AC14479E}"/>
              </a:ext>
            </a:extLst>
          </p:cNvPr>
          <p:cNvSpPr txBox="1"/>
          <p:nvPr/>
        </p:nvSpPr>
        <p:spPr>
          <a:xfrm>
            <a:off x="6148990" y="4803215"/>
            <a:ext cx="533400" cy="276999"/>
          </a:xfrm>
          <a:prstGeom prst="rect">
            <a:avLst/>
          </a:prstGeom>
          <a:noFill/>
        </p:spPr>
        <p:txBody>
          <a:bodyPr wrap="square" rtlCol="0">
            <a:spAutoFit/>
          </a:bodyPr>
          <a:lstStyle/>
          <a:p>
            <a:r>
              <a:rPr lang="en-US" sz="1200" b="1" dirty="0">
                <a:solidFill>
                  <a:srgbClr val="C00000"/>
                </a:solidFill>
                <a:latin typeface="Book Antiqua" panose="02040602050305030304" pitchFamily="18" charset="0"/>
              </a:rPr>
              <a:t>OR</a:t>
            </a:r>
            <a:endParaRPr lang="en-IN" sz="1200" b="1" dirty="0">
              <a:solidFill>
                <a:srgbClr val="C00000"/>
              </a:solidFill>
              <a:latin typeface="Book Antiqua" panose="02040602050305030304" pitchFamily="18" charset="0"/>
            </a:endParaRPr>
          </a:p>
        </p:txBody>
      </p:sp>
      <p:sp>
        <p:nvSpPr>
          <p:cNvPr id="19" name="TextBox 18">
            <a:extLst>
              <a:ext uri="{FF2B5EF4-FFF2-40B4-BE49-F238E27FC236}">
                <a16:creationId xmlns:a16="http://schemas.microsoft.com/office/drawing/2014/main" id="{0EE379FB-C1B3-477D-8960-8558FCAD63E7}"/>
              </a:ext>
            </a:extLst>
          </p:cNvPr>
          <p:cNvSpPr txBox="1"/>
          <p:nvPr/>
        </p:nvSpPr>
        <p:spPr>
          <a:xfrm>
            <a:off x="7457103" y="5181600"/>
            <a:ext cx="1581785" cy="276999"/>
          </a:xfrm>
          <a:prstGeom prst="rect">
            <a:avLst/>
          </a:prstGeom>
          <a:noFill/>
        </p:spPr>
        <p:txBody>
          <a:bodyPr wrap="square" rtlCol="0">
            <a:spAutoFit/>
          </a:bodyPr>
          <a:lstStyle/>
          <a:p>
            <a:r>
              <a:rPr lang="en-US" sz="1200" b="1" dirty="0">
                <a:solidFill>
                  <a:srgbClr val="C00000"/>
                </a:solidFill>
                <a:latin typeface="Book Antiqua" panose="02040602050305030304" pitchFamily="18" charset="0"/>
              </a:rPr>
              <a:t>n and T are same</a:t>
            </a:r>
            <a:endParaRPr lang="en-IN" sz="1200" b="1" dirty="0">
              <a:solidFill>
                <a:srgbClr val="C00000"/>
              </a:solidFill>
              <a:latin typeface="Book Antiqua" panose="0204060205030503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4825"/>
          </a:xfrm>
          <a:prstGeom prst="rect">
            <a:avLst/>
          </a:prstGeom>
        </p:spPr>
        <p:txBody>
          <a:bodyPr vert="horz" wrap="square" lIns="0" tIns="12700" rIns="0" bIns="0" rtlCol="0">
            <a:spAutoFit/>
          </a:bodyPr>
          <a:lstStyle/>
          <a:p>
            <a:pPr marL="15240" algn="l">
              <a:spcBef>
                <a:spcPts val="100"/>
              </a:spcBef>
            </a:pPr>
            <a:r>
              <a:rPr lang="en-IN" altLang="en-IN" sz="3200" b="1" spc="-10" dirty="0">
                <a:solidFill>
                  <a:srgbClr val="FF0000"/>
                </a:solidFill>
                <a:latin typeface="Arial" panose="020B0604020202020204"/>
                <a:ea typeface="+mn-ea"/>
                <a:cs typeface="Arial" panose="020B0604020202020204"/>
              </a:rPr>
              <a:t>Calculating </a:t>
            </a:r>
            <a:r>
              <a:rPr lang="en-IN" altLang="en-IN" sz="3200" b="1" spc="-10" dirty="0" err="1">
                <a:solidFill>
                  <a:srgbClr val="FF0000"/>
                </a:solidFill>
                <a:latin typeface="Arial" panose="020B0604020202020204"/>
                <a:ea typeface="+mn-ea"/>
                <a:cs typeface="Arial" panose="020B0604020202020204"/>
              </a:rPr>
              <a:t>AICc</a:t>
            </a:r>
            <a:endParaRPr lang="en-US" altLang="en-IN" sz="3200" b="1" spc="-10" dirty="0">
              <a:solidFill>
                <a:srgbClr val="FF0000"/>
              </a:solidFill>
              <a:latin typeface="Arial" panose="020B0604020202020204"/>
              <a:ea typeface="+mn-ea"/>
              <a:cs typeface="Arial" panose="020B0604020202020204"/>
            </a:endParaRPr>
          </a:p>
        </p:txBody>
      </p:sp>
      <p:sp>
        <p:nvSpPr>
          <p:cNvPr id="9" name="TextBox 8">
            <a:extLst>
              <a:ext uri="{FF2B5EF4-FFF2-40B4-BE49-F238E27FC236}">
                <a16:creationId xmlns:a16="http://schemas.microsoft.com/office/drawing/2014/main" id="{F09FC3DF-DBBE-4CF2-8A9F-AC069C5EE43F}"/>
              </a:ext>
            </a:extLst>
          </p:cNvPr>
          <p:cNvSpPr txBox="1"/>
          <p:nvPr/>
        </p:nvSpPr>
        <p:spPr>
          <a:xfrm>
            <a:off x="125963" y="1447800"/>
            <a:ext cx="8763000" cy="2271904"/>
          </a:xfrm>
          <a:prstGeom prst="rect">
            <a:avLst/>
          </a:prstGeom>
          <a:noFill/>
        </p:spPr>
        <p:txBody>
          <a:bodyPr wrap="square">
            <a:spAutoFit/>
          </a:bodyPr>
          <a:lstStyle/>
          <a:p>
            <a:pPr algn="just">
              <a:lnSpc>
                <a:spcPct val="150000"/>
              </a:lnSpc>
            </a:pPr>
            <a:r>
              <a:rPr lang="en-US" sz="1600" b="1" dirty="0">
                <a:latin typeface="Book Antiqua" panose="02040602050305030304" pitchFamily="18" charset="0"/>
              </a:rPr>
              <a:t>Fit the ARIMA Model</a:t>
            </a:r>
            <a:r>
              <a:rPr lang="en-US" sz="1600" dirty="0">
                <a:latin typeface="Book Antiqua" panose="02040602050305030304" pitchFamily="18" charset="0"/>
              </a:rPr>
              <a:t>: Suppose you fit an ARIMA(1,1,1) model to your time series data. After fitting the model, you obtain the following:</a:t>
            </a:r>
          </a:p>
          <a:p>
            <a:pPr algn="just">
              <a:lnSpc>
                <a:spcPct val="150000"/>
              </a:lnSpc>
              <a:buFont typeface="Arial" panose="020B0604020202020204" pitchFamily="34" charset="0"/>
              <a:buChar char="•"/>
            </a:pPr>
            <a:r>
              <a:rPr lang="en-US" sz="1600" dirty="0">
                <a:latin typeface="Book Antiqua" panose="02040602050305030304" pitchFamily="18" charset="0"/>
              </a:rPr>
              <a:t>Number of observations n=100</a:t>
            </a:r>
          </a:p>
          <a:p>
            <a:pPr algn="just">
              <a:lnSpc>
                <a:spcPct val="150000"/>
              </a:lnSpc>
              <a:buFont typeface="Arial" panose="020B0604020202020204" pitchFamily="34" charset="0"/>
              <a:buChar char="•"/>
            </a:pPr>
            <a:r>
              <a:rPr lang="en-US" sz="1600" dirty="0">
                <a:latin typeface="Book Antiqua" panose="02040602050305030304" pitchFamily="18" charset="0"/>
              </a:rPr>
              <a:t>Number of parameters k=3 (for ARIMA(1,1,1), this includes 1 AR parameter, 1 MA parameter, and 1 for the constant term)</a:t>
            </a:r>
          </a:p>
          <a:p>
            <a:pPr algn="just">
              <a:lnSpc>
                <a:spcPct val="150000"/>
              </a:lnSpc>
              <a:buFont typeface="Arial" panose="020B0604020202020204" pitchFamily="34" charset="0"/>
              <a:buChar char="•"/>
            </a:pPr>
            <a:r>
              <a:rPr lang="en-US" sz="1600" dirty="0">
                <a:latin typeface="Book Antiqua" panose="02040602050305030304" pitchFamily="18" charset="0"/>
              </a:rPr>
              <a:t>Log-Likelihood of the model = -150.0</a:t>
            </a:r>
          </a:p>
        </p:txBody>
      </p:sp>
      <p:sp>
        <p:nvSpPr>
          <p:cNvPr id="10" name="TextBox 9">
            <a:extLst>
              <a:ext uri="{FF2B5EF4-FFF2-40B4-BE49-F238E27FC236}">
                <a16:creationId xmlns:a16="http://schemas.microsoft.com/office/drawing/2014/main" id="{07415A36-5FB9-4E23-99B0-29BB8896F870}"/>
              </a:ext>
            </a:extLst>
          </p:cNvPr>
          <p:cNvSpPr txBox="1"/>
          <p:nvPr/>
        </p:nvSpPr>
        <p:spPr>
          <a:xfrm>
            <a:off x="125963" y="3719704"/>
            <a:ext cx="8633926" cy="424988"/>
          </a:xfrm>
          <a:prstGeom prst="rect">
            <a:avLst/>
          </a:prstGeom>
          <a:noFill/>
        </p:spPr>
        <p:txBody>
          <a:bodyPr wrap="square">
            <a:spAutoFit/>
          </a:bodyPr>
          <a:lstStyle/>
          <a:p>
            <a:pPr>
              <a:lnSpc>
                <a:spcPct val="150000"/>
              </a:lnSpc>
            </a:pPr>
            <a:r>
              <a:rPr lang="en-US" sz="1600" b="1" dirty="0">
                <a:solidFill>
                  <a:srgbClr val="C00000"/>
                </a:solidFill>
                <a:latin typeface="Book Antiqua" panose="02040602050305030304" pitchFamily="18" charset="0"/>
              </a:rPr>
              <a:t>Calculate AIC</a:t>
            </a:r>
            <a:r>
              <a:rPr lang="en-US" sz="1600" dirty="0">
                <a:solidFill>
                  <a:srgbClr val="C00000"/>
                </a:solidFill>
                <a:latin typeface="Book Antiqua" panose="02040602050305030304" pitchFamily="18" charset="0"/>
              </a:rPr>
              <a:t>: Using the log-likelihood and the number of parameters, compute the AIC:</a:t>
            </a:r>
            <a:endParaRPr lang="en-IN" sz="1600" dirty="0">
              <a:solidFill>
                <a:srgbClr val="C00000"/>
              </a:solidFill>
              <a:latin typeface="Book Antiqua" panose="02040602050305030304" pitchFamily="18" charset="0"/>
            </a:endParaRPr>
          </a:p>
        </p:txBody>
      </p:sp>
      <p:sp>
        <p:nvSpPr>
          <p:cNvPr id="14" name="TextBox 13">
            <a:extLst>
              <a:ext uri="{FF2B5EF4-FFF2-40B4-BE49-F238E27FC236}">
                <a16:creationId xmlns:a16="http://schemas.microsoft.com/office/drawing/2014/main" id="{88358DA3-F3B6-4B4C-8D07-A3A51BA85D40}"/>
              </a:ext>
            </a:extLst>
          </p:cNvPr>
          <p:cNvSpPr txBox="1"/>
          <p:nvPr/>
        </p:nvSpPr>
        <p:spPr>
          <a:xfrm>
            <a:off x="2362200" y="4144692"/>
            <a:ext cx="4613988" cy="338554"/>
          </a:xfrm>
          <a:prstGeom prst="rect">
            <a:avLst/>
          </a:prstGeom>
          <a:noFill/>
        </p:spPr>
        <p:txBody>
          <a:bodyPr wrap="square">
            <a:spAutoFit/>
          </a:bodyPr>
          <a:lstStyle/>
          <a:p>
            <a:r>
              <a:rPr lang="en-IN" sz="1600" dirty="0">
                <a:latin typeface="Book Antiqua" panose="02040602050305030304" pitchFamily="18" charset="0"/>
              </a:rPr>
              <a:t>AIC=−2⋅(−150.0)+2⋅3=300+6=306</a:t>
            </a:r>
          </a:p>
        </p:txBody>
      </p:sp>
      <p:sp>
        <p:nvSpPr>
          <p:cNvPr id="15" name="TextBox 14">
            <a:extLst>
              <a:ext uri="{FF2B5EF4-FFF2-40B4-BE49-F238E27FC236}">
                <a16:creationId xmlns:a16="http://schemas.microsoft.com/office/drawing/2014/main" id="{D8A9A0AD-D625-4957-93B8-3A7EBEEDB89E}"/>
              </a:ext>
            </a:extLst>
          </p:cNvPr>
          <p:cNvSpPr txBox="1"/>
          <p:nvPr/>
        </p:nvSpPr>
        <p:spPr>
          <a:xfrm>
            <a:off x="152400" y="4580692"/>
            <a:ext cx="8400661" cy="338554"/>
          </a:xfrm>
          <a:prstGeom prst="rect">
            <a:avLst/>
          </a:prstGeom>
          <a:noFill/>
        </p:spPr>
        <p:txBody>
          <a:bodyPr wrap="square">
            <a:spAutoFit/>
          </a:bodyPr>
          <a:lstStyle/>
          <a:p>
            <a:r>
              <a:rPr lang="en-US" sz="1600" dirty="0">
                <a:solidFill>
                  <a:srgbClr val="C00000"/>
                </a:solidFill>
                <a:latin typeface="Book Antiqua" panose="02040602050305030304" pitchFamily="18" charset="0"/>
              </a:rPr>
              <a:t>Calculate </a:t>
            </a:r>
            <a:r>
              <a:rPr lang="en-US" sz="1600" dirty="0" err="1">
                <a:solidFill>
                  <a:srgbClr val="C00000"/>
                </a:solidFill>
                <a:latin typeface="Book Antiqua" panose="02040602050305030304" pitchFamily="18" charset="0"/>
              </a:rPr>
              <a:t>AICc</a:t>
            </a:r>
            <a:r>
              <a:rPr lang="en-US" sz="1600" dirty="0">
                <a:solidFill>
                  <a:srgbClr val="C00000"/>
                </a:solidFill>
                <a:latin typeface="Book Antiqua" panose="02040602050305030304" pitchFamily="18" charset="0"/>
              </a:rPr>
              <a:t>: Substitute the values into the </a:t>
            </a:r>
            <a:r>
              <a:rPr lang="en-US" sz="1600" dirty="0" err="1">
                <a:solidFill>
                  <a:srgbClr val="C00000"/>
                </a:solidFill>
                <a:latin typeface="Book Antiqua" panose="02040602050305030304" pitchFamily="18" charset="0"/>
              </a:rPr>
              <a:t>AICc</a:t>
            </a:r>
            <a:r>
              <a:rPr lang="en-US" sz="1600" dirty="0">
                <a:solidFill>
                  <a:srgbClr val="C00000"/>
                </a:solidFill>
                <a:latin typeface="Book Antiqua" panose="02040602050305030304" pitchFamily="18" charset="0"/>
              </a:rPr>
              <a:t> formula:</a:t>
            </a:r>
            <a:endParaRPr lang="en-IN" sz="1600" dirty="0">
              <a:solidFill>
                <a:srgbClr val="C00000"/>
              </a:solidFill>
              <a:latin typeface="Book Antiqua" panose="02040602050305030304" pitchFamily="18" charset="0"/>
            </a:endParaRPr>
          </a:p>
        </p:txBody>
      </p:sp>
      <p:pic>
        <p:nvPicPr>
          <p:cNvPr id="11" name="Picture 10">
            <a:extLst>
              <a:ext uri="{FF2B5EF4-FFF2-40B4-BE49-F238E27FC236}">
                <a16:creationId xmlns:a16="http://schemas.microsoft.com/office/drawing/2014/main" id="{1AF46A4B-9AF5-48FF-9A7A-81B4BD49EAFC}"/>
              </a:ext>
            </a:extLst>
          </p:cNvPr>
          <p:cNvPicPr>
            <a:picLocks noChangeAspect="1"/>
          </p:cNvPicPr>
          <p:nvPr/>
        </p:nvPicPr>
        <p:blipFill>
          <a:blip r:embed="rId2"/>
          <a:stretch>
            <a:fillRect/>
          </a:stretch>
        </p:blipFill>
        <p:spPr>
          <a:xfrm>
            <a:off x="1794976" y="4908234"/>
            <a:ext cx="5295900" cy="609600"/>
          </a:xfrm>
          <a:prstGeom prst="rect">
            <a:avLst/>
          </a:prstGeom>
        </p:spPr>
      </p:pic>
    </p:spTree>
    <p:extLst>
      <p:ext uri="{BB962C8B-B14F-4D97-AF65-F5344CB8AC3E}">
        <p14:creationId xmlns:p14="http://schemas.microsoft.com/office/powerpoint/2010/main" val="1684407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4825"/>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 </a:t>
            </a:r>
            <a:r>
              <a:rPr lang="en-US" altLang="en-IN" sz="3200" b="1" spc="-10" dirty="0">
                <a:solidFill>
                  <a:srgbClr val="FF0000"/>
                </a:solidFill>
                <a:latin typeface="Arial" panose="020B0604020202020204"/>
                <a:ea typeface="+mn-ea"/>
                <a:cs typeface="Arial" panose="020B0604020202020204"/>
              </a:rPr>
              <a:t>O</a:t>
            </a:r>
            <a:r>
              <a:rPr lang="en-IN" sz="3200" b="1" spc="-10" dirty="0">
                <a:solidFill>
                  <a:srgbClr val="FF0000"/>
                </a:solidFill>
                <a:latin typeface="Arial" panose="020B0604020202020204"/>
                <a:ea typeface="+mn-ea"/>
                <a:cs typeface="Arial" panose="020B0604020202020204"/>
              </a:rPr>
              <a:t>rder selection</a:t>
            </a:r>
            <a:r>
              <a:rPr lang="en-US" altLang="en-IN" sz="3200" b="1" spc="-10" dirty="0">
                <a:solidFill>
                  <a:srgbClr val="FF0000"/>
                </a:solidFill>
                <a:latin typeface="Arial" panose="020B0604020202020204"/>
                <a:ea typeface="+mn-ea"/>
                <a:cs typeface="Arial" panose="020B0604020202020204"/>
              </a:rPr>
              <a:t> - Information Criteria</a:t>
            </a:r>
          </a:p>
        </p:txBody>
      </p:sp>
      <p:sp>
        <p:nvSpPr>
          <p:cNvPr id="4" name="Text Box 3"/>
          <p:cNvSpPr txBox="1"/>
          <p:nvPr/>
        </p:nvSpPr>
        <p:spPr>
          <a:xfrm>
            <a:off x="256540" y="1905635"/>
            <a:ext cx="8689975" cy="3046095"/>
          </a:xfrm>
          <a:prstGeom prst="rect">
            <a:avLst/>
          </a:prstGeom>
        </p:spPr>
        <p:txBody>
          <a:bodyPr wrap="square">
            <a:spAutoFit/>
          </a:bodyPr>
          <a:lstStyle/>
          <a:p>
            <a:pPr marL="285750" indent="-285750" algn="just">
              <a:lnSpc>
                <a:spcPct val="150000"/>
              </a:lnSpc>
              <a:buFont typeface="Wingdings" panose="05000000000000000000" charset="0"/>
              <a:buChar char="o"/>
            </a:pPr>
            <a:r>
              <a:rPr lang="en-US" altLang="zh-CN" sz="1600" b="0" i="0">
                <a:solidFill>
                  <a:srgbClr val="333333"/>
                </a:solidFill>
                <a:latin typeface="Merriweather"/>
                <a:ea typeface="Merriweather"/>
              </a:rPr>
              <a:t>I</a:t>
            </a:r>
            <a:r>
              <a:rPr kumimoji="0" lang="en-US" sz="1600" b="0" i="0" u="none" strike="noStrike" kern="0" cap="none" spc="0" normalizeH="0" baseline="0" noProof="1">
                <a:solidFill>
                  <a:srgbClr val="333333"/>
                </a:solidFill>
                <a:effectLst/>
                <a:latin typeface="Book Antiqua" panose="02040602050305030304" pitchFamily="18" charset="0"/>
                <a:ea typeface="Arial" panose="020B0604020202020204" pitchFamily="34" charset="0"/>
                <a:cs typeface="+mn-ea"/>
              </a:rPr>
              <a:t>t is important to note that these information criteria tend not to be good guides to selecting the appropriate order of differencing (d) of a model, but only for selecting the values of p and q. </a:t>
            </a:r>
          </a:p>
          <a:p>
            <a:pPr marL="285750" indent="-285750" algn="just">
              <a:lnSpc>
                <a:spcPct val="150000"/>
              </a:lnSpc>
              <a:buFont typeface="Wingdings" panose="05000000000000000000" charset="0"/>
              <a:buChar char="o"/>
            </a:pPr>
            <a:r>
              <a:rPr kumimoji="0" lang="en-US" sz="1600" b="0" i="0" u="none" strike="noStrike" kern="0" cap="none" spc="0" normalizeH="0" baseline="0" noProof="1">
                <a:solidFill>
                  <a:srgbClr val="333333"/>
                </a:solidFill>
                <a:effectLst/>
                <a:latin typeface="Book Antiqua" panose="02040602050305030304" pitchFamily="18" charset="0"/>
                <a:ea typeface="Arial" panose="020B0604020202020204" pitchFamily="34" charset="0"/>
                <a:cs typeface="+mn-ea"/>
              </a:rPr>
              <a:t>This is because the differencing changes the data on which the likelihood is computed, making the AIC values between models with different orders of differencing not comparable. </a:t>
            </a:r>
          </a:p>
          <a:p>
            <a:pPr marL="285750" indent="-285750" algn="just">
              <a:lnSpc>
                <a:spcPct val="150000"/>
              </a:lnSpc>
              <a:buFont typeface="Wingdings" panose="05000000000000000000" charset="0"/>
              <a:buChar char="o"/>
            </a:pPr>
            <a:r>
              <a:rPr kumimoji="0" lang="en-US" sz="1600" b="0" i="0" u="none" strike="noStrike" kern="0" cap="none" spc="0" normalizeH="0" baseline="0" noProof="1">
                <a:solidFill>
                  <a:srgbClr val="333333"/>
                </a:solidFill>
                <a:effectLst/>
                <a:latin typeface="Book Antiqua" panose="02040602050305030304" pitchFamily="18" charset="0"/>
                <a:ea typeface="Arial" panose="020B0604020202020204" pitchFamily="34" charset="0"/>
                <a:cs typeface="+mn-ea"/>
              </a:rPr>
              <a:t>So we need to use some other approach to choose d, and then we can use the AICc to select p and q.</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4825"/>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 </a:t>
            </a:r>
            <a:r>
              <a:rPr lang="en-US" altLang="en-IN" sz="3200" b="1" spc="-10" dirty="0">
                <a:solidFill>
                  <a:srgbClr val="FF0000"/>
                </a:solidFill>
                <a:latin typeface="Arial" panose="020B0604020202020204"/>
                <a:ea typeface="+mn-ea"/>
                <a:cs typeface="Arial" panose="020B0604020202020204"/>
              </a:rPr>
              <a:t>How does ARIMA works</a:t>
            </a:r>
          </a:p>
        </p:txBody>
      </p:sp>
      <p:sp>
        <p:nvSpPr>
          <p:cNvPr id="4" name="Text Box 3"/>
          <p:cNvSpPr txBox="1"/>
          <p:nvPr/>
        </p:nvSpPr>
        <p:spPr>
          <a:xfrm>
            <a:off x="256540" y="1905635"/>
            <a:ext cx="8689975" cy="425245"/>
          </a:xfrm>
          <a:prstGeom prst="rect">
            <a:avLst/>
          </a:prstGeom>
        </p:spPr>
        <p:txBody>
          <a:bodyPr wrap="square">
            <a:spAutoFit/>
          </a:bodyPr>
          <a:lstStyle/>
          <a:p>
            <a:pPr marL="285750" indent="-285750" algn="just">
              <a:lnSpc>
                <a:spcPct val="150000"/>
              </a:lnSpc>
              <a:buFont typeface="Wingdings" panose="05000000000000000000" charset="0"/>
              <a:buChar char="o"/>
            </a:pPr>
            <a:endParaRPr kumimoji="0" lang="en-US" sz="1600" b="0" i="0" u="none" strike="noStrike" kern="0" cap="none" spc="0" normalizeH="0" baseline="0" noProof="1">
              <a:solidFill>
                <a:srgbClr val="333333"/>
              </a:solidFill>
              <a:effectLst/>
              <a:latin typeface="Book Antiqua" panose="02040602050305030304" pitchFamily="18" charset="0"/>
              <a:ea typeface="Arial" panose="020B0604020202020204" pitchFamily="34" charset="0"/>
              <a:cs typeface="+mn-ea"/>
            </a:endParaRPr>
          </a:p>
        </p:txBody>
      </p:sp>
      <p:sp>
        <p:nvSpPr>
          <p:cNvPr id="6" name="TextBox 5">
            <a:extLst>
              <a:ext uri="{FF2B5EF4-FFF2-40B4-BE49-F238E27FC236}">
                <a16:creationId xmlns:a16="http://schemas.microsoft.com/office/drawing/2014/main" id="{FEC6CC75-48E8-4028-AAA5-97537CEABFB3}"/>
              </a:ext>
            </a:extLst>
          </p:cNvPr>
          <p:cNvSpPr txBox="1"/>
          <p:nvPr/>
        </p:nvSpPr>
        <p:spPr>
          <a:xfrm>
            <a:off x="197485" y="1600200"/>
            <a:ext cx="8565515" cy="3566874"/>
          </a:xfrm>
          <a:prstGeom prst="rect">
            <a:avLst/>
          </a:prstGeom>
          <a:noFill/>
        </p:spPr>
        <p:txBody>
          <a:bodyPr wrap="square">
            <a:spAutoFit/>
          </a:bodyPr>
          <a:lstStyle/>
          <a:p>
            <a:pPr algn="just">
              <a:lnSpc>
                <a:spcPct val="150000"/>
              </a:lnSpc>
            </a:pPr>
            <a:r>
              <a:rPr lang="en-US" sz="1600" b="0" i="0" dirty="0">
                <a:solidFill>
                  <a:srgbClr val="333333"/>
                </a:solidFill>
                <a:effectLst/>
                <a:latin typeface="Book Antiqua" panose="02040602050305030304" pitchFamily="18" charset="0"/>
              </a:rPr>
              <a:t>When fitting an ARIMA model to a set of (non-seasonal) time series data, the following procedure provides a useful general approach.</a:t>
            </a:r>
          </a:p>
          <a:p>
            <a:pPr marL="447675" indent="-269875" algn="just">
              <a:lnSpc>
                <a:spcPct val="150000"/>
              </a:lnSpc>
              <a:buFont typeface="+mj-lt"/>
              <a:buAutoNum type="arabicPeriod"/>
            </a:pPr>
            <a:r>
              <a:rPr lang="en-US" sz="1500" b="0" i="0" dirty="0">
                <a:solidFill>
                  <a:srgbClr val="333333"/>
                </a:solidFill>
                <a:effectLst/>
                <a:latin typeface="Book Antiqua" panose="02040602050305030304" pitchFamily="18" charset="0"/>
              </a:rPr>
              <a:t>Plot the data and identify any unusual observations.</a:t>
            </a:r>
          </a:p>
          <a:p>
            <a:pPr marL="447675" indent="-269875" algn="just">
              <a:lnSpc>
                <a:spcPct val="150000"/>
              </a:lnSpc>
              <a:buFont typeface="+mj-lt"/>
              <a:buAutoNum type="arabicPeriod"/>
            </a:pPr>
            <a:r>
              <a:rPr lang="en-US" sz="1500" b="0" i="0" dirty="0">
                <a:solidFill>
                  <a:srgbClr val="333333"/>
                </a:solidFill>
                <a:effectLst/>
                <a:latin typeface="Book Antiqua" panose="02040602050305030304" pitchFamily="18" charset="0"/>
              </a:rPr>
              <a:t>If necessary, transform the data (using a Box-Cox transformation) to stabilize the variance.</a:t>
            </a:r>
          </a:p>
          <a:p>
            <a:pPr marL="447675" indent="-269875" algn="just">
              <a:lnSpc>
                <a:spcPct val="150000"/>
              </a:lnSpc>
              <a:buFont typeface="+mj-lt"/>
              <a:buAutoNum type="arabicPeriod"/>
            </a:pPr>
            <a:r>
              <a:rPr lang="en-US" sz="1500" b="0" i="0" dirty="0">
                <a:solidFill>
                  <a:srgbClr val="333333"/>
                </a:solidFill>
                <a:effectLst/>
                <a:latin typeface="Book Antiqua" panose="02040602050305030304" pitchFamily="18" charset="0"/>
              </a:rPr>
              <a:t>If the data are non-stationary, take first differences of the data until the data are stationary.</a:t>
            </a:r>
          </a:p>
          <a:p>
            <a:pPr marL="447675" indent="-269875" algn="just">
              <a:lnSpc>
                <a:spcPct val="150000"/>
              </a:lnSpc>
              <a:buFont typeface="+mj-lt"/>
              <a:buAutoNum type="arabicPeriod"/>
            </a:pPr>
            <a:r>
              <a:rPr lang="en-US" sz="1500" b="0" i="0" dirty="0">
                <a:solidFill>
                  <a:srgbClr val="333333"/>
                </a:solidFill>
                <a:effectLst/>
                <a:latin typeface="Book Antiqua" panose="02040602050305030304" pitchFamily="18" charset="0"/>
              </a:rPr>
              <a:t>Examine the ACF/PACF: Is an ARIMA(p,d,0) or ARIMA(0,d,q) model appropriate?</a:t>
            </a:r>
          </a:p>
          <a:p>
            <a:pPr marL="447675" indent="-269875" algn="just">
              <a:lnSpc>
                <a:spcPct val="150000"/>
              </a:lnSpc>
              <a:buFont typeface="+mj-lt"/>
              <a:buAutoNum type="arabicPeriod"/>
            </a:pPr>
            <a:r>
              <a:rPr lang="en-US" sz="1500" b="0" i="0" dirty="0">
                <a:solidFill>
                  <a:srgbClr val="333333"/>
                </a:solidFill>
                <a:effectLst/>
                <a:latin typeface="Book Antiqua" panose="02040602050305030304" pitchFamily="18" charset="0"/>
              </a:rPr>
              <a:t>Try your chosen model(s), and use the </a:t>
            </a:r>
            <a:r>
              <a:rPr lang="en-US" sz="1500" b="0" i="0" dirty="0" err="1">
                <a:solidFill>
                  <a:srgbClr val="333333"/>
                </a:solidFill>
                <a:effectLst/>
                <a:latin typeface="Book Antiqua" panose="02040602050305030304" pitchFamily="18" charset="0"/>
              </a:rPr>
              <a:t>AICc</a:t>
            </a:r>
            <a:r>
              <a:rPr lang="en-US" sz="1500" b="0" i="0" dirty="0">
                <a:solidFill>
                  <a:srgbClr val="333333"/>
                </a:solidFill>
                <a:effectLst/>
                <a:latin typeface="Book Antiqua" panose="02040602050305030304" pitchFamily="18" charset="0"/>
              </a:rPr>
              <a:t> to search for a better model.</a:t>
            </a:r>
          </a:p>
          <a:p>
            <a:pPr marL="447675" indent="-269875" algn="just">
              <a:lnSpc>
                <a:spcPct val="150000"/>
              </a:lnSpc>
              <a:buFont typeface="+mj-lt"/>
              <a:buAutoNum type="arabicPeriod"/>
            </a:pPr>
            <a:r>
              <a:rPr lang="en-US" sz="1500" b="0" i="0" dirty="0">
                <a:solidFill>
                  <a:srgbClr val="333333"/>
                </a:solidFill>
                <a:effectLst/>
                <a:latin typeface="Book Antiqua" panose="02040602050305030304" pitchFamily="18" charset="0"/>
              </a:rPr>
              <a:t>Check the residuals from your chosen model by plotting the ACF of the residuals, and doing a portmanteau test of the residuals. If they do not look like white noise, try a modified model.</a:t>
            </a:r>
          </a:p>
          <a:p>
            <a:pPr marL="447675" indent="-269875" algn="just">
              <a:lnSpc>
                <a:spcPct val="150000"/>
              </a:lnSpc>
              <a:buFont typeface="+mj-lt"/>
              <a:buAutoNum type="arabicPeriod"/>
            </a:pPr>
            <a:r>
              <a:rPr lang="en-US" sz="1500" b="0" i="0" dirty="0">
                <a:solidFill>
                  <a:srgbClr val="333333"/>
                </a:solidFill>
                <a:effectLst/>
                <a:latin typeface="Book Antiqua" panose="02040602050305030304" pitchFamily="18" charset="0"/>
              </a:rPr>
              <a:t>Once the residuals look like white noise, calculate forecasts.</a:t>
            </a:r>
          </a:p>
        </p:txBody>
      </p:sp>
    </p:spTree>
    <p:extLst>
      <p:ext uri="{BB962C8B-B14F-4D97-AF65-F5344CB8AC3E}">
        <p14:creationId xmlns:p14="http://schemas.microsoft.com/office/powerpoint/2010/main" val="16848564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4825"/>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 Hyndman-</a:t>
            </a:r>
            <a:r>
              <a:rPr lang="en-IN" sz="3200" b="1" spc="-10" dirty="0" err="1">
                <a:solidFill>
                  <a:srgbClr val="FF0000"/>
                </a:solidFill>
                <a:latin typeface="Arial" panose="020B0604020202020204"/>
                <a:ea typeface="+mn-ea"/>
                <a:cs typeface="Arial" panose="020B0604020202020204"/>
              </a:rPr>
              <a:t>Khandakar</a:t>
            </a:r>
            <a:r>
              <a:rPr lang="en-IN" sz="3200" b="1" spc="-10" dirty="0">
                <a:solidFill>
                  <a:srgbClr val="FF0000"/>
                </a:solidFill>
                <a:latin typeface="Arial" panose="020B0604020202020204"/>
                <a:ea typeface="+mn-ea"/>
                <a:cs typeface="Arial" panose="020B0604020202020204"/>
              </a:rPr>
              <a:t> algorithm</a:t>
            </a:r>
            <a:endParaRPr lang="en-US" altLang="en-IN" sz="3200" b="1" spc="-10" dirty="0">
              <a:solidFill>
                <a:srgbClr val="FF0000"/>
              </a:solidFill>
              <a:latin typeface="Arial" panose="020B0604020202020204"/>
              <a:ea typeface="+mn-ea"/>
              <a:cs typeface="Arial" panose="020B0604020202020204"/>
            </a:endParaRPr>
          </a:p>
        </p:txBody>
      </p:sp>
      <p:sp>
        <p:nvSpPr>
          <p:cNvPr id="4" name="Text Box 3"/>
          <p:cNvSpPr txBox="1"/>
          <p:nvPr/>
        </p:nvSpPr>
        <p:spPr>
          <a:xfrm>
            <a:off x="256540" y="1905635"/>
            <a:ext cx="8689975" cy="425245"/>
          </a:xfrm>
          <a:prstGeom prst="rect">
            <a:avLst/>
          </a:prstGeom>
        </p:spPr>
        <p:txBody>
          <a:bodyPr wrap="square">
            <a:spAutoFit/>
          </a:bodyPr>
          <a:lstStyle/>
          <a:p>
            <a:pPr marL="285750" indent="-285750" algn="just">
              <a:lnSpc>
                <a:spcPct val="150000"/>
              </a:lnSpc>
              <a:buFont typeface="Wingdings" panose="05000000000000000000" charset="0"/>
              <a:buChar char="o"/>
            </a:pPr>
            <a:endParaRPr kumimoji="0" lang="en-US" sz="1600" b="0" i="0" u="none" strike="noStrike" kern="0" cap="none" spc="0" normalizeH="0" baseline="0" noProof="1">
              <a:solidFill>
                <a:srgbClr val="333333"/>
              </a:solidFill>
              <a:effectLst/>
              <a:latin typeface="Book Antiqua" panose="02040602050305030304" pitchFamily="18" charset="0"/>
              <a:ea typeface="Arial" panose="020B0604020202020204" pitchFamily="34" charset="0"/>
              <a:cs typeface="+mn-ea"/>
            </a:endParaRPr>
          </a:p>
        </p:txBody>
      </p:sp>
      <p:graphicFrame>
        <p:nvGraphicFramePr>
          <p:cNvPr id="3" name="Table 2">
            <a:extLst>
              <a:ext uri="{FF2B5EF4-FFF2-40B4-BE49-F238E27FC236}">
                <a16:creationId xmlns:a16="http://schemas.microsoft.com/office/drawing/2014/main" id="{FEDDCB42-EB50-4CBC-8453-7DEEC451200E}"/>
              </a:ext>
            </a:extLst>
          </p:cNvPr>
          <p:cNvGraphicFramePr>
            <a:graphicFrameLocks noGrp="1"/>
          </p:cNvGraphicFramePr>
          <p:nvPr>
            <p:extLst>
              <p:ext uri="{D42A27DB-BD31-4B8C-83A1-F6EECF244321}">
                <p14:modId xmlns:p14="http://schemas.microsoft.com/office/powerpoint/2010/main" val="1557464206"/>
              </p:ext>
            </p:extLst>
          </p:nvPr>
        </p:nvGraphicFramePr>
        <p:xfrm>
          <a:off x="256539" y="1600200"/>
          <a:ext cx="8689975" cy="5082837"/>
        </p:xfrm>
        <a:graphic>
          <a:graphicData uri="http://schemas.openxmlformats.org/drawingml/2006/table">
            <a:tbl>
              <a:tblPr/>
              <a:tblGrid>
                <a:gridCol w="8689975">
                  <a:extLst>
                    <a:ext uri="{9D8B030D-6E8A-4147-A177-3AD203B41FA5}">
                      <a16:colId xmlns:a16="http://schemas.microsoft.com/office/drawing/2014/main" val="3590416237"/>
                    </a:ext>
                  </a:extLst>
                </a:gridCol>
              </a:tblGrid>
              <a:tr h="349466">
                <a:tc>
                  <a:txBody>
                    <a:bodyPr/>
                    <a:lstStyle/>
                    <a:p>
                      <a:pPr algn="l"/>
                      <a:r>
                        <a:rPr lang="en-IN" sz="1400" b="1" dirty="0">
                          <a:effectLst/>
                          <a:latin typeface="Book Antiqua" panose="02040602050305030304" pitchFamily="18" charset="0"/>
                        </a:rPr>
                        <a:t>Hyndman-</a:t>
                      </a:r>
                      <a:r>
                        <a:rPr lang="en-IN" sz="1400" b="1" dirty="0" err="1">
                          <a:effectLst/>
                          <a:latin typeface="Book Antiqua" panose="02040602050305030304" pitchFamily="18" charset="0"/>
                        </a:rPr>
                        <a:t>Khandakar</a:t>
                      </a:r>
                      <a:r>
                        <a:rPr lang="en-IN" sz="1400" b="1" dirty="0">
                          <a:effectLst/>
                          <a:latin typeface="Book Antiqua" panose="02040602050305030304" pitchFamily="18" charset="0"/>
                        </a:rPr>
                        <a:t> algorithm for automatic ARIMA modelling</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183100049"/>
                  </a:ext>
                </a:extLst>
              </a:tr>
              <a:tr h="349466">
                <a:tc>
                  <a:txBody>
                    <a:bodyPr/>
                    <a:lstStyle/>
                    <a:p>
                      <a:pPr>
                        <a:buFont typeface="+mj-lt"/>
                        <a:buAutoNum type="arabicPeriod"/>
                      </a:pPr>
                      <a:r>
                        <a:rPr lang="en-US" sz="1400" dirty="0">
                          <a:effectLst/>
                          <a:latin typeface="Book Antiqua" panose="02040602050305030304" pitchFamily="18" charset="0"/>
                        </a:rPr>
                        <a:t>The number of differences </a:t>
                      </a:r>
                      <a:r>
                        <a:rPr lang="en-US" sz="1400" b="0" i="0" dirty="0">
                          <a:effectLst/>
                          <a:latin typeface="Book Antiqua" panose="02040602050305030304" pitchFamily="18" charset="0"/>
                        </a:rPr>
                        <a:t>0≤d≤2</a:t>
                      </a:r>
                      <a:r>
                        <a:rPr lang="en-US" sz="1400" dirty="0">
                          <a:effectLst/>
                          <a:latin typeface="Book Antiqua" panose="02040602050305030304" pitchFamily="18" charset="0"/>
                        </a:rPr>
                        <a:t> is determined using repeated KPSS tests.</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6E6E6"/>
                    </a:solidFill>
                  </a:tcPr>
                </a:tc>
                <a:extLst>
                  <a:ext uri="{0D108BD9-81ED-4DB2-BD59-A6C34878D82A}">
                    <a16:rowId xmlns:a16="http://schemas.microsoft.com/office/drawing/2014/main" val="3720719041"/>
                  </a:ext>
                </a:extLst>
              </a:tr>
              <a:tr h="765969">
                <a:tc>
                  <a:txBody>
                    <a:bodyPr/>
                    <a:lstStyle/>
                    <a:p>
                      <a:pPr>
                        <a:buFont typeface="+mj-lt"/>
                        <a:buAutoNum type="arabicPeriod" startAt="2"/>
                      </a:pPr>
                      <a:r>
                        <a:rPr lang="en-US" sz="1400" dirty="0">
                          <a:effectLst/>
                          <a:latin typeface="Book Antiqua" panose="02040602050305030304" pitchFamily="18" charset="0"/>
                        </a:rPr>
                        <a:t>The values of </a:t>
                      </a:r>
                      <a:r>
                        <a:rPr lang="en-US" sz="1400" b="0" i="0" dirty="0">
                          <a:effectLst/>
                          <a:latin typeface="Book Antiqua" panose="02040602050305030304" pitchFamily="18" charset="0"/>
                        </a:rPr>
                        <a:t>p</a:t>
                      </a:r>
                      <a:r>
                        <a:rPr lang="en-US" sz="1400" dirty="0">
                          <a:effectLst/>
                          <a:latin typeface="Book Antiqua" panose="02040602050305030304" pitchFamily="18" charset="0"/>
                        </a:rPr>
                        <a:t> and </a:t>
                      </a:r>
                      <a:r>
                        <a:rPr lang="en-US" sz="1400" b="0" i="0" dirty="0">
                          <a:effectLst/>
                          <a:latin typeface="Book Antiqua" panose="02040602050305030304" pitchFamily="18" charset="0"/>
                        </a:rPr>
                        <a:t>q</a:t>
                      </a:r>
                      <a:r>
                        <a:rPr lang="en-US" sz="1400" dirty="0">
                          <a:effectLst/>
                          <a:latin typeface="Book Antiqua" panose="02040602050305030304" pitchFamily="18" charset="0"/>
                        </a:rPr>
                        <a:t> are then chosen by </a:t>
                      </a:r>
                      <a:r>
                        <a:rPr lang="en-US" sz="1400" dirty="0" err="1">
                          <a:effectLst/>
                          <a:latin typeface="Book Antiqua" panose="02040602050305030304" pitchFamily="18" charset="0"/>
                        </a:rPr>
                        <a:t>minimising</a:t>
                      </a:r>
                      <a:r>
                        <a:rPr lang="en-US" sz="1400" dirty="0">
                          <a:effectLst/>
                          <a:latin typeface="Book Antiqua" panose="02040602050305030304" pitchFamily="18" charset="0"/>
                        </a:rPr>
                        <a:t> the </a:t>
                      </a:r>
                      <a:r>
                        <a:rPr lang="en-US" sz="1400" dirty="0" err="1">
                          <a:effectLst/>
                          <a:latin typeface="Book Antiqua" panose="02040602050305030304" pitchFamily="18" charset="0"/>
                        </a:rPr>
                        <a:t>AICc</a:t>
                      </a:r>
                      <a:r>
                        <a:rPr lang="en-US" sz="1400" dirty="0">
                          <a:effectLst/>
                          <a:latin typeface="Book Antiqua" panose="02040602050305030304" pitchFamily="18" charset="0"/>
                        </a:rPr>
                        <a:t> after differencing the data </a:t>
                      </a:r>
                      <a:r>
                        <a:rPr lang="en-US" sz="1400" b="0" i="0" dirty="0">
                          <a:effectLst/>
                          <a:latin typeface="Book Antiqua" panose="02040602050305030304" pitchFamily="18" charset="0"/>
                        </a:rPr>
                        <a:t>d</a:t>
                      </a:r>
                      <a:r>
                        <a:rPr lang="en-US" sz="1400" dirty="0">
                          <a:effectLst/>
                          <a:latin typeface="Book Antiqua" panose="02040602050305030304" pitchFamily="18" charset="0"/>
                        </a:rPr>
                        <a:t> times. Rather than considering every possible combination of </a:t>
                      </a:r>
                      <a:r>
                        <a:rPr lang="en-US" sz="1400" b="0" i="0" dirty="0">
                          <a:effectLst/>
                          <a:latin typeface="Book Antiqua" panose="02040602050305030304" pitchFamily="18" charset="0"/>
                        </a:rPr>
                        <a:t>p</a:t>
                      </a:r>
                      <a:r>
                        <a:rPr lang="en-US" sz="1400" dirty="0">
                          <a:effectLst/>
                          <a:latin typeface="Book Antiqua" panose="02040602050305030304" pitchFamily="18" charset="0"/>
                        </a:rPr>
                        <a:t> and </a:t>
                      </a:r>
                      <a:r>
                        <a:rPr lang="en-US" sz="1400" b="0" i="0" dirty="0">
                          <a:effectLst/>
                          <a:latin typeface="Book Antiqua" panose="02040602050305030304" pitchFamily="18" charset="0"/>
                        </a:rPr>
                        <a:t>q</a:t>
                      </a:r>
                      <a:r>
                        <a:rPr lang="en-US" sz="1400" dirty="0">
                          <a:effectLst/>
                          <a:latin typeface="Book Antiqua" panose="02040602050305030304" pitchFamily="18" charset="0"/>
                        </a:rPr>
                        <a:t>, the algorithm uses a stepwise search to traverse the model space.</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6E6E6"/>
                    </a:solidFill>
                  </a:tcPr>
                </a:tc>
                <a:extLst>
                  <a:ext uri="{0D108BD9-81ED-4DB2-BD59-A6C34878D82A}">
                    <a16:rowId xmlns:a16="http://schemas.microsoft.com/office/drawing/2014/main" val="1853823528"/>
                  </a:ext>
                </a:extLst>
              </a:tr>
              <a:tr h="1706219">
                <a:tc>
                  <a:txBody>
                    <a:bodyPr/>
                    <a:lstStyle/>
                    <a:p>
                      <a:pPr marL="0" indent="0">
                        <a:buFont typeface="+mj-lt"/>
                        <a:buNone/>
                      </a:pPr>
                      <a:r>
                        <a:rPr lang="en-US" sz="1400" dirty="0">
                          <a:effectLst/>
                          <a:latin typeface="Book Antiqua" panose="02040602050305030304" pitchFamily="18" charset="0"/>
                        </a:rPr>
                        <a:t>        a) Four initial models are fitted:</a:t>
                      </a:r>
                    </a:p>
                    <a:p>
                      <a:pPr marL="800100" lvl="1" indent="95250">
                        <a:buFont typeface="Courier New" panose="02070309020205020404" pitchFamily="49" charset="0"/>
                        <a:buChar char="o"/>
                      </a:pPr>
                      <a:r>
                        <a:rPr lang="en-US" sz="1400" dirty="0">
                          <a:effectLst/>
                          <a:latin typeface="Book Antiqua" panose="02040602050305030304" pitchFamily="18" charset="0"/>
                        </a:rPr>
                        <a:t> ARIMA</a:t>
                      </a:r>
                      <a:r>
                        <a:rPr lang="en-US" sz="1400" b="0" i="0" dirty="0">
                          <a:effectLst/>
                          <a:latin typeface="Book Antiqua" panose="02040602050305030304" pitchFamily="18" charset="0"/>
                        </a:rPr>
                        <a:t>(0,d,0)</a:t>
                      </a:r>
                      <a:r>
                        <a:rPr lang="en-US" sz="1400" dirty="0">
                          <a:effectLst/>
                          <a:latin typeface="Book Antiqua" panose="02040602050305030304" pitchFamily="18" charset="0"/>
                        </a:rPr>
                        <a:t>,</a:t>
                      </a:r>
                    </a:p>
                    <a:p>
                      <a:pPr marL="800100" lvl="1" indent="95250">
                        <a:buFont typeface="Courier New" panose="02070309020205020404" pitchFamily="49" charset="0"/>
                        <a:buChar char="o"/>
                      </a:pPr>
                      <a:r>
                        <a:rPr lang="en-US" sz="1400" dirty="0">
                          <a:effectLst/>
                          <a:latin typeface="Book Antiqua" panose="02040602050305030304" pitchFamily="18" charset="0"/>
                        </a:rPr>
                        <a:t> ARIMA</a:t>
                      </a:r>
                      <a:r>
                        <a:rPr lang="en-US" sz="1400" b="0" i="0" dirty="0">
                          <a:effectLst/>
                          <a:latin typeface="Book Antiqua" panose="02040602050305030304" pitchFamily="18" charset="0"/>
                        </a:rPr>
                        <a:t>(2,d,2)</a:t>
                      </a:r>
                      <a:r>
                        <a:rPr lang="en-US" sz="1400" dirty="0">
                          <a:effectLst/>
                          <a:latin typeface="Book Antiqua" panose="02040602050305030304" pitchFamily="18" charset="0"/>
                        </a:rPr>
                        <a:t>,</a:t>
                      </a:r>
                    </a:p>
                    <a:p>
                      <a:pPr marL="800100" lvl="1" indent="95250">
                        <a:buFont typeface="Courier New" panose="02070309020205020404" pitchFamily="49" charset="0"/>
                        <a:buChar char="o"/>
                      </a:pPr>
                      <a:r>
                        <a:rPr lang="en-US" sz="1400" dirty="0">
                          <a:effectLst/>
                          <a:latin typeface="Book Antiqua" panose="02040602050305030304" pitchFamily="18" charset="0"/>
                        </a:rPr>
                        <a:t> ARIMA</a:t>
                      </a:r>
                      <a:r>
                        <a:rPr lang="en-US" sz="1400" b="0" i="0" dirty="0">
                          <a:effectLst/>
                          <a:latin typeface="Book Antiqua" panose="02040602050305030304" pitchFamily="18" charset="0"/>
                        </a:rPr>
                        <a:t>(1,d,0)</a:t>
                      </a:r>
                      <a:r>
                        <a:rPr lang="en-US" sz="1400" dirty="0">
                          <a:effectLst/>
                          <a:latin typeface="Book Antiqua" panose="02040602050305030304" pitchFamily="18" charset="0"/>
                        </a:rPr>
                        <a:t>,</a:t>
                      </a:r>
                    </a:p>
                    <a:p>
                      <a:pPr marL="800100" lvl="1" indent="95250">
                        <a:buFont typeface="Courier New" panose="02070309020205020404" pitchFamily="49" charset="0"/>
                        <a:buChar char="o"/>
                      </a:pPr>
                      <a:r>
                        <a:rPr lang="en-US" sz="1400" dirty="0">
                          <a:effectLst/>
                          <a:latin typeface="Book Antiqua" panose="02040602050305030304" pitchFamily="18" charset="0"/>
                        </a:rPr>
                        <a:t> ARIMA</a:t>
                      </a:r>
                      <a:r>
                        <a:rPr lang="en-US" sz="1400" b="0" i="0" dirty="0">
                          <a:effectLst/>
                          <a:latin typeface="Book Antiqua" panose="02040602050305030304" pitchFamily="18" charset="0"/>
                        </a:rPr>
                        <a:t>(0,d,1)</a:t>
                      </a:r>
                      <a:r>
                        <a:rPr lang="en-US" sz="1400" dirty="0">
                          <a:effectLst/>
                          <a:latin typeface="Book Antiqua" panose="02040602050305030304" pitchFamily="18" charset="0"/>
                        </a:rPr>
                        <a:t>.</a:t>
                      </a:r>
                    </a:p>
                    <a:p>
                      <a:pPr marL="0" indent="0">
                        <a:buFont typeface="+mj-lt"/>
                        <a:buNone/>
                      </a:pPr>
                      <a:r>
                        <a:rPr lang="en-US" sz="1400" dirty="0">
                          <a:effectLst/>
                          <a:latin typeface="Book Antiqua" panose="02040602050305030304" pitchFamily="18" charset="0"/>
                        </a:rPr>
                        <a:t>              A constant is included unless </a:t>
                      </a:r>
                      <a:r>
                        <a:rPr lang="en-US" sz="1400" b="0" i="0" dirty="0">
                          <a:effectLst/>
                          <a:latin typeface="Book Antiqua" panose="02040602050305030304" pitchFamily="18" charset="0"/>
                        </a:rPr>
                        <a:t>d=2</a:t>
                      </a:r>
                      <a:r>
                        <a:rPr lang="en-US" sz="1400" dirty="0">
                          <a:effectLst/>
                          <a:latin typeface="Book Antiqua" panose="02040602050305030304" pitchFamily="18" charset="0"/>
                        </a:rPr>
                        <a:t>. If </a:t>
                      </a:r>
                      <a:r>
                        <a:rPr lang="en-US" sz="1400" b="0" i="0" dirty="0">
                          <a:effectLst/>
                          <a:latin typeface="Book Antiqua" panose="02040602050305030304" pitchFamily="18" charset="0"/>
                        </a:rPr>
                        <a:t>d≤1</a:t>
                      </a:r>
                      <a:r>
                        <a:rPr lang="en-US" sz="1400" dirty="0">
                          <a:effectLst/>
                          <a:latin typeface="Book Antiqua" panose="02040602050305030304" pitchFamily="18" charset="0"/>
                        </a:rPr>
                        <a:t>, an additional model is also fitted:</a:t>
                      </a:r>
                    </a:p>
                    <a:p>
                      <a:pPr marL="800100" lvl="1" indent="1588">
                        <a:buFont typeface="Courier New" panose="02070309020205020404" pitchFamily="49" charset="0"/>
                        <a:buChar char="o"/>
                      </a:pPr>
                      <a:r>
                        <a:rPr lang="en-US" sz="1400" dirty="0">
                          <a:effectLst/>
                          <a:latin typeface="Book Antiqua" panose="02040602050305030304" pitchFamily="18" charset="0"/>
                        </a:rPr>
                        <a:t> ARIMA</a:t>
                      </a:r>
                      <a:r>
                        <a:rPr lang="en-US" sz="1400" b="0" i="0" dirty="0">
                          <a:effectLst/>
                          <a:latin typeface="Book Antiqua" panose="02040602050305030304" pitchFamily="18" charset="0"/>
                        </a:rPr>
                        <a:t>(0,d,0)</a:t>
                      </a:r>
                      <a:r>
                        <a:rPr lang="en-US" sz="1400" dirty="0">
                          <a:effectLst/>
                          <a:latin typeface="Book Antiqua" panose="02040602050305030304" pitchFamily="18" charset="0"/>
                        </a:rPr>
                        <a:t> without a constant.</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6E6E6"/>
                    </a:solidFill>
                  </a:tcPr>
                </a:tc>
                <a:extLst>
                  <a:ext uri="{0D108BD9-81ED-4DB2-BD59-A6C34878D82A}">
                    <a16:rowId xmlns:a16="http://schemas.microsoft.com/office/drawing/2014/main" val="3441189077"/>
                  </a:ext>
                </a:extLst>
              </a:tr>
              <a:tr h="349466">
                <a:tc>
                  <a:txBody>
                    <a:bodyPr/>
                    <a:lstStyle/>
                    <a:p>
                      <a:pPr marL="0" indent="0">
                        <a:buFont typeface="+mj-lt"/>
                        <a:buNone/>
                      </a:pPr>
                      <a:r>
                        <a:rPr lang="en-US" sz="1400" dirty="0">
                          <a:effectLst/>
                          <a:latin typeface="Book Antiqua" panose="02040602050305030304" pitchFamily="18" charset="0"/>
                        </a:rPr>
                        <a:t>        b)   The best model (with the smallest </a:t>
                      </a:r>
                      <a:r>
                        <a:rPr lang="en-US" sz="1400" dirty="0" err="1">
                          <a:effectLst/>
                          <a:latin typeface="Book Antiqua" panose="02040602050305030304" pitchFamily="18" charset="0"/>
                        </a:rPr>
                        <a:t>AICc</a:t>
                      </a:r>
                      <a:r>
                        <a:rPr lang="en-US" sz="1400" dirty="0">
                          <a:effectLst/>
                          <a:latin typeface="Book Antiqua" panose="02040602050305030304" pitchFamily="18" charset="0"/>
                        </a:rPr>
                        <a:t> value) fitted in step (a) is set to be the “current model”.</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6E6E6"/>
                    </a:solidFill>
                  </a:tcPr>
                </a:tc>
                <a:extLst>
                  <a:ext uri="{0D108BD9-81ED-4DB2-BD59-A6C34878D82A}">
                    <a16:rowId xmlns:a16="http://schemas.microsoft.com/office/drawing/2014/main" val="2984166493"/>
                  </a:ext>
                </a:extLst>
              </a:tr>
              <a:tr h="1212785">
                <a:tc>
                  <a:txBody>
                    <a:bodyPr/>
                    <a:lstStyle/>
                    <a:p>
                      <a:pPr marL="0" indent="0">
                        <a:buFont typeface="+mj-lt"/>
                        <a:buNone/>
                      </a:pPr>
                      <a:r>
                        <a:rPr lang="en-US" sz="1400" dirty="0">
                          <a:effectLst/>
                          <a:latin typeface="Book Antiqua" panose="02040602050305030304" pitchFamily="18" charset="0"/>
                        </a:rPr>
                        <a:t>        c)    Variations on the current model are considered:</a:t>
                      </a:r>
                    </a:p>
                    <a:p>
                      <a:pPr marL="800100" lvl="1" indent="1588">
                        <a:buFont typeface="Courier New" panose="02070309020205020404" pitchFamily="49" charset="0"/>
                        <a:buChar char="o"/>
                      </a:pPr>
                      <a:r>
                        <a:rPr lang="en-US" sz="1400" dirty="0">
                          <a:effectLst/>
                          <a:latin typeface="Book Antiqua" panose="02040602050305030304" pitchFamily="18" charset="0"/>
                        </a:rPr>
                        <a:t> vary </a:t>
                      </a:r>
                      <a:r>
                        <a:rPr lang="en-US" sz="1400" b="0" i="0" dirty="0">
                          <a:effectLst/>
                          <a:latin typeface="Book Antiqua" panose="02040602050305030304" pitchFamily="18" charset="0"/>
                        </a:rPr>
                        <a:t>p</a:t>
                      </a:r>
                      <a:r>
                        <a:rPr lang="en-US" sz="1400" dirty="0">
                          <a:effectLst/>
                          <a:latin typeface="Book Antiqua" panose="02040602050305030304" pitchFamily="18" charset="0"/>
                        </a:rPr>
                        <a:t> and/or </a:t>
                      </a:r>
                      <a:r>
                        <a:rPr lang="en-US" sz="1400" b="0" i="0" dirty="0">
                          <a:effectLst/>
                          <a:latin typeface="Book Antiqua" panose="02040602050305030304" pitchFamily="18" charset="0"/>
                        </a:rPr>
                        <a:t>q</a:t>
                      </a:r>
                      <a:r>
                        <a:rPr lang="en-US" sz="1400" dirty="0">
                          <a:effectLst/>
                          <a:latin typeface="Book Antiqua" panose="02040602050305030304" pitchFamily="18" charset="0"/>
                        </a:rPr>
                        <a:t> from the current model by </a:t>
                      </a:r>
                      <a:r>
                        <a:rPr lang="en-US" sz="1400" b="0" i="0" dirty="0">
                          <a:effectLst/>
                          <a:latin typeface="Book Antiqua" panose="02040602050305030304" pitchFamily="18" charset="0"/>
                        </a:rPr>
                        <a:t>±1</a:t>
                      </a:r>
                      <a:r>
                        <a:rPr lang="en-US" sz="1400" dirty="0">
                          <a:effectLst/>
                          <a:latin typeface="Book Antiqua" panose="02040602050305030304" pitchFamily="18" charset="0"/>
                        </a:rPr>
                        <a:t>;</a:t>
                      </a:r>
                    </a:p>
                    <a:p>
                      <a:pPr marL="800100" lvl="1" indent="1588">
                        <a:buFont typeface="Courier New" panose="02070309020205020404" pitchFamily="49" charset="0"/>
                        <a:buChar char="o"/>
                      </a:pPr>
                      <a:r>
                        <a:rPr lang="en-US" sz="1400" dirty="0">
                          <a:effectLst/>
                          <a:latin typeface="Book Antiqua" panose="02040602050305030304" pitchFamily="18" charset="0"/>
                        </a:rPr>
                        <a:t> include/exclude </a:t>
                      </a:r>
                      <a:r>
                        <a:rPr lang="en-US" sz="1400" b="0" i="0" dirty="0">
                          <a:effectLst/>
                          <a:latin typeface="Book Antiqua" panose="02040602050305030304" pitchFamily="18" charset="0"/>
                        </a:rPr>
                        <a:t>c</a:t>
                      </a:r>
                      <a:r>
                        <a:rPr lang="en-US" sz="1400" dirty="0">
                          <a:effectLst/>
                          <a:latin typeface="Book Antiqua" panose="02040602050305030304" pitchFamily="18" charset="0"/>
                        </a:rPr>
                        <a:t> from the current model.</a:t>
                      </a:r>
                    </a:p>
                    <a:p>
                      <a:pPr marL="0" indent="0">
                        <a:buFont typeface="+mj-lt"/>
                        <a:buNone/>
                      </a:pPr>
                      <a:r>
                        <a:rPr lang="en-US" sz="1400" dirty="0">
                          <a:effectLst/>
                          <a:latin typeface="Book Antiqua" panose="02040602050305030304" pitchFamily="18" charset="0"/>
                        </a:rPr>
                        <a:t>               The best model considered so far (either the current model or one of these variations) becomes the   </a:t>
                      </a:r>
                    </a:p>
                    <a:p>
                      <a:pPr marL="0" indent="0">
                        <a:buFont typeface="+mj-lt"/>
                        <a:buNone/>
                      </a:pPr>
                      <a:r>
                        <a:rPr lang="en-US" sz="1400" dirty="0">
                          <a:effectLst/>
                          <a:latin typeface="Book Antiqua" panose="02040602050305030304" pitchFamily="18" charset="0"/>
                        </a:rPr>
                        <a:t>               new current model.</a:t>
                      </a:r>
                    </a:p>
                  </a:txBody>
                  <a:tcPr marL="47625" marR="47625" anchor="ctr">
                    <a:lnL>
                      <a:noFill/>
                    </a:lnL>
                    <a:lnR>
                      <a:noFill/>
                    </a:lnR>
                    <a:lnT w="9525" cap="flat" cmpd="sng" algn="ctr">
                      <a:solidFill>
                        <a:srgbClr val="CCCCCC"/>
                      </a:solidFill>
                      <a:prstDash val="solid"/>
                      <a:round/>
                      <a:headEnd type="none" w="med" len="med"/>
                      <a:tailEnd type="none" w="med" len="med"/>
                    </a:lnT>
                    <a:lnB w="9525" cap="flat" cmpd="sng" algn="ctr">
                      <a:solidFill>
                        <a:srgbClr val="10921D"/>
                      </a:solidFill>
                      <a:prstDash val="solid"/>
                      <a:round/>
                      <a:headEnd type="none" w="med" len="med"/>
                      <a:tailEnd type="none" w="med" len="med"/>
                    </a:lnB>
                    <a:solidFill>
                      <a:srgbClr val="E6E6E6"/>
                    </a:solidFill>
                  </a:tcPr>
                </a:tc>
                <a:extLst>
                  <a:ext uri="{0D108BD9-81ED-4DB2-BD59-A6C34878D82A}">
                    <a16:rowId xmlns:a16="http://schemas.microsoft.com/office/drawing/2014/main" val="4157204836"/>
                  </a:ext>
                </a:extLst>
              </a:tr>
              <a:tr h="349466">
                <a:tc>
                  <a:txBody>
                    <a:bodyPr/>
                    <a:lstStyle/>
                    <a:p>
                      <a:pPr marL="0" indent="0">
                        <a:buFont typeface="+mj-lt"/>
                        <a:buNone/>
                      </a:pPr>
                      <a:r>
                        <a:rPr lang="en-US" sz="1400" dirty="0">
                          <a:effectLst/>
                          <a:latin typeface="Book Antiqua" panose="02040602050305030304" pitchFamily="18" charset="0"/>
                        </a:rPr>
                        <a:t>       d)    Repeat Step 2(c) until no lower </a:t>
                      </a:r>
                      <a:r>
                        <a:rPr lang="en-US" sz="1400" dirty="0" err="1">
                          <a:effectLst/>
                          <a:latin typeface="Book Antiqua" panose="02040602050305030304" pitchFamily="18" charset="0"/>
                        </a:rPr>
                        <a:t>AICc</a:t>
                      </a:r>
                      <a:r>
                        <a:rPr lang="en-US" sz="1400" dirty="0">
                          <a:effectLst/>
                          <a:latin typeface="Book Antiqua" panose="02040602050305030304" pitchFamily="18" charset="0"/>
                        </a:rPr>
                        <a:t> can be found</a:t>
                      </a:r>
                    </a:p>
                  </a:txBody>
                  <a:tcPr marL="47625" marR="47625" anchor="ctr">
                    <a:lnL>
                      <a:noFill/>
                    </a:lnL>
                    <a:lnR>
                      <a:noFill/>
                    </a:lnR>
                    <a:lnT w="9525" cap="flat" cmpd="sng" algn="ctr">
                      <a:solidFill>
                        <a:srgbClr val="10921D"/>
                      </a:solidFill>
                      <a:prstDash val="solid"/>
                      <a:round/>
                      <a:headEnd type="none" w="med" len="med"/>
                      <a:tailEnd type="none" w="med" len="med"/>
                    </a:lnT>
                    <a:lnB w="9525" cap="flat" cmpd="sng" algn="ctr">
                      <a:solidFill>
                        <a:srgbClr val="10921D"/>
                      </a:solidFill>
                      <a:prstDash val="solid"/>
                      <a:round/>
                      <a:headEnd type="none" w="med" len="med"/>
                      <a:tailEnd type="none" w="med" len="med"/>
                    </a:lnB>
                    <a:solidFill>
                      <a:srgbClr val="E6E6E6"/>
                    </a:solidFill>
                  </a:tcPr>
                </a:tc>
                <a:extLst>
                  <a:ext uri="{0D108BD9-81ED-4DB2-BD59-A6C34878D82A}">
                    <a16:rowId xmlns:a16="http://schemas.microsoft.com/office/drawing/2014/main" val="3389211107"/>
                  </a:ext>
                </a:extLst>
              </a:tr>
            </a:tbl>
          </a:graphicData>
        </a:graphic>
      </p:graphicFrame>
    </p:spTree>
    <p:extLst>
      <p:ext uri="{BB962C8B-B14F-4D97-AF65-F5344CB8AC3E}">
        <p14:creationId xmlns:p14="http://schemas.microsoft.com/office/powerpoint/2010/main" val="38043362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 Hyndman-</a:t>
            </a:r>
            <a:r>
              <a:rPr lang="en-IN" sz="3200" b="1" spc="-10" dirty="0" err="1">
                <a:solidFill>
                  <a:srgbClr val="FF0000"/>
                </a:solidFill>
                <a:latin typeface="Arial" panose="020B0604020202020204"/>
                <a:ea typeface="+mn-ea"/>
                <a:cs typeface="Arial" panose="020B0604020202020204"/>
              </a:rPr>
              <a:t>Khandakar</a:t>
            </a:r>
            <a:r>
              <a:rPr lang="en-IN" sz="3200" b="1" spc="-10" dirty="0">
                <a:solidFill>
                  <a:srgbClr val="FF0000"/>
                </a:solidFill>
                <a:latin typeface="Arial" panose="020B0604020202020204"/>
                <a:ea typeface="+mn-ea"/>
                <a:cs typeface="Arial" panose="020B0604020202020204"/>
              </a:rPr>
              <a:t> algorithm</a:t>
            </a:r>
            <a:endParaRPr lang="en-US" altLang="en-IN" sz="3200" b="1" spc="-10" dirty="0">
              <a:solidFill>
                <a:srgbClr val="FF0000"/>
              </a:solidFill>
              <a:latin typeface="Arial" panose="020B0604020202020204"/>
              <a:ea typeface="+mn-ea"/>
              <a:cs typeface="Arial" panose="020B0604020202020204"/>
            </a:endParaRPr>
          </a:p>
        </p:txBody>
      </p:sp>
      <p:sp>
        <p:nvSpPr>
          <p:cNvPr id="4" name="Text Box 3"/>
          <p:cNvSpPr txBox="1"/>
          <p:nvPr/>
        </p:nvSpPr>
        <p:spPr>
          <a:xfrm>
            <a:off x="256540" y="1905635"/>
            <a:ext cx="8689975" cy="425245"/>
          </a:xfrm>
          <a:prstGeom prst="rect">
            <a:avLst/>
          </a:prstGeom>
        </p:spPr>
        <p:txBody>
          <a:bodyPr wrap="square">
            <a:spAutoFit/>
          </a:bodyPr>
          <a:lstStyle/>
          <a:p>
            <a:pPr marL="285750" indent="-285750" algn="just">
              <a:lnSpc>
                <a:spcPct val="150000"/>
              </a:lnSpc>
              <a:buFont typeface="Wingdings" panose="05000000000000000000" charset="0"/>
              <a:buChar char="o"/>
            </a:pPr>
            <a:endParaRPr kumimoji="0" lang="en-US" sz="1600" b="0" i="0" u="none" strike="noStrike" kern="0" cap="none" spc="0" normalizeH="0" baseline="0" noProof="1">
              <a:solidFill>
                <a:srgbClr val="333333"/>
              </a:solidFill>
              <a:effectLst/>
              <a:latin typeface="Book Antiqua" panose="02040602050305030304" pitchFamily="18" charset="0"/>
              <a:ea typeface="Arial" panose="020B0604020202020204" pitchFamily="34" charset="0"/>
              <a:cs typeface="+mn-ea"/>
            </a:endParaRPr>
          </a:p>
        </p:txBody>
      </p:sp>
      <p:pic>
        <p:nvPicPr>
          <p:cNvPr id="3074" name="Picture 2" descr="An illustrative example of the Hyndman-Khandakar stepwise search process">
            <a:extLst>
              <a:ext uri="{FF2B5EF4-FFF2-40B4-BE49-F238E27FC236}">
                <a16:creationId xmlns:a16="http://schemas.microsoft.com/office/drawing/2014/main" id="{CC0B6A7A-A4F1-4310-9D51-C8BC45C786A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2115" y="1876088"/>
            <a:ext cx="2667000" cy="25908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8ECC6AC-0483-49F6-9532-EAC227185EEF}"/>
              </a:ext>
            </a:extLst>
          </p:cNvPr>
          <p:cNvSpPr txBox="1"/>
          <p:nvPr/>
        </p:nvSpPr>
        <p:spPr>
          <a:xfrm>
            <a:off x="188167" y="4419600"/>
            <a:ext cx="2783633" cy="430887"/>
          </a:xfrm>
          <a:prstGeom prst="rect">
            <a:avLst/>
          </a:prstGeom>
          <a:noFill/>
        </p:spPr>
        <p:txBody>
          <a:bodyPr wrap="square">
            <a:spAutoFit/>
          </a:bodyPr>
          <a:lstStyle/>
          <a:p>
            <a:pPr algn="ctr"/>
            <a:r>
              <a:rPr lang="en-US" sz="1100" b="0" i="0" dirty="0">
                <a:solidFill>
                  <a:srgbClr val="C00000"/>
                </a:solidFill>
                <a:effectLst/>
                <a:latin typeface="Fira Sans" panose="020B0503050000020004" pitchFamily="34" charset="0"/>
              </a:rPr>
              <a:t>An illustrative example of the Hyndman-</a:t>
            </a:r>
            <a:r>
              <a:rPr lang="en-US" sz="1100" b="0" i="0" dirty="0" err="1">
                <a:solidFill>
                  <a:srgbClr val="C00000"/>
                </a:solidFill>
                <a:effectLst/>
                <a:latin typeface="Fira Sans" panose="020B0503050000020004" pitchFamily="34" charset="0"/>
              </a:rPr>
              <a:t>Khandakar</a:t>
            </a:r>
            <a:r>
              <a:rPr lang="en-US" sz="1100" b="0" i="0" dirty="0">
                <a:solidFill>
                  <a:srgbClr val="C00000"/>
                </a:solidFill>
                <a:effectLst/>
                <a:latin typeface="Fira Sans" panose="020B0503050000020004" pitchFamily="34" charset="0"/>
              </a:rPr>
              <a:t> stepwise search process</a:t>
            </a:r>
            <a:endParaRPr lang="en-IN" sz="1100" dirty="0">
              <a:solidFill>
                <a:srgbClr val="C00000"/>
              </a:solidFill>
            </a:endParaRPr>
          </a:p>
        </p:txBody>
      </p:sp>
      <p:sp>
        <p:nvSpPr>
          <p:cNvPr id="9" name="TextBox 8">
            <a:extLst>
              <a:ext uri="{FF2B5EF4-FFF2-40B4-BE49-F238E27FC236}">
                <a16:creationId xmlns:a16="http://schemas.microsoft.com/office/drawing/2014/main" id="{F3B7F9AB-7945-4182-AE11-89D41E5CFBFB}"/>
              </a:ext>
            </a:extLst>
          </p:cNvPr>
          <p:cNvSpPr txBox="1"/>
          <p:nvPr/>
        </p:nvSpPr>
        <p:spPr>
          <a:xfrm>
            <a:off x="3177858" y="1569053"/>
            <a:ext cx="5867400" cy="4907947"/>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400" dirty="0">
                <a:solidFill>
                  <a:srgbClr val="333333"/>
                </a:solidFill>
                <a:latin typeface="Book Antiqua" panose="02040602050305030304" pitchFamily="18" charset="0"/>
              </a:rPr>
              <a:t>The grid covers combinations of ARMA(</a:t>
            </a:r>
            <a:r>
              <a:rPr lang="en-US" sz="1400" dirty="0" err="1">
                <a:solidFill>
                  <a:srgbClr val="333333"/>
                </a:solidFill>
                <a:latin typeface="Book Antiqua" panose="02040602050305030304" pitchFamily="18" charset="0"/>
              </a:rPr>
              <a:t>p,q</a:t>
            </a:r>
            <a:r>
              <a:rPr lang="en-US" sz="1400" dirty="0">
                <a:solidFill>
                  <a:srgbClr val="333333"/>
                </a:solidFill>
                <a:latin typeface="Book Antiqua" panose="02040602050305030304" pitchFamily="18" charset="0"/>
              </a:rPr>
              <a:t>) orders starting from the top-left corner with an ARMA(0,0), with the AR order increasing down the vertical axis, and the MA order increasing across the horizontal axis.</a:t>
            </a:r>
          </a:p>
          <a:p>
            <a:pPr marL="285750" indent="-285750" algn="just">
              <a:lnSpc>
                <a:spcPct val="150000"/>
              </a:lnSpc>
              <a:buFont typeface="Wingdings" panose="05000000000000000000" pitchFamily="2" charset="2"/>
              <a:buChar char="q"/>
            </a:pPr>
            <a:r>
              <a:rPr lang="en-US" sz="1400" dirty="0">
                <a:solidFill>
                  <a:srgbClr val="333333"/>
                </a:solidFill>
                <a:latin typeface="Book Antiqua" panose="02040602050305030304" pitchFamily="18" charset="0"/>
              </a:rPr>
              <a:t>The orange cells show the initial set of models considered by the algorithm. In this example, the ARMA(2,2) model has the lowest </a:t>
            </a:r>
            <a:r>
              <a:rPr lang="en-US" sz="1400" dirty="0" err="1">
                <a:solidFill>
                  <a:srgbClr val="333333"/>
                </a:solidFill>
                <a:latin typeface="Book Antiqua" panose="02040602050305030304" pitchFamily="18" charset="0"/>
              </a:rPr>
              <a:t>AICc</a:t>
            </a:r>
            <a:r>
              <a:rPr lang="en-US" sz="1400" dirty="0">
                <a:solidFill>
                  <a:srgbClr val="333333"/>
                </a:solidFill>
                <a:latin typeface="Book Antiqua" panose="02040602050305030304" pitchFamily="18" charset="0"/>
              </a:rPr>
              <a:t> value amongst these models.</a:t>
            </a:r>
          </a:p>
          <a:p>
            <a:pPr marL="285750" indent="-285750" algn="just">
              <a:lnSpc>
                <a:spcPct val="150000"/>
              </a:lnSpc>
              <a:buFont typeface="Wingdings" panose="05000000000000000000" pitchFamily="2" charset="2"/>
              <a:buChar char="q"/>
            </a:pPr>
            <a:r>
              <a:rPr lang="en-US" sz="1400" dirty="0">
                <a:solidFill>
                  <a:srgbClr val="333333"/>
                </a:solidFill>
                <a:latin typeface="Book Antiqua" panose="02040602050305030304" pitchFamily="18" charset="0"/>
              </a:rPr>
              <a:t>This is called the “current model” and is shown by the black circle. </a:t>
            </a:r>
          </a:p>
          <a:p>
            <a:pPr marL="285750" indent="-285750" algn="just">
              <a:lnSpc>
                <a:spcPct val="150000"/>
              </a:lnSpc>
              <a:buFont typeface="Wingdings" panose="05000000000000000000" pitchFamily="2" charset="2"/>
              <a:buChar char="q"/>
            </a:pPr>
            <a:r>
              <a:rPr lang="en-US" sz="1400" dirty="0">
                <a:solidFill>
                  <a:srgbClr val="333333"/>
                </a:solidFill>
                <a:latin typeface="Book Antiqua" panose="02040602050305030304" pitchFamily="18" charset="0"/>
              </a:rPr>
              <a:t>The algorithm then searches over </a:t>
            </a:r>
            <a:r>
              <a:rPr lang="en-US" sz="1400" dirty="0" err="1">
                <a:solidFill>
                  <a:srgbClr val="333333"/>
                </a:solidFill>
                <a:latin typeface="Book Antiqua" panose="02040602050305030304" pitchFamily="18" charset="0"/>
              </a:rPr>
              <a:t>neighbouring</a:t>
            </a:r>
            <a:r>
              <a:rPr lang="en-US" sz="1400" dirty="0">
                <a:solidFill>
                  <a:srgbClr val="333333"/>
                </a:solidFill>
                <a:latin typeface="Book Antiqua" panose="02040602050305030304" pitchFamily="18" charset="0"/>
              </a:rPr>
              <a:t> models as shown by the blue arrows.</a:t>
            </a:r>
          </a:p>
          <a:p>
            <a:pPr marL="285750" indent="-285750" algn="just">
              <a:lnSpc>
                <a:spcPct val="150000"/>
              </a:lnSpc>
              <a:buFont typeface="Wingdings" panose="05000000000000000000" pitchFamily="2" charset="2"/>
              <a:buChar char="q"/>
            </a:pPr>
            <a:r>
              <a:rPr lang="en-US" sz="1400" dirty="0">
                <a:solidFill>
                  <a:srgbClr val="333333"/>
                </a:solidFill>
                <a:latin typeface="Book Antiqua" panose="02040602050305030304" pitchFamily="18" charset="0"/>
              </a:rPr>
              <a:t>If a better model is found then this becomes the new “current model”. </a:t>
            </a:r>
          </a:p>
          <a:p>
            <a:pPr marL="285750" indent="-285750" algn="just">
              <a:lnSpc>
                <a:spcPct val="150000"/>
              </a:lnSpc>
              <a:buFont typeface="Wingdings" panose="05000000000000000000" pitchFamily="2" charset="2"/>
              <a:buChar char="q"/>
            </a:pPr>
            <a:r>
              <a:rPr lang="en-US" sz="1400" dirty="0">
                <a:solidFill>
                  <a:srgbClr val="333333"/>
                </a:solidFill>
                <a:latin typeface="Book Antiqua" panose="02040602050305030304" pitchFamily="18" charset="0"/>
              </a:rPr>
              <a:t>In this example, the new “current model” is the ARMA(3,3) model.</a:t>
            </a:r>
          </a:p>
          <a:p>
            <a:pPr marL="285750" indent="-285750" algn="just">
              <a:lnSpc>
                <a:spcPct val="150000"/>
              </a:lnSpc>
              <a:buFont typeface="Wingdings" panose="05000000000000000000" pitchFamily="2" charset="2"/>
              <a:buChar char="q"/>
            </a:pPr>
            <a:r>
              <a:rPr lang="en-US" sz="1400" dirty="0">
                <a:solidFill>
                  <a:srgbClr val="333333"/>
                </a:solidFill>
                <a:latin typeface="Book Antiqua" panose="02040602050305030304" pitchFamily="18" charset="0"/>
              </a:rPr>
              <a:t>The algorithm continues in this fashion until no better model can be found. In this example the model returned is an ARMA(4,2) model.</a:t>
            </a:r>
            <a:endParaRPr lang="en-IN" sz="1400" dirty="0">
              <a:solidFill>
                <a:srgbClr val="333333"/>
              </a:solidFill>
              <a:latin typeface="Book Antiqua" panose="02040602050305030304" pitchFamily="18" charset="0"/>
            </a:endParaRPr>
          </a:p>
        </p:txBody>
      </p:sp>
      <p:sp>
        <p:nvSpPr>
          <p:cNvPr id="11" name="TextBox 10">
            <a:extLst>
              <a:ext uri="{FF2B5EF4-FFF2-40B4-BE49-F238E27FC236}">
                <a16:creationId xmlns:a16="http://schemas.microsoft.com/office/drawing/2014/main" id="{26AAAF9E-DE5D-4BC1-ADE6-72722911F49B}"/>
              </a:ext>
            </a:extLst>
          </p:cNvPr>
          <p:cNvSpPr txBox="1"/>
          <p:nvPr/>
        </p:nvSpPr>
        <p:spPr>
          <a:xfrm>
            <a:off x="55212" y="6452128"/>
            <a:ext cx="8857091" cy="430887"/>
          </a:xfrm>
          <a:prstGeom prst="rect">
            <a:avLst/>
          </a:prstGeom>
          <a:noFill/>
        </p:spPr>
        <p:txBody>
          <a:bodyPr wrap="square">
            <a:spAutoFit/>
          </a:bodyPr>
          <a:lstStyle/>
          <a:p>
            <a:r>
              <a:rPr lang="en-US" sz="1100" b="0" i="0" dirty="0">
                <a:solidFill>
                  <a:srgbClr val="C00000"/>
                </a:solidFill>
                <a:effectLst/>
                <a:latin typeface="Merriweather" panose="00000500000000000000" pitchFamily="2" charset="0"/>
              </a:rPr>
              <a:t>The default procedure will switch to a new “current model” as soon as a better model is identified, without going through all the </a:t>
            </a:r>
            <a:r>
              <a:rPr lang="en-US" sz="1100" b="0" i="0" dirty="0" err="1">
                <a:solidFill>
                  <a:srgbClr val="C00000"/>
                </a:solidFill>
                <a:effectLst/>
                <a:latin typeface="Merriweather" panose="00000500000000000000" pitchFamily="2" charset="0"/>
              </a:rPr>
              <a:t>neighbouring</a:t>
            </a:r>
            <a:r>
              <a:rPr lang="en-US" sz="1100" b="0" i="0" dirty="0">
                <a:solidFill>
                  <a:srgbClr val="C00000"/>
                </a:solidFill>
                <a:effectLst/>
                <a:latin typeface="Merriweather" panose="00000500000000000000" pitchFamily="2" charset="0"/>
              </a:rPr>
              <a:t> models</a:t>
            </a:r>
            <a:r>
              <a:rPr lang="en-US" sz="1100" b="0" i="0" dirty="0">
                <a:solidFill>
                  <a:srgbClr val="333333"/>
                </a:solidFill>
                <a:effectLst/>
                <a:latin typeface="Merriweather" panose="00000500000000000000" pitchFamily="2" charset="0"/>
              </a:rPr>
              <a:t>. </a:t>
            </a:r>
            <a:r>
              <a:rPr lang="en-US" sz="1100" dirty="0">
                <a:solidFill>
                  <a:srgbClr val="C00000"/>
                </a:solidFill>
                <a:latin typeface="Merriweather" panose="00000500000000000000" pitchFamily="2" charset="0"/>
              </a:rPr>
              <a:t>It may not give best results, but gives good results.</a:t>
            </a:r>
            <a:endParaRPr lang="en-IN" sz="1100" dirty="0">
              <a:solidFill>
                <a:srgbClr val="C00000"/>
              </a:solidFill>
              <a:latin typeface="Merriweather" panose="00000500000000000000" pitchFamily="2" charset="0"/>
            </a:endParaRPr>
          </a:p>
        </p:txBody>
      </p:sp>
    </p:spTree>
    <p:extLst>
      <p:ext uri="{BB962C8B-B14F-4D97-AF65-F5344CB8AC3E}">
        <p14:creationId xmlns:p14="http://schemas.microsoft.com/office/powerpoint/2010/main" val="24720635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4825"/>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 </a:t>
            </a:r>
            <a:r>
              <a:rPr lang="en-US" altLang="en-IN" sz="3200" b="1" spc="-10" dirty="0">
                <a:solidFill>
                  <a:srgbClr val="FF0000"/>
                </a:solidFill>
                <a:latin typeface="Arial" panose="020B0604020202020204"/>
                <a:ea typeface="+mn-ea"/>
                <a:cs typeface="Arial" panose="020B0604020202020204"/>
              </a:rPr>
              <a:t>How does ARIMA works</a:t>
            </a:r>
          </a:p>
        </p:txBody>
      </p:sp>
      <p:sp>
        <p:nvSpPr>
          <p:cNvPr id="4" name="Text Box 3"/>
          <p:cNvSpPr txBox="1"/>
          <p:nvPr/>
        </p:nvSpPr>
        <p:spPr>
          <a:xfrm>
            <a:off x="3505200" y="1600201"/>
            <a:ext cx="5288915" cy="1450012"/>
          </a:xfrm>
          <a:prstGeom prst="rect">
            <a:avLst/>
          </a:prstGeom>
        </p:spPr>
        <p:txBody>
          <a:bodyPr wrap="square">
            <a:spAutoFit/>
          </a:bodyPr>
          <a:lstStyle/>
          <a:p>
            <a:pPr marL="285750" indent="-285750" algn="just">
              <a:lnSpc>
                <a:spcPct val="150000"/>
              </a:lnSpc>
              <a:buFont typeface="Wingdings" panose="05000000000000000000" charset="0"/>
              <a:buChar char="o"/>
            </a:pPr>
            <a:r>
              <a:rPr lang="en-US" sz="1200" b="0" i="0" dirty="0">
                <a:solidFill>
                  <a:srgbClr val="333333"/>
                </a:solidFill>
                <a:effectLst/>
                <a:latin typeface="Merriweather" panose="00000500000000000000" pitchFamily="2" charset="0"/>
              </a:rPr>
              <a:t>The time plot shows some non-stationarity, with an overall decline.</a:t>
            </a:r>
          </a:p>
          <a:p>
            <a:pPr marL="285750" indent="-285750" algn="just">
              <a:lnSpc>
                <a:spcPct val="150000"/>
              </a:lnSpc>
              <a:buFont typeface="Wingdings" panose="05000000000000000000" charset="0"/>
              <a:buChar char="o"/>
            </a:pPr>
            <a:r>
              <a:rPr lang="en-US" sz="1200" b="0" i="0" dirty="0">
                <a:solidFill>
                  <a:srgbClr val="333333"/>
                </a:solidFill>
                <a:effectLst/>
                <a:latin typeface="Merriweather" panose="00000500000000000000" pitchFamily="2" charset="0"/>
              </a:rPr>
              <a:t>To address the non-stationarity, we will take a first difference of the data.</a:t>
            </a:r>
            <a:endParaRPr lang="en-IN" sz="1200" dirty="0"/>
          </a:p>
          <a:p>
            <a:pPr marL="285750" indent="-285750" algn="just">
              <a:lnSpc>
                <a:spcPct val="150000"/>
              </a:lnSpc>
              <a:buFont typeface="Wingdings" panose="05000000000000000000" charset="0"/>
              <a:buChar char="o"/>
            </a:pPr>
            <a:endParaRPr kumimoji="0" lang="en-US" sz="1200" b="0" i="0" u="none" strike="noStrike" kern="0" cap="none" spc="0" normalizeH="0" baseline="0" noProof="1">
              <a:solidFill>
                <a:srgbClr val="333333"/>
              </a:solidFill>
              <a:effectLst/>
              <a:latin typeface="Book Antiqua" panose="02040602050305030304" pitchFamily="18" charset="0"/>
              <a:ea typeface="Arial" panose="020B0604020202020204" pitchFamily="34" charset="0"/>
              <a:cs typeface="+mn-ea"/>
            </a:endParaRPr>
          </a:p>
        </p:txBody>
      </p:sp>
      <p:pic>
        <p:nvPicPr>
          <p:cNvPr id="4098" name="Picture 2" descr="Exports of the Central African Republic as a percentage of GDP.">
            <a:extLst>
              <a:ext uri="{FF2B5EF4-FFF2-40B4-BE49-F238E27FC236}">
                <a16:creationId xmlns:a16="http://schemas.microsoft.com/office/drawing/2014/main" id="{47EDF248-FCC6-4A63-84C5-50B15ED5862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820" y="1600201"/>
            <a:ext cx="319418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ime plot and ACF and PACF plots for the differenced Central African Republic Exports.">
            <a:extLst>
              <a:ext uri="{FF2B5EF4-FFF2-40B4-BE49-F238E27FC236}">
                <a16:creationId xmlns:a16="http://schemas.microsoft.com/office/drawing/2014/main" id="{0C4E77D5-F484-4729-B881-0282ED911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3352800"/>
            <a:ext cx="5715000" cy="343376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023E7BA-6A6E-43F0-8DD1-A1FBC35E3F57}"/>
              </a:ext>
            </a:extLst>
          </p:cNvPr>
          <p:cNvSpPr txBox="1"/>
          <p:nvPr/>
        </p:nvSpPr>
        <p:spPr>
          <a:xfrm>
            <a:off x="234820" y="3581400"/>
            <a:ext cx="2735425" cy="2968954"/>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400" b="0" i="0" dirty="0">
                <a:solidFill>
                  <a:srgbClr val="333333"/>
                </a:solidFill>
                <a:effectLst/>
                <a:latin typeface="Book Antiqua" panose="02040602050305030304" pitchFamily="18" charset="0"/>
              </a:rPr>
              <a:t>The PACF shown in Figure </a:t>
            </a:r>
            <a:r>
              <a:rPr lang="en-US" sz="1400" b="0" i="0" u="none" strike="noStrike" dirty="0">
                <a:solidFill>
                  <a:srgbClr val="333333"/>
                </a:solidFill>
                <a:effectLst/>
                <a:latin typeface="Book Antiqua" panose="02040602050305030304" pitchFamily="18" charset="0"/>
                <a:hlinkClick r:id="rId4"/>
              </a:rPr>
              <a:t>9.14</a:t>
            </a:r>
            <a:r>
              <a:rPr lang="en-US" sz="1400" b="0" i="0" dirty="0">
                <a:solidFill>
                  <a:srgbClr val="333333"/>
                </a:solidFill>
                <a:effectLst/>
                <a:latin typeface="Book Antiqua" panose="02040602050305030304" pitchFamily="18" charset="0"/>
              </a:rPr>
              <a:t> is suggestive of an AR(2) model; so an initial candidate model is an ARIMA(2,1,0). </a:t>
            </a:r>
          </a:p>
          <a:p>
            <a:pPr marL="285750" indent="-285750" algn="just">
              <a:lnSpc>
                <a:spcPct val="150000"/>
              </a:lnSpc>
              <a:buFont typeface="Wingdings" panose="05000000000000000000" pitchFamily="2" charset="2"/>
              <a:buChar char="q"/>
            </a:pPr>
            <a:r>
              <a:rPr lang="en-US" sz="1400" b="0" i="0" dirty="0">
                <a:solidFill>
                  <a:srgbClr val="333333"/>
                </a:solidFill>
                <a:effectLst/>
                <a:latin typeface="Book Antiqua" panose="02040602050305030304" pitchFamily="18" charset="0"/>
              </a:rPr>
              <a:t>The ACF suggests an MA(3) model; so an alternative candidate is an ARIMA(0,1,3).</a:t>
            </a:r>
          </a:p>
        </p:txBody>
      </p:sp>
    </p:spTree>
    <p:extLst>
      <p:ext uri="{BB962C8B-B14F-4D97-AF65-F5344CB8AC3E}">
        <p14:creationId xmlns:p14="http://schemas.microsoft.com/office/powerpoint/2010/main" val="2326345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4825"/>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 </a:t>
            </a:r>
            <a:r>
              <a:rPr lang="en-US" altLang="en-IN" sz="3200" b="1" spc="-10" dirty="0">
                <a:solidFill>
                  <a:srgbClr val="FF0000"/>
                </a:solidFill>
                <a:latin typeface="Arial" panose="020B0604020202020204"/>
                <a:ea typeface="+mn-ea"/>
                <a:cs typeface="Arial" panose="020B0604020202020204"/>
              </a:rPr>
              <a:t>How does ARIMA works</a:t>
            </a:r>
          </a:p>
        </p:txBody>
      </p:sp>
      <p:sp>
        <p:nvSpPr>
          <p:cNvPr id="4" name="Text Box 3"/>
          <p:cNvSpPr txBox="1"/>
          <p:nvPr/>
        </p:nvSpPr>
        <p:spPr>
          <a:xfrm>
            <a:off x="228600" y="1600201"/>
            <a:ext cx="8565515" cy="1029449"/>
          </a:xfrm>
          <a:prstGeom prst="rect">
            <a:avLst/>
          </a:prstGeom>
        </p:spPr>
        <p:txBody>
          <a:bodyPr wrap="square">
            <a:spAutoFit/>
          </a:bodyPr>
          <a:lstStyle/>
          <a:p>
            <a:pPr marL="285750" indent="-285750" algn="just">
              <a:lnSpc>
                <a:spcPct val="150000"/>
              </a:lnSpc>
              <a:buFont typeface="Wingdings" panose="05000000000000000000" charset="0"/>
              <a:buChar char="o"/>
            </a:pPr>
            <a:r>
              <a:rPr lang="en-US" sz="1400" b="0" i="0" dirty="0">
                <a:solidFill>
                  <a:srgbClr val="333333"/>
                </a:solidFill>
                <a:effectLst/>
                <a:latin typeface="Merriweather" panose="00000500000000000000" pitchFamily="2" charset="0"/>
              </a:rPr>
              <a:t>We fit both an ARIMA(2,1,0) and an ARIMA(0,1,3) model along with two automated model selections, one using the default stepwise procedure, and one working harder to search a larger model space.</a:t>
            </a:r>
            <a:endParaRPr kumimoji="0" lang="en-US" sz="1400" b="0" i="0" u="none" strike="noStrike" kern="0" cap="none" spc="0" normalizeH="0" baseline="0" noProof="1">
              <a:solidFill>
                <a:srgbClr val="333333"/>
              </a:solidFill>
              <a:effectLst/>
              <a:latin typeface="Book Antiqua" panose="02040602050305030304" pitchFamily="18" charset="0"/>
              <a:ea typeface="Arial" panose="020B0604020202020204" pitchFamily="34" charset="0"/>
              <a:cs typeface="+mn-ea"/>
            </a:endParaRPr>
          </a:p>
        </p:txBody>
      </p:sp>
      <p:sp>
        <p:nvSpPr>
          <p:cNvPr id="9" name="TextBox 8">
            <a:extLst>
              <a:ext uri="{FF2B5EF4-FFF2-40B4-BE49-F238E27FC236}">
                <a16:creationId xmlns:a16="http://schemas.microsoft.com/office/drawing/2014/main" id="{AA446AD1-5C7B-43C4-B898-D58879D4703E}"/>
              </a:ext>
            </a:extLst>
          </p:cNvPr>
          <p:cNvSpPr txBox="1"/>
          <p:nvPr/>
        </p:nvSpPr>
        <p:spPr>
          <a:xfrm>
            <a:off x="349885" y="4688547"/>
            <a:ext cx="4222115" cy="1699761"/>
          </a:xfrm>
          <a:prstGeom prst="rect">
            <a:avLst/>
          </a:prstGeom>
          <a:noFill/>
        </p:spPr>
        <p:txBody>
          <a:bodyPr wrap="square">
            <a:spAutoFit/>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.model   sigma2 </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log_lik</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   AIC  </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AICc</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   BIC</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&lt;</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chr</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&lt;</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dbl</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&lt;</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dbl</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&lt;</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dbl</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&lt;</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dbl</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&lt;</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dbl</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1 search     6.52   -133.  274.  275.  282.</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2 arima210   6.71   -134.  275.  275.  281.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3 arima013   6.54   -133.  274.  275.  282.</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4 stepwise   6.42   -132.  274.  275.  284.</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6ABE5DF7-01F1-40B5-963B-9DDEF0AD4EA7}"/>
              </a:ext>
            </a:extLst>
          </p:cNvPr>
          <p:cNvSpPr txBox="1"/>
          <p:nvPr/>
        </p:nvSpPr>
        <p:spPr>
          <a:xfrm>
            <a:off x="152400" y="2793407"/>
            <a:ext cx="5702559" cy="1683987"/>
          </a:xfrm>
          <a:prstGeom prst="rect">
            <a:avLst/>
          </a:prstGeom>
          <a:noFill/>
        </p:spPr>
        <p:txBody>
          <a:bodyPr wrap="square">
            <a:spAutoFit/>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Country                  `Model name`         Orders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&lt;</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fct</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&lt;</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chr</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&lt;model&gt;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1 Central African Republic arima210     &lt;ARIMA(2,1,0)&gt;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2 Central African Republic arima013     &lt;ARIMA(0,1,3)&gt;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3 Central African Republic stepwise     &lt;ARIMA(2,1,2)&gt;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4 Central African Republic search       &lt;ARIMA(3,1,0)&gt;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456B0A6E-21BD-4304-8EF0-302035A8D70D}"/>
              </a:ext>
            </a:extLst>
          </p:cNvPr>
          <p:cNvSpPr txBox="1"/>
          <p:nvPr/>
        </p:nvSpPr>
        <p:spPr>
          <a:xfrm>
            <a:off x="5638800" y="2395477"/>
            <a:ext cx="3276600" cy="1171154"/>
          </a:xfrm>
          <a:prstGeom prst="rect">
            <a:avLst/>
          </a:prstGeom>
          <a:noFill/>
        </p:spPr>
        <p:txBody>
          <a:bodyPr wrap="square">
            <a:spAutoFit/>
          </a:bodyPr>
          <a:lstStyle/>
          <a:p>
            <a:pPr algn="just">
              <a:lnSpc>
                <a:spcPct val="150000"/>
              </a:lnSpc>
            </a:pPr>
            <a:r>
              <a:rPr lang="en-US" sz="1200" dirty="0">
                <a:solidFill>
                  <a:srgbClr val="333333"/>
                </a:solidFill>
                <a:latin typeface="Merriweather" panose="00000500000000000000" pitchFamily="2" charset="0"/>
              </a:rPr>
              <a:t>The four models have almost identical </a:t>
            </a:r>
            <a:r>
              <a:rPr lang="en-US" sz="1200" dirty="0" err="1">
                <a:solidFill>
                  <a:srgbClr val="333333"/>
                </a:solidFill>
                <a:latin typeface="Merriweather" panose="00000500000000000000" pitchFamily="2" charset="0"/>
              </a:rPr>
              <a:t>AICc</a:t>
            </a:r>
            <a:r>
              <a:rPr lang="en-US" sz="1200" dirty="0">
                <a:solidFill>
                  <a:srgbClr val="333333"/>
                </a:solidFill>
                <a:latin typeface="Merriweather" panose="00000500000000000000" pitchFamily="2" charset="0"/>
              </a:rPr>
              <a:t> values. Of the models fitted, the full search has found that an ARIMA(3,1,0) gives the lowest </a:t>
            </a:r>
            <a:r>
              <a:rPr lang="en-US" sz="1200" dirty="0" err="1">
                <a:solidFill>
                  <a:srgbClr val="333333"/>
                </a:solidFill>
                <a:latin typeface="Merriweather" panose="00000500000000000000" pitchFamily="2" charset="0"/>
              </a:rPr>
              <a:t>AICc</a:t>
            </a:r>
            <a:r>
              <a:rPr lang="en-US" sz="1200" dirty="0">
                <a:solidFill>
                  <a:srgbClr val="333333"/>
                </a:solidFill>
                <a:latin typeface="Merriweather" panose="00000500000000000000" pitchFamily="2" charset="0"/>
              </a:rPr>
              <a:t> value, </a:t>
            </a:r>
            <a:endParaRPr lang="en-IN" sz="1200" dirty="0">
              <a:solidFill>
                <a:srgbClr val="333333"/>
              </a:solidFill>
              <a:latin typeface="Merriweather" panose="00000500000000000000" pitchFamily="2" charset="0"/>
            </a:endParaRPr>
          </a:p>
        </p:txBody>
      </p:sp>
    </p:spTree>
    <p:extLst>
      <p:ext uri="{BB962C8B-B14F-4D97-AF65-F5344CB8AC3E}">
        <p14:creationId xmlns:p14="http://schemas.microsoft.com/office/powerpoint/2010/main" val="2169278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4825"/>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 </a:t>
            </a:r>
            <a:r>
              <a:rPr lang="en-US" altLang="en-IN" sz="3200" b="1" spc="-10" dirty="0">
                <a:solidFill>
                  <a:srgbClr val="FF0000"/>
                </a:solidFill>
                <a:latin typeface="Arial" panose="020B0604020202020204"/>
                <a:ea typeface="+mn-ea"/>
                <a:cs typeface="Arial" panose="020B0604020202020204"/>
              </a:rPr>
              <a:t>How does ARIMA works</a:t>
            </a:r>
          </a:p>
        </p:txBody>
      </p:sp>
      <p:sp>
        <p:nvSpPr>
          <p:cNvPr id="8" name="TextBox 7">
            <a:extLst>
              <a:ext uri="{FF2B5EF4-FFF2-40B4-BE49-F238E27FC236}">
                <a16:creationId xmlns:a16="http://schemas.microsoft.com/office/drawing/2014/main" id="{F22E236A-3DD2-4ED4-B3F5-01B32463904D}"/>
              </a:ext>
            </a:extLst>
          </p:cNvPr>
          <p:cNvSpPr txBox="1"/>
          <p:nvPr/>
        </p:nvSpPr>
        <p:spPr>
          <a:xfrm>
            <a:off x="139958" y="1593825"/>
            <a:ext cx="8470641" cy="703398"/>
          </a:xfrm>
          <a:prstGeom prst="rect">
            <a:avLst/>
          </a:prstGeom>
          <a:noFill/>
        </p:spPr>
        <p:txBody>
          <a:bodyPr wrap="square">
            <a:spAutoFit/>
          </a:bodyPr>
          <a:lstStyle/>
          <a:p>
            <a:pPr>
              <a:lnSpc>
                <a:spcPct val="150000"/>
              </a:lnSpc>
            </a:pPr>
            <a:r>
              <a:rPr lang="en-US" sz="1400" b="0" i="0" dirty="0">
                <a:solidFill>
                  <a:srgbClr val="333333"/>
                </a:solidFill>
                <a:effectLst/>
                <a:latin typeface="Merriweather" panose="00000500000000000000" pitchFamily="2" charset="0"/>
              </a:rPr>
              <a:t>The ACF plot of the residuals from the ARIMA(3,1,0) model shows that all autocorrelations are within the threshold limits, indicating that the residuals are behaving like white noise.</a:t>
            </a:r>
            <a:endParaRPr lang="en-IN" sz="1400" dirty="0"/>
          </a:p>
        </p:txBody>
      </p:sp>
      <p:pic>
        <p:nvPicPr>
          <p:cNvPr id="6146" name="Picture 2" descr="Residual plots for the ARIMA(3,1,0) model.">
            <a:extLst>
              <a:ext uri="{FF2B5EF4-FFF2-40B4-BE49-F238E27FC236}">
                <a16:creationId xmlns:a16="http://schemas.microsoft.com/office/drawing/2014/main" id="{908BD061-4140-4ED5-8067-FE5A4E8FFD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376517"/>
            <a:ext cx="5105400" cy="35052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D8BBEE85-6763-4182-9497-A119BF981733}"/>
              </a:ext>
            </a:extLst>
          </p:cNvPr>
          <p:cNvSpPr txBox="1"/>
          <p:nvPr/>
        </p:nvSpPr>
        <p:spPr>
          <a:xfrm>
            <a:off x="5638800" y="4804499"/>
            <a:ext cx="3124200" cy="1077218"/>
          </a:xfrm>
          <a:prstGeom prst="rect">
            <a:avLst/>
          </a:prstGeom>
          <a:noFill/>
        </p:spPr>
        <p:txBody>
          <a:bodyPr wrap="square">
            <a:spAutoFit/>
          </a:bodyPr>
          <a:lstStyle/>
          <a:p>
            <a:pPr algn="just"/>
            <a:r>
              <a:rPr lang="en-US" sz="1600" b="0" i="0" dirty="0">
                <a:solidFill>
                  <a:srgbClr val="333333"/>
                </a:solidFill>
                <a:effectLst/>
                <a:latin typeface="Book Antiqua" panose="02040602050305030304" pitchFamily="18" charset="0"/>
              </a:rPr>
              <a:t>A portmanteau test (setting K=3) returns a large p-value, also suggesting that the residuals are white noise.</a:t>
            </a:r>
            <a:endParaRPr lang="en-IN" sz="1600" dirty="0">
              <a:latin typeface="Book Antiqua" panose="02040602050305030304" pitchFamily="18" charset="0"/>
            </a:endParaRPr>
          </a:p>
        </p:txBody>
      </p:sp>
      <p:sp>
        <p:nvSpPr>
          <p:cNvPr id="13" name="TextBox 12">
            <a:extLst>
              <a:ext uri="{FF2B5EF4-FFF2-40B4-BE49-F238E27FC236}">
                <a16:creationId xmlns:a16="http://schemas.microsoft.com/office/drawing/2014/main" id="{DF844A11-6AFA-477D-801E-424491A5ADFC}"/>
              </a:ext>
            </a:extLst>
          </p:cNvPr>
          <p:cNvSpPr txBox="1"/>
          <p:nvPr/>
        </p:nvSpPr>
        <p:spPr>
          <a:xfrm>
            <a:off x="3708917" y="5900378"/>
            <a:ext cx="4901682" cy="832792"/>
          </a:xfrm>
          <a:prstGeom prst="rect">
            <a:avLst/>
          </a:prstGeom>
          <a:noFill/>
        </p:spPr>
        <p:txBody>
          <a:bodyPr wrap="square">
            <a:spAutoFit/>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Country                  .model </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lb_stat</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 </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lb_pvalue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&lt;</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fct</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&lt;</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chr</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&lt;</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dbl</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&lt;</a:t>
            </a:r>
            <a:r>
              <a:rPr lang="en-IN" sz="1100" i="1" spc="15" dirty="0" err="1">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dbl</a:t>
            </a: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100" i="1" spc="15" dirty="0">
                <a:solidFill>
                  <a:srgbClr val="8F5902"/>
                </a:solidFill>
                <a:effectLst/>
                <a:latin typeface="Source Code Pro" panose="020B0509030403020204" pitchFamily="49" charset="0"/>
                <a:ea typeface="Times New Roman" panose="02020603050405020304" pitchFamily="18" charset="0"/>
                <a:cs typeface="Courier New" panose="02070309020205020404" pitchFamily="49" charset="0"/>
              </a:rPr>
              <a:t>#&gt; 1 Central African Republic search    5.75     </a:t>
            </a:r>
            <a:r>
              <a:rPr lang="en-IN" sz="1100" b="1" i="1" u="sng" spc="15" dirty="0">
                <a:solidFill>
                  <a:srgbClr val="C00000"/>
                </a:solidFill>
                <a:effectLst/>
                <a:latin typeface="Source Code Pro" panose="020B0509030403020204" pitchFamily="49" charset="0"/>
                <a:ea typeface="Times New Roman" panose="02020603050405020304" pitchFamily="18" charset="0"/>
                <a:cs typeface="Courier New" panose="02070309020205020404" pitchFamily="49" charset="0"/>
              </a:rPr>
              <a:t>0.569</a:t>
            </a:r>
            <a:endParaRPr lang="en-IN" sz="1400" b="1" u="sng"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148456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958" y="141936"/>
            <a:ext cx="7917687" cy="997709"/>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 </a:t>
            </a:r>
            <a:r>
              <a:rPr lang="en-US" sz="3200" b="1" spc="-10" dirty="0">
                <a:solidFill>
                  <a:srgbClr val="FF0000"/>
                </a:solidFill>
                <a:latin typeface="Arial" panose="020B0604020202020204"/>
                <a:ea typeface="+mn-ea"/>
                <a:cs typeface="Arial" panose="020B0604020202020204"/>
              </a:rPr>
              <a:t>The Portmanteau test, also known as the </a:t>
            </a:r>
            <a:r>
              <a:rPr lang="en-US" sz="3200" b="1" spc="-10" dirty="0" err="1">
                <a:solidFill>
                  <a:srgbClr val="FF0000"/>
                </a:solidFill>
                <a:latin typeface="Arial" panose="020B0604020202020204"/>
                <a:ea typeface="+mn-ea"/>
                <a:cs typeface="Arial" panose="020B0604020202020204"/>
              </a:rPr>
              <a:t>Ljung</a:t>
            </a:r>
            <a:r>
              <a:rPr lang="en-US" sz="3200" b="1" spc="-10" dirty="0">
                <a:solidFill>
                  <a:srgbClr val="FF0000"/>
                </a:solidFill>
                <a:latin typeface="Arial" panose="020B0604020202020204"/>
                <a:ea typeface="+mn-ea"/>
                <a:cs typeface="Arial" panose="020B0604020202020204"/>
              </a:rPr>
              <a:t>-Box test</a:t>
            </a:r>
            <a:endParaRPr lang="en-US" altLang="en-IN" sz="3200" b="1" spc="-10" dirty="0">
              <a:solidFill>
                <a:srgbClr val="FF0000"/>
              </a:solidFill>
              <a:latin typeface="Arial" panose="020B0604020202020204"/>
              <a:ea typeface="+mn-ea"/>
              <a:cs typeface="Arial" panose="020B0604020202020204"/>
            </a:endParaRPr>
          </a:p>
        </p:txBody>
      </p:sp>
      <p:sp>
        <p:nvSpPr>
          <p:cNvPr id="9" name="TextBox 8">
            <a:extLst>
              <a:ext uri="{FF2B5EF4-FFF2-40B4-BE49-F238E27FC236}">
                <a16:creationId xmlns:a16="http://schemas.microsoft.com/office/drawing/2014/main" id="{1E350812-2F61-4D57-BB8C-073266E9ABAA}"/>
              </a:ext>
            </a:extLst>
          </p:cNvPr>
          <p:cNvSpPr txBox="1"/>
          <p:nvPr/>
        </p:nvSpPr>
        <p:spPr>
          <a:xfrm>
            <a:off x="139958" y="1447800"/>
            <a:ext cx="8927842" cy="2271904"/>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600" dirty="0">
                <a:latin typeface="Book Antiqua" panose="02040602050305030304" pitchFamily="18" charset="0"/>
              </a:rPr>
              <a:t>The </a:t>
            </a:r>
            <a:r>
              <a:rPr lang="en-US" sz="1600" b="1" dirty="0">
                <a:latin typeface="Book Antiqua" panose="02040602050305030304" pitchFamily="18" charset="0"/>
              </a:rPr>
              <a:t>Portmanteau test</a:t>
            </a:r>
            <a:r>
              <a:rPr lang="en-US" sz="1600" dirty="0">
                <a:latin typeface="Book Antiqua" panose="02040602050305030304" pitchFamily="18" charset="0"/>
              </a:rPr>
              <a:t>, also known as the </a:t>
            </a:r>
            <a:r>
              <a:rPr lang="en-US" sz="1600" b="1" dirty="0" err="1">
                <a:latin typeface="Book Antiqua" panose="02040602050305030304" pitchFamily="18" charset="0"/>
              </a:rPr>
              <a:t>Ljung</a:t>
            </a:r>
            <a:r>
              <a:rPr lang="en-US" sz="1600" b="1" dirty="0">
                <a:latin typeface="Book Antiqua" panose="02040602050305030304" pitchFamily="18" charset="0"/>
              </a:rPr>
              <a:t>-Box test</a:t>
            </a:r>
            <a:r>
              <a:rPr lang="en-US" sz="1600" dirty="0">
                <a:latin typeface="Book Antiqua" panose="02040602050305030304" pitchFamily="18" charset="0"/>
              </a:rPr>
              <a:t>, is a statistical test used to determine whether there are significant autocorrelations in a time series. </a:t>
            </a:r>
          </a:p>
          <a:p>
            <a:pPr marL="285750" indent="-285750" algn="just">
              <a:lnSpc>
                <a:spcPct val="150000"/>
              </a:lnSpc>
              <a:buFont typeface="Wingdings" panose="05000000000000000000" pitchFamily="2" charset="2"/>
              <a:buChar char="q"/>
            </a:pPr>
            <a:r>
              <a:rPr lang="en-US" sz="1600" dirty="0">
                <a:latin typeface="Book Antiqua" panose="02040602050305030304" pitchFamily="18" charset="0"/>
              </a:rPr>
              <a:t>It assesses the null hypothesis that the residuals from a fitted model (like an ARIMA model) are independently distributed.</a:t>
            </a:r>
          </a:p>
          <a:p>
            <a:pPr marL="285750" indent="-285750" algn="just">
              <a:lnSpc>
                <a:spcPct val="150000"/>
              </a:lnSpc>
              <a:buFont typeface="Wingdings" panose="05000000000000000000" pitchFamily="2" charset="2"/>
              <a:buChar char="q"/>
            </a:pPr>
            <a:r>
              <a:rPr lang="en-US" sz="1600" dirty="0">
                <a:latin typeface="Book Antiqua" panose="02040602050305030304" pitchFamily="18" charset="0"/>
              </a:rPr>
              <a:t>The test computes a statistic based on the autocorrelations of the residuals up to a certain lag. </a:t>
            </a:r>
          </a:p>
          <a:p>
            <a:pPr marL="285750" indent="-285750" algn="just">
              <a:lnSpc>
                <a:spcPct val="150000"/>
              </a:lnSpc>
              <a:buFont typeface="Wingdings" panose="05000000000000000000" pitchFamily="2" charset="2"/>
              <a:buChar char="q"/>
            </a:pPr>
            <a:r>
              <a:rPr lang="en-US" sz="1600" dirty="0">
                <a:latin typeface="Book Antiqua" panose="02040602050305030304" pitchFamily="18" charset="0"/>
              </a:rPr>
              <a:t>If the statistic is significantly large, it suggests that there are autocorrelations present.</a:t>
            </a:r>
            <a:endParaRPr lang="en-IN" sz="1600" dirty="0">
              <a:latin typeface="Book Antiqua" panose="02040602050305030304" pitchFamily="18" charset="0"/>
            </a:endParaRPr>
          </a:p>
        </p:txBody>
      </p:sp>
      <p:sp>
        <p:nvSpPr>
          <p:cNvPr id="10" name="TextBox 9">
            <a:extLst>
              <a:ext uri="{FF2B5EF4-FFF2-40B4-BE49-F238E27FC236}">
                <a16:creationId xmlns:a16="http://schemas.microsoft.com/office/drawing/2014/main" id="{175E4AA2-57C4-4A30-A4FD-CEA966D0CCFA}"/>
              </a:ext>
            </a:extLst>
          </p:cNvPr>
          <p:cNvSpPr txBox="1"/>
          <p:nvPr/>
        </p:nvSpPr>
        <p:spPr>
          <a:xfrm>
            <a:off x="139958" y="4027859"/>
            <a:ext cx="8763000" cy="2645789"/>
          </a:xfrm>
          <a:prstGeom prst="rect">
            <a:avLst/>
          </a:prstGeom>
          <a:noFill/>
        </p:spPr>
        <p:txBody>
          <a:bodyPr wrap="square">
            <a:spAutoFit/>
          </a:bodyPr>
          <a:lstStyle/>
          <a:p>
            <a:pPr algn="just"/>
            <a:r>
              <a:rPr lang="en-US" sz="1400" b="1" dirty="0">
                <a:latin typeface="Book Antiqua" panose="02040602050305030304" pitchFamily="18" charset="0"/>
              </a:rPr>
              <a:t>Steps:</a:t>
            </a:r>
          </a:p>
          <a:p>
            <a:pPr marL="269875" algn="just">
              <a:lnSpc>
                <a:spcPct val="150000"/>
              </a:lnSpc>
              <a:buFont typeface="+mj-lt"/>
              <a:buAutoNum type="arabicPeriod"/>
            </a:pPr>
            <a:r>
              <a:rPr lang="en-US" sz="1400" b="1" dirty="0">
                <a:latin typeface="Book Antiqua" panose="02040602050305030304" pitchFamily="18" charset="0"/>
              </a:rPr>
              <a:t>Fit a model</a:t>
            </a:r>
            <a:r>
              <a:rPr lang="en-US" sz="1400" dirty="0">
                <a:latin typeface="Book Antiqua" panose="02040602050305030304" pitchFamily="18" charset="0"/>
              </a:rPr>
              <a:t> to your time series data (e.g., ARIMA).</a:t>
            </a:r>
          </a:p>
          <a:p>
            <a:pPr marL="269875" algn="just">
              <a:lnSpc>
                <a:spcPct val="150000"/>
              </a:lnSpc>
              <a:buFont typeface="+mj-lt"/>
              <a:buAutoNum type="arabicPeriod"/>
            </a:pPr>
            <a:r>
              <a:rPr lang="en-US" sz="1400" b="1" dirty="0">
                <a:latin typeface="Book Antiqua" panose="02040602050305030304" pitchFamily="18" charset="0"/>
              </a:rPr>
              <a:t>Calculate the residuals</a:t>
            </a:r>
            <a:r>
              <a:rPr lang="en-US" sz="1400" dirty="0">
                <a:latin typeface="Book Antiqua" panose="02040602050305030304" pitchFamily="18" charset="0"/>
              </a:rPr>
              <a:t> from the fitted model.</a:t>
            </a:r>
          </a:p>
          <a:p>
            <a:pPr marL="269875" algn="just">
              <a:lnSpc>
                <a:spcPct val="150000"/>
              </a:lnSpc>
              <a:buFont typeface="+mj-lt"/>
              <a:buAutoNum type="arabicPeriod"/>
            </a:pPr>
            <a:r>
              <a:rPr lang="en-US" sz="1400" b="1" dirty="0">
                <a:latin typeface="Book Antiqua" panose="02040602050305030304" pitchFamily="18" charset="0"/>
              </a:rPr>
              <a:t>Conduct the Portmanteau test</a:t>
            </a:r>
            <a:r>
              <a:rPr lang="en-US" sz="1400" dirty="0">
                <a:latin typeface="Book Antiqua" panose="02040602050305030304" pitchFamily="18" charset="0"/>
              </a:rPr>
              <a:t> on these residuals to check for autocorrelation.</a:t>
            </a:r>
          </a:p>
          <a:p>
            <a:pPr algn="just"/>
            <a:endParaRPr lang="en-US" sz="1400" dirty="0">
              <a:latin typeface="Book Antiqua" panose="02040602050305030304" pitchFamily="18" charset="0"/>
            </a:endParaRPr>
          </a:p>
          <a:p>
            <a:pPr algn="just"/>
            <a:r>
              <a:rPr lang="en-US" sz="1400" b="1" dirty="0">
                <a:latin typeface="Book Antiqua" panose="02040602050305030304" pitchFamily="18" charset="0"/>
              </a:rPr>
              <a:t>Interpretation:</a:t>
            </a:r>
          </a:p>
          <a:p>
            <a:pPr marL="269875" algn="just">
              <a:lnSpc>
                <a:spcPct val="150000"/>
              </a:lnSpc>
              <a:buFont typeface="Arial" panose="020B0604020202020204" pitchFamily="34" charset="0"/>
              <a:buChar char="•"/>
            </a:pPr>
            <a:r>
              <a:rPr lang="en-US" sz="1400" dirty="0">
                <a:latin typeface="Book Antiqua" panose="02040602050305030304" pitchFamily="18" charset="0"/>
              </a:rPr>
              <a:t>A low p-value (commonly less than 0.05) indicates that you should reject the null hypothesis, suggesting that there are significant autocorrelations in the residuals.</a:t>
            </a:r>
          </a:p>
          <a:p>
            <a:pPr marL="269875" algn="just">
              <a:lnSpc>
                <a:spcPct val="150000"/>
              </a:lnSpc>
              <a:buFont typeface="Arial" panose="020B0604020202020204" pitchFamily="34" charset="0"/>
              <a:buChar char="•"/>
            </a:pPr>
            <a:r>
              <a:rPr lang="en-US" sz="1400" dirty="0">
                <a:latin typeface="Book Antiqua" panose="02040602050305030304" pitchFamily="18" charset="0"/>
              </a:rPr>
              <a:t>A high p-value indicates that the residuals behave like white noise, and the model may be adequate.</a:t>
            </a:r>
          </a:p>
        </p:txBody>
      </p:sp>
    </p:spTree>
    <p:extLst>
      <p:ext uri="{BB962C8B-B14F-4D97-AF65-F5344CB8AC3E}">
        <p14:creationId xmlns:p14="http://schemas.microsoft.com/office/powerpoint/2010/main" val="21940907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958" y="141936"/>
            <a:ext cx="7917687" cy="997709"/>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 </a:t>
            </a:r>
            <a:r>
              <a:rPr lang="en-US" sz="3200" b="1" spc="-10" dirty="0">
                <a:solidFill>
                  <a:srgbClr val="FF0000"/>
                </a:solidFill>
                <a:latin typeface="Arial" panose="020B0604020202020204"/>
                <a:ea typeface="+mn-ea"/>
                <a:cs typeface="Arial" panose="020B0604020202020204"/>
              </a:rPr>
              <a:t>The Portmanteau test, also known as the </a:t>
            </a:r>
            <a:r>
              <a:rPr lang="en-US" sz="3200" b="1" spc="-10" dirty="0" err="1">
                <a:solidFill>
                  <a:srgbClr val="FF0000"/>
                </a:solidFill>
                <a:latin typeface="Arial" panose="020B0604020202020204"/>
                <a:ea typeface="+mn-ea"/>
                <a:cs typeface="Arial" panose="020B0604020202020204"/>
              </a:rPr>
              <a:t>Ljung</a:t>
            </a:r>
            <a:r>
              <a:rPr lang="en-US" sz="3200" b="1" spc="-10" dirty="0">
                <a:solidFill>
                  <a:srgbClr val="FF0000"/>
                </a:solidFill>
                <a:latin typeface="Arial" panose="020B0604020202020204"/>
                <a:ea typeface="+mn-ea"/>
                <a:cs typeface="Arial" panose="020B0604020202020204"/>
              </a:rPr>
              <a:t>-Box test</a:t>
            </a:r>
            <a:endParaRPr lang="en-US" altLang="en-IN" sz="3200" b="1" spc="-10" dirty="0">
              <a:solidFill>
                <a:srgbClr val="FF0000"/>
              </a:solidFill>
              <a:latin typeface="Arial" panose="020B0604020202020204"/>
              <a:ea typeface="+mn-ea"/>
              <a:cs typeface="Arial" panose="020B0604020202020204"/>
            </a:endParaRPr>
          </a:p>
        </p:txBody>
      </p:sp>
      <p:sp>
        <p:nvSpPr>
          <p:cNvPr id="6" name="TextBox 5">
            <a:extLst>
              <a:ext uri="{FF2B5EF4-FFF2-40B4-BE49-F238E27FC236}">
                <a16:creationId xmlns:a16="http://schemas.microsoft.com/office/drawing/2014/main" id="{C3BE8D32-1222-4139-A369-E32DD6DE7FAC}"/>
              </a:ext>
            </a:extLst>
          </p:cNvPr>
          <p:cNvSpPr txBox="1"/>
          <p:nvPr/>
        </p:nvSpPr>
        <p:spPr>
          <a:xfrm>
            <a:off x="0" y="1524000"/>
            <a:ext cx="9067800" cy="307777"/>
          </a:xfrm>
          <a:prstGeom prst="rect">
            <a:avLst/>
          </a:prstGeom>
          <a:noFill/>
        </p:spPr>
        <p:txBody>
          <a:bodyPr wrap="square">
            <a:spAutoFit/>
          </a:bodyPr>
          <a:lstStyle/>
          <a:p>
            <a:r>
              <a:rPr lang="en-US" sz="1400" dirty="0">
                <a:latin typeface="Book Antiqua" panose="02040602050305030304" pitchFamily="18" charset="0"/>
              </a:rPr>
              <a:t>We’ll generate data, fit an ARIMA model, and perform the </a:t>
            </a:r>
            <a:r>
              <a:rPr lang="en-US" sz="1400" dirty="0" err="1">
                <a:latin typeface="Book Antiqua" panose="02040602050305030304" pitchFamily="18" charset="0"/>
              </a:rPr>
              <a:t>Ljung</a:t>
            </a:r>
            <a:r>
              <a:rPr lang="en-US" sz="1400" dirty="0">
                <a:latin typeface="Book Antiqua" panose="02040602050305030304" pitchFamily="18" charset="0"/>
              </a:rPr>
              <a:t>-Box test step by step, including calculations.</a:t>
            </a:r>
            <a:endParaRPr lang="en-IN" sz="1400" dirty="0">
              <a:latin typeface="Book Antiqua" panose="02040602050305030304" pitchFamily="18" charset="0"/>
            </a:endParaRPr>
          </a:p>
        </p:txBody>
      </p:sp>
      <p:sp>
        <p:nvSpPr>
          <p:cNvPr id="8" name="TextBox 7">
            <a:extLst>
              <a:ext uri="{FF2B5EF4-FFF2-40B4-BE49-F238E27FC236}">
                <a16:creationId xmlns:a16="http://schemas.microsoft.com/office/drawing/2014/main" id="{A7CF6C9C-1E6F-4065-B438-580A53DDCA59}"/>
              </a:ext>
            </a:extLst>
          </p:cNvPr>
          <p:cNvSpPr txBox="1"/>
          <p:nvPr/>
        </p:nvSpPr>
        <p:spPr>
          <a:xfrm>
            <a:off x="139958" y="1892966"/>
            <a:ext cx="4889242" cy="307777"/>
          </a:xfrm>
          <a:prstGeom prst="rect">
            <a:avLst/>
          </a:prstGeom>
          <a:noFill/>
        </p:spPr>
        <p:txBody>
          <a:bodyPr wrap="square">
            <a:spAutoFit/>
          </a:bodyPr>
          <a:lstStyle/>
          <a:p>
            <a:r>
              <a:rPr lang="en-US" sz="1400" dirty="0">
                <a:latin typeface="Book Antiqua" panose="02040602050305030304" pitchFamily="18" charset="0"/>
              </a:rPr>
              <a:t>Assume we have the following synthetic time series data:</a:t>
            </a:r>
            <a:endParaRPr lang="en-IN" sz="1400" dirty="0">
              <a:latin typeface="Book Antiqua" panose="02040602050305030304" pitchFamily="18" charset="0"/>
            </a:endParaRPr>
          </a:p>
        </p:txBody>
      </p:sp>
      <p:pic>
        <p:nvPicPr>
          <p:cNvPr id="32" name="Picture 31">
            <a:extLst>
              <a:ext uri="{FF2B5EF4-FFF2-40B4-BE49-F238E27FC236}">
                <a16:creationId xmlns:a16="http://schemas.microsoft.com/office/drawing/2014/main" id="{1847922B-90A5-4682-AFA4-3562F164BFB4}"/>
              </a:ext>
            </a:extLst>
          </p:cNvPr>
          <p:cNvPicPr>
            <a:picLocks noChangeAspect="1"/>
          </p:cNvPicPr>
          <p:nvPr/>
        </p:nvPicPr>
        <p:blipFill>
          <a:blip r:embed="rId2"/>
          <a:stretch>
            <a:fillRect/>
          </a:stretch>
        </p:blipFill>
        <p:spPr>
          <a:xfrm>
            <a:off x="304800" y="2297699"/>
            <a:ext cx="542925" cy="3581400"/>
          </a:xfrm>
          <a:prstGeom prst="rect">
            <a:avLst/>
          </a:prstGeom>
        </p:spPr>
      </p:pic>
      <p:pic>
        <p:nvPicPr>
          <p:cNvPr id="34" name="Picture 33">
            <a:extLst>
              <a:ext uri="{FF2B5EF4-FFF2-40B4-BE49-F238E27FC236}">
                <a16:creationId xmlns:a16="http://schemas.microsoft.com/office/drawing/2014/main" id="{46B92AFD-29C8-4D20-B0A3-55756247276F}"/>
              </a:ext>
            </a:extLst>
          </p:cNvPr>
          <p:cNvPicPr>
            <a:picLocks noChangeAspect="1"/>
          </p:cNvPicPr>
          <p:nvPr/>
        </p:nvPicPr>
        <p:blipFill>
          <a:blip r:embed="rId3"/>
          <a:stretch>
            <a:fillRect/>
          </a:stretch>
        </p:blipFill>
        <p:spPr>
          <a:xfrm>
            <a:off x="847725" y="2286000"/>
            <a:ext cx="485775" cy="3600450"/>
          </a:xfrm>
          <a:prstGeom prst="rect">
            <a:avLst/>
          </a:prstGeom>
        </p:spPr>
      </p:pic>
      <p:sp>
        <p:nvSpPr>
          <p:cNvPr id="36" name="TextBox 35">
            <a:extLst>
              <a:ext uri="{FF2B5EF4-FFF2-40B4-BE49-F238E27FC236}">
                <a16:creationId xmlns:a16="http://schemas.microsoft.com/office/drawing/2014/main" id="{943B6903-0E00-48D5-83D0-E51184BEDAC0}"/>
              </a:ext>
            </a:extLst>
          </p:cNvPr>
          <p:cNvSpPr txBox="1"/>
          <p:nvPr/>
        </p:nvSpPr>
        <p:spPr>
          <a:xfrm>
            <a:off x="1876424" y="2297699"/>
            <a:ext cx="6276975" cy="307777"/>
          </a:xfrm>
          <a:prstGeom prst="rect">
            <a:avLst/>
          </a:prstGeom>
          <a:noFill/>
        </p:spPr>
        <p:txBody>
          <a:bodyPr wrap="square">
            <a:spAutoFit/>
          </a:bodyPr>
          <a:lstStyle/>
          <a:p>
            <a:r>
              <a:rPr lang="en-US" sz="1400" dirty="0">
                <a:latin typeface="Book Antiqua" panose="02040602050305030304" pitchFamily="18" charset="0"/>
              </a:rPr>
              <a:t>Let's say we fit an ARIMA(1, 1, 1) model to the data.</a:t>
            </a:r>
            <a:endParaRPr lang="en-IN" sz="1400" dirty="0">
              <a:latin typeface="Book Antiqua" panose="02040602050305030304" pitchFamily="18" charset="0"/>
            </a:endParaRPr>
          </a:p>
        </p:txBody>
      </p:sp>
      <p:sp>
        <p:nvSpPr>
          <p:cNvPr id="38" name="TextBox 37">
            <a:extLst>
              <a:ext uri="{FF2B5EF4-FFF2-40B4-BE49-F238E27FC236}">
                <a16:creationId xmlns:a16="http://schemas.microsoft.com/office/drawing/2014/main" id="{88A8D462-18EC-4338-BB70-C74B3B8C364E}"/>
              </a:ext>
            </a:extLst>
          </p:cNvPr>
          <p:cNvSpPr txBox="1"/>
          <p:nvPr/>
        </p:nvSpPr>
        <p:spPr>
          <a:xfrm>
            <a:off x="1876424" y="2605476"/>
            <a:ext cx="6276975" cy="1169551"/>
          </a:xfrm>
          <a:prstGeom prst="rect">
            <a:avLst/>
          </a:prstGeom>
          <a:noFill/>
        </p:spPr>
        <p:txBody>
          <a:bodyPr wrap="square">
            <a:spAutoFit/>
          </a:bodyPr>
          <a:lstStyle/>
          <a:p>
            <a:r>
              <a:rPr lang="en-US" sz="1400" b="1" dirty="0">
                <a:latin typeface="Book Antiqua" panose="02040602050305030304" pitchFamily="18" charset="0"/>
              </a:rPr>
              <a:t>Calculation of Residuals</a:t>
            </a:r>
          </a:p>
          <a:p>
            <a:r>
              <a:rPr lang="en-US" sz="1400" dirty="0">
                <a:latin typeface="Book Antiqua" panose="02040602050305030304" pitchFamily="18" charset="0"/>
              </a:rPr>
              <a:t>Assuming we fit the model and get the following estimated parameters:</a:t>
            </a:r>
          </a:p>
          <a:p>
            <a:pPr>
              <a:buFont typeface="Arial" panose="020B0604020202020204" pitchFamily="34" charset="0"/>
              <a:buChar char="•"/>
            </a:pPr>
            <a:r>
              <a:rPr lang="en-US" sz="1400" dirty="0">
                <a:latin typeface="Book Antiqua" panose="02040602050305030304" pitchFamily="18" charset="0"/>
              </a:rPr>
              <a:t>AR(1) coefficient = 0.5</a:t>
            </a:r>
          </a:p>
          <a:p>
            <a:pPr>
              <a:buFont typeface="Arial" panose="020B0604020202020204" pitchFamily="34" charset="0"/>
              <a:buChar char="•"/>
            </a:pPr>
            <a:r>
              <a:rPr lang="en-US" sz="1400" dirty="0">
                <a:latin typeface="Book Antiqua" panose="02040602050305030304" pitchFamily="18" charset="0"/>
              </a:rPr>
              <a:t>MA(1) coefficient = -0.3</a:t>
            </a:r>
          </a:p>
          <a:p>
            <a:pPr>
              <a:buFont typeface="Arial" panose="020B0604020202020204" pitchFamily="34" charset="0"/>
              <a:buChar char="•"/>
            </a:pPr>
            <a:r>
              <a:rPr lang="en-US" sz="1400" dirty="0">
                <a:latin typeface="Book Antiqua" panose="02040602050305030304" pitchFamily="18" charset="0"/>
              </a:rPr>
              <a:t>Constant = 1.5</a:t>
            </a:r>
          </a:p>
        </p:txBody>
      </p:sp>
      <p:sp>
        <p:nvSpPr>
          <p:cNvPr id="40" name="TextBox 39">
            <a:extLst>
              <a:ext uri="{FF2B5EF4-FFF2-40B4-BE49-F238E27FC236}">
                <a16:creationId xmlns:a16="http://schemas.microsoft.com/office/drawing/2014/main" id="{21584EC6-7229-4FC9-B742-FDE272962B17}"/>
              </a:ext>
            </a:extLst>
          </p:cNvPr>
          <p:cNvSpPr txBox="1"/>
          <p:nvPr/>
        </p:nvSpPr>
        <p:spPr>
          <a:xfrm>
            <a:off x="1714500" y="3733800"/>
            <a:ext cx="6629400" cy="307777"/>
          </a:xfrm>
          <a:prstGeom prst="rect">
            <a:avLst/>
          </a:prstGeom>
          <a:noFill/>
        </p:spPr>
        <p:txBody>
          <a:bodyPr wrap="square">
            <a:spAutoFit/>
          </a:bodyPr>
          <a:lstStyle/>
          <a:p>
            <a:r>
              <a:rPr lang="en-US" sz="1400" dirty="0">
                <a:latin typeface="Book Antiqua" panose="02040602050305030304" pitchFamily="18" charset="0"/>
              </a:rPr>
              <a:t>The fitted values and residuals might look like this:</a:t>
            </a:r>
            <a:endParaRPr lang="en-IN" sz="1400" dirty="0">
              <a:latin typeface="Book Antiqua" panose="02040602050305030304" pitchFamily="18" charset="0"/>
            </a:endParaRPr>
          </a:p>
        </p:txBody>
      </p:sp>
      <p:pic>
        <p:nvPicPr>
          <p:cNvPr id="42" name="Picture 41">
            <a:extLst>
              <a:ext uri="{FF2B5EF4-FFF2-40B4-BE49-F238E27FC236}">
                <a16:creationId xmlns:a16="http://schemas.microsoft.com/office/drawing/2014/main" id="{E9F6178F-59C4-478C-A187-A61CFD43E355}"/>
              </a:ext>
            </a:extLst>
          </p:cNvPr>
          <p:cNvPicPr>
            <a:picLocks noChangeAspect="1"/>
          </p:cNvPicPr>
          <p:nvPr/>
        </p:nvPicPr>
        <p:blipFill>
          <a:blip r:embed="rId4"/>
          <a:stretch>
            <a:fillRect/>
          </a:stretch>
        </p:blipFill>
        <p:spPr>
          <a:xfrm>
            <a:off x="2584579" y="4041577"/>
            <a:ext cx="4614862" cy="2300518"/>
          </a:xfrm>
          <a:prstGeom prst="rect">
            <a:avLst/>
          </a:prstGeom>
        </p:spPr>
      </p:pic>
    </p:spTree>
    <p:extLst>
      <p:ext uri="{BB962C8B-B14F-4D97-AF65-F5344CB8AC3E}">
        <p14:creationId xmlns:p14="http://schemas.microsoft.com/office/powerpoint/2010/main" val="1880458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958" y="141936"/>
            <a:ext cx="7917687" cy="997709"/>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 </a:t>
            </a:r>
            <a:r>
              <a:rPr lang="en-US" sz="3200" b="1" spc="-10" dirty="0">
                <a:solidFill>
                  <a:srgbClr val="FF0000"/>
                </a:solidFill>
                <a:latin typeface="Arial" panose="020B0604020202020204"/>
                <a:ea typeface="+mn-ea"/>
                <a:cs typeface="Arial" panose="020B0604020202020204"/>
              </a:rPr>
              <a:t>The Portmanteau test, also known as the </a:t>
            </a:r>
            <a:r>
              <a:rPr lang="en-US" sz="3200" b="1" spc="-10" dirty="0" err="1">
                <a:solidFill>
                  <a:srgbClr val="FF0000"/>
                </a:solidFill>
                <a:latin typeface="Arial" panose="020B0604020202020204"/>
                <a:ea typeface="+mn-ea"/>
                <a:cs typeface="Arial" panose="020B0604020202020204"/>
              </a:rPr>
              <a:t>Ljung</a:t>
            </a:r>
            <a:r>
              <a:rPr lang="en-US" sz="3200" b="1" spc="-10" dirty="0">
                <a:solidFill>
                  <a:srgbClr val="FF0000"/>
                </a:solidFill>
                <a:latin typeface="Arial" panose="020B0604020202020204"/>
                <a:ea typeface="+mn-ea"/>
                <a:cs typeface="Arial" panose="020B0604020202020204"/>
              </a:rPr>
              <a:t>-Box test</a:t>
            </a:r>
            <a:endParaRPr lang="en-US" altLang="en-IN" sz="3200" b="1" spc="-10" dirty="0">
              <a:solidFill>
                <a:srgbClr val="FF0000"/>
              </a:solidFill>
              <a:latin typeface="Arial" panose="020B0604020202020204"/>
              <a:ea typeface="+mn-ea"/>
              <a:cs typeface="Arial" panose="020B0604020202020204"/>
            </a:endParaRPr>
          </a:p>
        </p:txBody>
      </p:sp>
      <p:sp>
        <p:nvSpPr>
          <p:cNvPr id="12" name="TextBox 11">
            <a:extLst>
              <a:ext uri="{FF2B5EF4-FFF2-40B4-BE49-F238E27FC236}">
                <a16:creationId xmlns:a16="http://schemas.microsoft.com/office/drawing/2014/main" id="{CA43161E-A455-41A5-989D-FF20BEFF4EA3}"/>
              </a:ext>
            </a:extLst>
          </p:cNvPr>
          <p:cNvSpPr txBox="1"/>
          <p:nvPr/>
        </p:nvSpPr>
        <p:spPr>
          <a:xfrm>
            <a:off x="121297" y="1524000"/>
            <a:ext cx="8851642" cy="2462213"/>
          </a:xfrm>
          <a:prstGeom prst="rect">
            <a:avLst/>
          </a:prstGeom>
          <a:noFill/>
        </p:spPr>
        <p:txBody>
          <a:bodyPr wrap="square">
            <a:spAutoFit/>
          </a:bodyPr>
          <a:lstStyle/>
          <a:p>
            <a:r>
              <a:rPr lang="en-US" sz="1400" dirty="0">
                <a:latin typeface="Book Antiqua" panose="02040602050305030304" pitchFamily="18" charset="0"/>
              </a:rPr>
              <a:t>We will use the residuals to perform the </a:t>
            </a:r>
            <a:r>
              <a:rPr lang="en-US" sz="1400" dirty="0" err="1">
                <a:latin typeface="Book Antiqua" panose="02040602050305030304" pitchFamily="18" charset="0"/>
              </a:rPr>
              <a:t>Ljung</a:t>
            </a:r>
            <a:r>
              <a:rPr lang="en-US" sz="1400" dirty="0">
                <a:latin typeface="Book Antiqua" panose="02040602050305030304" pitchFamily="18" charset="0"/>
              </a:rPr>
              <a:t>-Box test. For our example, we calculate the test statistic manually.</a:t>
            </a:r>
          </a:p>
          <a:p>
            <a:r>
              <a:rPr lang="en-US" sz="1400" b="1" dirty="0">
                <a:latin typeface="Book Antiqua" panose="02040602050305030304" pitchFamily="18" charset="0"/>
              </a:rPr>
              <a:t>Step-by-Step Calculation:</a:t>
            </a:r>
          </a:p>
          <a:p>
            <a:endParaRPr lang="en-US" sz="1400" b="1" dirty="0">
              <a:latin typeface="Book Antiqua" panose="02040602050305030304" pitchFamily="18" charset="0"/>
            </a:endParaRPr>
          </a:p>
          <a:p>
            <a:pPr>
              <a:buFont typeface="+mj-lt"/>
              <a:buAutoNum type="arabicPeriod"/>
            </a:pPr>
            <a:r>
              <a:rPr lang="en-US" sz="1400" b="1" dirty="0">
                <a:latin typeface="Book Antiqua" panose="02040602050305030304" pitchFamily="18" charset="0"/>
              </a:rPr>
              <a:t> Calculate Autocorrelations</a:t>
            </a:r>
            <a:r>
              <a:rPr lang="en-US" sz="1400" dirty="0">
                <a:latin typeface="Book Antiqua" panose="02040602050305030304" pitchFamily="18" charset="0"/>
              </a:rPr>
              <a:t>:</a:t>
            </a:r>
          </a:p>
          <a:p>
            <a:pPr marL="742950" lvl="1" indent="-285750">
              <a:buFont typeface="+mj-lt"/>
              <a:buAutoNum type="arabicPeriod"/>
            </a:pPr>
            <a:r>
              <a:rPr lang="en-US" sz="1400" dirty="0">
                <a:latin typeface="Book Antiqua" panose="02040602050305030304" pitchFamily="18" charset="0"/>
              </a:rPr>
              <a:t>Compute the sample autocorrelations </a:t>
            </a:r>
            <a:r>
              <a:rPr lang="en-US" sz="1400" dirty="0" err="1">
                <a:latin typeface="Book Antiqua" panose="02040602050305030304" pitchFamily="18" charset="0"/>
              </a:rPr>
              <a:t>rk</a:t>
            </a:r>
            <a:r>
              <a:rPr lang="en-US" sz="1400" dirty="0">
                <a:latin typeface="Book Antiqua" panose="02040602050305030304" pitchFamily="18" charset="0"/>
              </a:rPr>
              <a:t>​ for k=1,2,…,m where m is the number of lags.</a:t>
            </a:r>
          </a:p>
          <a:p>
            <a:pPr marL="742950" lvl="1" indent="-285750">
              <a:buFont typeface="+mj-lt"/>
              <a:buAutoNum type="arabicPeriod"/>
            </a:pPr>
            <a:r>
              <a:rPr lang="en-US" sz="1400" dirty="0">
                <a:latin typeface="Book Antiqua" panose="02040602050305030304" pitchFamily="18" charset="0"/>
              </a:rPr>
              <a:t>Let’s say we calculate r1,r2,r3,r4</a:t>
            </a:r>
          </a:p>
          <a:p>
            <a:pPr marL="742950" lvl="1" indent="-285750">
              <a:buFont typeface="+mj-lt"/>
              <a:buAutoNum type="arabicPeriod"/>
            </a:pPr>
            <a:endParaRPr lang="en-US" sz="1400" dirty="0">
              <a:latin typeface="Book Antiqua" panose="02040602050305030304" pitchFamily="18" charset="0"/>
            </a:endParaRPr>
          </a:p>
          <a:p>
            <a:pPr lvl="1"/>
            <a:r>
              <a:rPr lang="en-IN" sz="1400" b="1" dirty="0"/>
              <a:t>2. Calculate the Test Statistic</a:t>
            </a:r>
            <a:r>
              <a:rPr lang="en-IN" sz="1400" dirty="0"/>
              <a:t>:</a:t>
            </a:r>
            <a:endParaRPr lang="en-US" sz="1400" dirty="0">
              <a:latin typeface="Book Antiqua" panose="02040602050305030304" pitchFamily="18" charset="0"/>
            </a:endParaRPr>
          </a:p>
          <a:p>
            <a:pPr marL="742950" lvl="1" indent="-285750">
              <a:buFont typeface="+mj-lt"/>
              <a:buAutoNum type="arabicPeriod"/>
            </a:pPr>
            <a:endParaRPr lang="en-US" sz="1400" dirty="0">
              <a:latin typeface="Book Antiqua" panose="02040602050305030304" pitchFamily="18" charset="0"/>
            </a:endParaRPr>
          </a:p>
          <a:p>
            <a:pPr marL="457200" lvl="1"/>
            <a:endParaRPr lang="en-US" sz="1400" dirty="0">
              <a:latin typeface="Book Antiqua" panose="02040602050305030304" pitchFamily="18" charset="0"/>
            </a:endParaRPr>
          </a:p>
        </p:txBody>
      </p:sp>
      <p:pic>
        <p:nvPicPr>
          <p:cNvPr id="7" name="Picture 6">
            <a:extLst>
              <a:ext uri="{FF2B5EF4-FFF2-40B4-BE49-F238E27FC236}">
                <a16:creationId xmlns:a16="http://schemas.microsoft.com/office/drawing/2014/main" id="{4C34BF92-F428-4A21-AF2D-20F058CBF2F3}"/>
              </a:ext>
            </a:extLst>
          </p:cNvPr>
          <p:cNvPicPr>
            <a:picLocks noChangeAspect="1"/>
          </p:cNvPicPr>
          <p:nvPr/>
        </p:nvPicPr>
        <p:blipFill>
          <a:blip r:embed="rId2"/>
          <a:stretch>
            <a:fillRect/>
          </a:stretch>
        </p:blipFill>
        <p:spPr>
          <a:xfrm>
            <a:off x="762000" y="3505200"/>
            <a:ext cx="2152650" cy="685800"/>
          </a:xfrm>
          <a:prstGeom prst="rect">
            <a:avLst/>
          </a:prstGeom>
        </p:spPr>
      </p:pic>
      <p:sp>
        <p:nvSpPr>
          <p:cNvPr id="18" name="TextBox 17">
            <a:extLst>
              <a:ext uri="{FF2B5EF4-FFF2-40B4-BE49-F238E27FC236}">
                <a16:creationId xmlns:a16="http://schemas.microsoft.com/office/drawing/2014/main" id="{A27B90C2-C2AB-4A72-829E-62E4CCE9BCF5}"/>
              </a:ext>
            </a:extLst>
          </p:cNvPr>
          <p:cNvSpPr txBox="1"/>
          <p:nvPr/>
        </p:nvSpPr>
        <p:spPr>
          <a:xfrm>
            <a:off x="228600" y="4370568"/>
            <a:ext cx="2819400" cy="1384995"/>
          </a:xfrm>
          <a:prstGeom prst="rect">
            <a:avLst/>
          </a:prstGeom>
          <a:noFill/>
        </p:spPr>
        <p:txBody>
          <a:bodyPr wrap="square">
            <a:spAutoFit/>
          </a:bodyPr>
          <a:lstStyle/>
          <a:p>
            <a:r>
              <a:rPr lang="pt-BR" sz="1400" dirty="0">
                <a:latin typeface="Book Antiqua" panose="02040602050305030304" pitchFamily="18" charset="0"/>
              </a:rPr>
              <a:t>Assume we find:</a:t>
            </a:r>
          </a:p>
          <a:p>
            <a:pPr>
              <a:buFont typeface="Arial" panose="020B0604020202020204" pitchFamily="34" charset="0"/>
              <a:buChar char="•"/>
            </a:pPr>
            <a:r>
              <a:rPr lang="pt-BR" sz="1400" dirty="0">
                <a:latin typeface="Book Antiqua" panose="02040602050305030304" pitchFamily="18" charset="0"/>
              </a:rPr>
              <a:t>r1=0.2</a:t>
            </a:r>
          </a:p>
          <a:p>
            <a:pPr>
              <a:buFont typeface="Arial" panose="020B0604020202020204" pitchFamily="34" charset="0"/>
              <a:buChar char="•"/>
            </a:pPr>
            <a:r>
              <a:rPr lang="pt-BR" sz="1400" dirty="0">
                <a:latin typeface="Book Antiqua" panose="02040602050305030304" pitchFamily="18" charset="0"/>
              </a:rPr>
              <a:t>r2=0.1</a:t>
            </a:r>
          </a:p>
          <a:p>
            <a:pPr>
              <a:buFont typeface="Arial" panose="020B0604020202020204" pitchFamily="34" charset="0"/>
              <a:buChar char="•"/>
            </a:pPr>
            <a:r>
              <a:rPr lang="pt-BR" sz="1400" dirty="0">
                <a:latin typeface="Book Antiqua" panose="02040602050305030304" pitchFamily="18" charset="0"/>
              </a:rPr>
              <a:t>r3=0.05</a:t>
            </a:r>
          </a:p>
          <a:p>
            <a:pPr>
              <a:buFont typeface="Arial" panose="020B0604020202020204" pitchFamily="34" charset="0"/>
              <a:buChar char="•"/>
            </a:pPr>
            <a:r>
              <a:rPr lang="pt-BR" sz="1400" dirty="0">
                <a:latin typeface="Book Antiqua" panose="02040602050305030304" pitchFamily="18" charset="0"/>
              </a:rPr>
              <a:t>r4=0.03</a:t>
            </a:r>
          </a:p>
          <a:p>
            <a:pPr>
              <a:buFont typeface="Arial" panose="020B0604020202020204" pitchFamily="34" charset="0"/>
              <a:buChar char="•"/>
            </a:pPr>
            <a:r>
              <a:rPr lang="pt-BR" sz="1400" dirty="0">
                <a:latin typeface="Book Antiqua" panose="02040602050305030304" pitchFamily="18" charset="0"/>
              </a:rPr>
              <a:t>Number of observations n=10</a:t>
            </a:r>
          </a:p>
        </p:txBody>
      </p:sp>
      <p:sp>
        <p:nvSpPr>
          <p:cNvPr id="20" name="TextBox 19">
            <a:extLst>
              <a:ext uri="{FF2B5EF4-FFF2-40B4-BE49-F238E27FC236}">
                <a16:creationId xmlns:a16="http://schemas.microsoft.com/office/drawing/2014/main" id="{52F1F7DE-175E-404C-8E29-095B93B01444}"/>
              </a:ext>
            </a:extLst>
          </p:cNvPr>
          <p:cNvSpPr txBox="1"/>
          <p:nvPr/>
        </p:nvSpPr>
        <p:spPr>
          <a:xfrm>
            <a:off x="3962400" y="3801547"/>
            <a:ext cx="2152651" cy="307777"/>
          </a:xfrm>
          <a:prstGeom prst="rect">
            <a:avLst/>
          </a:prstGeom>
          <a:noFill/>
        </p:spPr>
        <p:txBody>
          <a:bodyPr wrap="square">
            <a:spAutoFit/>
          </a:bodyPr>
          <a:lstStyle/>
          <a:p>
            <a:r>
              <a:rPr lang="en-IN" sz="1400" b="1" dirty="0">
                <a:latin typeface="Book Antiqua" panose="02040602050305030304" pitchFamily="18" charset="0"/>
              </a:rPr>
              <a:t>Calculating Q:</a:t>
            </a:r>
          </a:p>
        </p:txBody>
      </p:sp>
      <p:pic>
        <p:nvPicPr>
          <p:cNvPr id="13" name="Picture 12">
            <a:extLst>
              <a:ext uri="{FF2B5EF4-FFF2-40B4-BE49-F238E27FC236}">
                <a16:creationId xmlns:a16="http://schemas.microsoft.com/office/drawing/2014/main" id="{59F6900E-6C06-406B-BC56-AC23EF110E56}"/>
              </a:ext>
            </a:extLst>
          </p:cNvPr>
          <p:cNvPicPr>
            <a:picLocks noChangeAspect="1"/>
          </p:cNvPicPr>
          <p:nvPr/>
        </p:nvPicPr>
        <p:blipFill>
          <a:blip r:embed="rId3"/>
          <a:stretch>
            <a:fillRect/>
          </a:stretch>
        </p:blipFill>
        <p:spPr>
          <a:xfrm>
            <a:off x="3962400" y="4109324"/>
            <a:ext cx="4572000" cy="647700"/>
          </a:xfrm>
          <a:prstGeom prst="rect">
            <a:avLst/>
          </a:prstGeom>
        </p:spPr>
      </p:pic>
      <p:pic>
        <p:nvPicPr>
          <p:cNvPr id="16" name="Picture 15">
            <a:extLst>
              <a:ext uri="{FF2B5EF4-FFF2-40B4-BE49-F238E27FC236}">
                <a16:creationId xmlns:a16="http://schemas.microsoft.com/office/drawing/2014/main" id="{A87B75D9-3EA5-4AAB-BB2B-2D72B3FA6425}"/>
              </a:ext>
            </a:extLst>
          </p:cNvPr>
          <p:cNvPicPr>
            <a:picLocks noChangeAspect="1"/>
          </p:cNvPicPr>
          <p:nvPr/>
        </p:nvPicPr>
        <p:blipFill>
          <a:blip r:embed="rId4"/>
          <a:stretch>
            <a:fillRect/>
          </a:stretch>
        </p:blipFill>
        <p:spPr>
          <a:xfrm>
            <a:off x="3962400" y="4757024"/>
            <a:ext cx="2809875" cy="361950"/>
          </a:xfrm>
          <a:prstGeom prst="rect">
            <a:avLst/>
          </a:prstGeom>
        </p:spPr>
      </p:pic>
      <p:sp>
        <p:nvSpPr>
          <p:cNvPr id="26" name="TextBox 25">
            <a:extLst>
              <a:ext uri="{FF2B5EF4-FFF2-40B4-BE49-F238E27FC236}">
                <a16:creationId xmlns:a16="http://schemas.microsoft.com/office/drawing/2014/main" id="{52526A9D-6C36-42DA-910D-46B54C09EDE2}"/>
              </a:ext>
            </a:extLst>
          </p:cNvPr>
          <p:cNvSpPr txBox="1"/>
          <p:nvPr/>
        </p:nvSpPr>
        <p:spPr>
          <a:xfrm>
            <a:off x="3352799" y="5118974"/>
            <a:ext cx="5620139" cy="461665"/>
          </a:xfrm>
          <a:prstGeom prst="rect">
            <a:avLst/>
          </a:prstGeom>
          <a:noFill/>
        </p:spPr>
        <p:txBody>
          <a:bodyPr wrap="square">
            <a:spAutoFit/>
          </a:bodyPr>
          <a:lstStyle/>
          <a:p>
            <a:r>
              <a:rPr lang="en-US" sz="1200" dirty="0">
                <a:latin typeface="Book Antiqua" panose="02040602050305030304" pitchFamily="18" charset="0"/>
              </a:rPr>
              <a:t>The p-value can be derived from the chi-squared distribution with degrees of freedom equal to m. </a:t>
            </a:r>
            <a:endParaRPr lang="en-IN" sz="1200" dirty="0">
              <a:latin typeface="Book Antiqua" panose="02040602050305030304" pitchFamily="18" charset="0"/>
            </a:endParaRPr>
          </a:p>
        </p:txBody>
      </p:sp>
      <p:sp>
        <p:nvSpPr>
          <p:cNvPr id="28" name="TextBox 27">
            <a:extLst>
              <a:ext uri="{FF2B5EF4-FFF2-40B4-BE49-F238E27FC236}">
                <a16:creationId xmlns:a16="http://schemas.microsoft.com/office/drawing/2014/main" id="{1BBB453C-D8F0-4B3F-AF8F-AE5AC7D29B2E}"/>
              </a:ext>
            </a:extLst>
          </p:cNvPr>
          <p:cNvSpPr txBox="1"/>
          <p:nvPr/>
        </p:nvSpPr>
        <p:spPr>
          <a:xfrm>
            <a:off x="3657600" y="5818904"/>
            <a:ext cx="4618652" cy="307777"/>
          </a:xfrm>
          <a:prstGeom prst="rect">
            <a:avLst/>
          </a:prstGeom>
          <a:noFill/>
        </p:spPr>
        <p:txBody>
          <a:bodyPr wrap="square">
            <a:spAutoFit/>
          </a:bodyPr>
          <a:lstStyle/>
          <a:p>
            <a:r>
              <a:rPr lang="it-IT" sz="1400" dirty="0">
                <a:latin typeface="Book Antiqua" panose="02040602050305030304" pitchFamily="18" charset="0"/>
              </a:rPr>
              <a:t>p_value = 1 - chi2.cdf(Q, df=m)       ----- here m=4</a:t>
            </a:r>
            <a:endParaRPr lang="en-IN" sz="1400" dirty="0">
              <a:latin typeface="Book Antiqua" panose="02040602050305030304" pitchFamily="18" charset="0"/>
            </a:endParaRPr>
          </a:p>
        </p:txBody>
      </p:sp>
      <p:sp>
        <p:nvSpPr>
          <p:cNvPr id="21" name="TextBox 20">
            <a:extLst>
              <a:ext uri="{FF2B5EF4-FFF2-40B4-BE49-F238E27FC236}">
                <a16:creationId xmlns:a16="http://schemas.microsoft.com/office/drawing/2014/main" id="{C81DB893-A7D8-4854-87B4-F1DB3AB66D7A}"/>
              </a:ext>
            </a:extLst>
          </p:cNvPr>
          <p:cNvSpPr txBox="1"/>
          <p:nvPr/>
        </p:nvSpPr>
        <p:spPr>
          <a:xfrm>
            <a:off x="3315477" y="5566619"/>
            <a:ext cx="1622864" cy="276999"/>
          </a:xfrm>
          <a:prstGeom prst="rect">
            <a:avLst/>
          </a:prstGeom>
          <a:noFill/>
        </p:spPr>
        <p:txBody>
          <a:bodyPr wrap="square" rtlCol="0">
            <a:spAutoFit/>
          </a:bodyPr>
          <a:lstStyle/>
          <a:p>
            <a:r>
              <a:rPr lang="en-US" sz="1200" dirty="0">
                <a:solidFill>
                  <a:srgbClr val="FF0000"/>
                </a:solidFill>
                <a:latin typeface="Book Antiqua" panose="02040602050305030304" pitchFamily="18" charset="0"/>
              </a:rPr>
              <a:t>Through software</a:t>
            </a:r>
            <a:endParaRPr lang="en-IN" sz="1200" dirty="0">
              <a:solidFill>
                <a:srgbClr val="FF0000"/>
              </a:solidFill>
              <a:latin typeface="Book Antiqua" panose="02040602050305030304" pitchFamily="18" charset="0"/>
            </a:endParaRPr>
          </a:p>
        </p:txBody>
      </p:sp>
      <p:sp>
        <p:nvSpPr>
          <p:cNvPr id="31" name="TextBox 30">
            <a:extLst>
              <a:ext uri="{FF2B5EF4-FFF2-40B4-BE49-F238E27FC236}">
                <a16:creationId xmlns:a16="http://schemas.microsoft.com/office/drawing/2014/main" id="{D74F6421-20EB-42F1-9BCB-D804C8CAC83D}"/>
              </a:ext>
            </a:extLst>
          </p:cNvPr>
          <p:cNvSpPr txBox="1"/>
          <p:nvPr/>
        </p:nvSpPr>
        <p:spPr>
          <a:xfrm>
            <a:off x="3438993" y="6126912"/>
            <a:ext cx="4618652" cy="600164"/>
          </a:xfrm>
          <a:prstGeom prst="rect">
            <a:avLst/>
          </a:prstGeom>
          <a:noFill/>
        </p:spPr>
        <p:txBody>
          <a:bodyPr wrap="square">
            <a:spAutoFit/>
          </a:bodyPr>
          <a:lstStyle/>
          <a:p>
            <a:pPr algn="just"/>
            <a:r>
              <a:rPr lang="en-US" sz="1100" dirty="0">
                <a:latin typeface="Book Antiqua" panose="02040602050305030304" pitchFamily="18" charset="0"/>
              </a:rPr>
              <a:t>If we calculate it, we might find a p-value that is likely greater than 0.05, indicating that we do not reject the null hypothesis, suggesting no significant autocorrelation in the residuals.</a:t>
            </a:r>
            <a:endParaRPr lang="en-IN" sz="1100" dirty="0">
              <a:latin typeface="Book Antiqua" panose="02040602050305030304" pitchFamily="18" charset="0"/>
            </a:endParaRPr>
          </a:p>
        </p:txBody>
      </p:sp>
    </p:spTree>
    <p:extLst>
      <p:ext uri="{BB962C8B-B14F-4D97-AF65-F5344CB8AC3E}">
        <p14:creationId xmlns:p14="http://schemas.microsoft.com/office/powerpoint/2010/main" val="2213513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Forecasts</a:t>
            </a:r>
            <a:endParaRPr lang="en-US" sz="3200" b="1" spc="-10" dirty="0">
              <a:solidFill>
                <a:srgbClr val="FF0000"/>
              </a:solidFill>
              <a:latin typeface="Arial" panose="020B0604020202020204"/>
              <a:ea typeface="+mn-ea"/>
              <a:cs typeface="Arial" panose="020B0604020202020204"/>
            </a:endParaRPr>
          </a:p>
        </p:txBody>
      </p:sp>
      <p:sp>
        <p:nvSpPr>
          <p:cNvPr id="8" name="TextBox 7"/>
          <p:cNvSpPr txBox="1"/>
          <p:nvPr/>
        </p:nvSpPr>
        <p:spPr>
          <a:xfrm>
            <a:off x="152400" y="1600200"/>
            <a:ext cx="8763000" cy="3379900"/>
          </a:xfrm>
          <a:prstGeom prst="rect">
            <a:avLst/>
          </a:prstGeom>
          <a:noFill/>
        </p:spPr>
        <p:txBody>
          <a:bodyPr wrap="square">
            <a:spAutoFit/>
          </a:bodyPr>
          <a:lstStyle/>
          <a:p>
            <a:pPr algn="just">
              <a:lnSpc>
                <a:spcPct val="150000"/>
              </a:lnSpc>
            </a:pPr>
            <a:r>
              <a:rPr lang="en-US" sz="1600" b="0" i="0" dirty="0">
                <a:solidFill>
                  <a:srgbClr val="333333"/>
                </a:solidFill>
                <a:effectLst/>
                <a:latin typeface="Book Antiqua" panose="02040602050305030304" pitchFamily="18" charset="0"/>
              </a:rPr>
              <a:t>Although we have calculated forecasts from the ARIMA models in our examples, we have not yet explained how they are obtained. Point forecasts can be calculated using the following three steps.</a:t>
            </a:r>
          </a:p>
          <a:p>
            <a:pPr algn="just">
              <a:lnSpc>
                <a:spcPct val="150000"/>
              </a:lnSpc>
              <a:buFont typeface="+mj-lt"/>
              <a:buAutoNum type="arabicPeriod"/>
            </a:pPr>
            <a:r>
              <a:rPr lang="en-US" sz="1600" b="0" i="0" dirty="0">
                <a:solidFill>
                  <a:srgbClr val="333333"/>
                </a:solidFill>
                <a:effectLst/>
                <a:latin typeface="Book Antiqua" panose="02040602050305030304" pitchFamily="18" charset="0"/>
              </a:rPr>
              <a:t>Expand the ARIMA equation so that </a:t>
            </a:r>
            <a:r>
              <a:rPr lang="en-US" sz="1600" b="0" i="0" dirty="0" err="1">
                <a:solidFill>
                  <a:srgbClr val="333333"/>
                </a:solidFill>
                <a:effectLst/>
                <a:latin typeface="Book Antiqua" panose="02040602050305030304" pitchFamily="18" charset="0"/>
              </a:rPr>
              <a:t>yt</a:t>
            </a:r>
            <a:r>
              <a:rPr lang="en-US" sz="1600" b="0" i="0" dirty="0">
                <a:solidFill>
                  <a:srgbClr val="333333"/>
                </a:solidFill>
                <a:effectLst/>
                <a:latin typeface="Book Antiqua" panose="02040602050305030304" pitchFamily="18" charset="0"/>
              </a:rPr>
              <a:t> is on the left hand side and all other terms are on the right.</a:t>
            </a:r>
          </a:p>
          <a:p>
            <a:pPr algn="just">
              <a:lnSpc>
                <a:spcPct val="150000"/>
              </a:lnSpc>
              <a:buFont typeface="+mj-lt"/>
              <a:buAutoNum type="arabicPeriod"/>
            </a:pPr>
            <a:r>
              <a:rPr lang="en-US" sz="1600" b="0" i="0" dirty="0">
                <a:solidFill>
                  <a:srgbClr val="333333"/>
                </a:solidFill>
                <a:effectLst/>
                <a:latin typeface="Book Antiqua" panose="02040602050305030304" pitchFamily="18" charset="0"/>
              </a:rPr>
              <a:t>Rewrite the equation by replacing t with </a:t>
            </a:r>
            <a:r>
              <a:rPr lang="en-US" sz="1600" b="0" i="0" dirty="0" err="1">
                <a:solidFill>
                  <a:srgbClr val="333333"/>
                </a:solidFill>
                <a:effectLst/>
                <a:latin typeface="Book Antiqua" panose="02040602050305030304" pitchFamily="18" charset="0"/>
              </a:rPr>
              <a:t>T+h</a:t>
            </a:r>
            <a:r>
              <a:rPr lang="en-US" sz="1600" b="0" i="0" dirty="0">
                <a:solidFill>
                  <a:srgbClr val="333333"/>
                </a:solidFill>
                <a:effectLst/>
                <a:latin typeface="Book Antiqua" panose="02040602050305030304" pitchFamily="18" charset="0"/>
              </a:rPr>
              <a:t>.</a:t>
            </a:r>
          </a:p>
          <a:p>
            <a:pPr algn="just">
              <a:lnSpc>
                <a:spcPct val="150000"/>
              </a:lnSpc>
              <a:buFont typeface="+mj-lt"/>
              <a:buAutoNum type="arabicPeriod"/>
            </a:pPr>
            <a:r>
              <a:rPr lang="en-US" sz="1600" b="0" i="0" dirty="0">
                <a:solidFill>
                  <a:srgbClr val="333333"/>
                </a:solidFill>
                <a:effectLst/>
                <a:latin typeface="Book Antiqua" panose="02040602050305030304" pitchFamily="18" charset="0"/>
              </a:rPr>
              <a:t>On the right hand side of the equation, replace future observations with their forecasts, future errors with zero, and past errors with the corresponding residuals.</a:t>
            </a:r>
          </a:p>
          <a:p>
            <a:pPr algn="just">
              <a:lnSpc>
                <a:spcPct val="150000"/>
              </a:lnSpc>
            </a:pPr>
            <a:endParaRPr lang="en-US" sz="1600" b="0" i="0" dirty="0">
              <a:solidFill>
                <a:srgbClr val="333333"/>
              </a:solidFill>
              <a:effectLst/>
              <a:latin typeface="Book Antiqua" panose="02040602050305030304" pitchFamily="18" charset="0"/>
            </a:endParaRPr>
          </a:p>
        </p:txBody>
      </p:sp>
      <p:sp>
        <p:nvSpPr>
          <p:cNvPr id="6" name="TextBox 5"/>
          <p:cNvSpPr txBox="1"/>
          <p:nvPr/>
        </p:nvSpPr>
        <p:spPr>
          <a:xfrm>
            <a:off x="152400" y="4956773"/>
            <a:ext cx="8458200" cy="794576"/>
          </a:xfrm>
          <a:prstGeom prst="rect">
            <a:avLst/>
          </a:prstGeom>
          <a:noFill/>
        </p:spPr>
        <p:txBody>
          <a:bodyPr wrap="square">
            <a:spAutoFit/>
          </a:bodyPr>
          <a:lstStyle/>
          <a:p>
            <a:pPr>
              <a:lnSpc>
                <a:spcPct val="150000"/>
              </a:lnSpc>
            </a:pPr>
            <a:r>
              <a:rPr lang="en-US" sz="1600" b="0" i="0" dirty="0">
                <a:solidFill>
                  <a:schemeClr val="accent1"/>
                </a:solidFill>
                <a:effectLst/>
                <a:latin typeface="Book Antiqua" panose="02040602050305030304" pitchFamily="18" charset="0"/>
              </a:rPr>
              <a:t>Beginning with h=1, these steps are then repeated for h=2,3,… until all forecasts have been calculated.</a:t>
            </a:r>
            <a:endParaRPr lang="en-IN" sz="1600" dirty="0">
              <a:solidFill>
                <a:schemeClr val="accent1"/>
              </a:solidFill>
              <a:latin typeface="Book Antiqua" panose="0204060205030503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Forecasts</a:t>
            </a:r>
            <a:endParaRPr lang="en-US" sz="3200" b="1" spc="-10" dirty="0">
              <a:solidFill>
                <a:srgbClr val="FF0000"/>
              </a:solidFill>
              <a:latin typeface="Arial" panose="020B0604020202020204"/>
              <a:ea typeface="+mn-ea"/>
              <a:cs typeface="Arial" panose="020B0604020202020204"/>
            </a:endParaRPr>
          </a:p>
        </p:txBody>
      </p:sp>
      <p:pic>
        <p:nvPicPr>
          <p:cNvPr id="4" name="Picture 3"/>
          <p:cNvPicPr>
            <a:picLocks noChangeAspect="1"/>
          </p:cNvPicPr>
          <p:nvPr/>
        </p:nvPicPr>
        <p:blipFill>
          <a:blip r:embed="rId2"/>
          <a:stretch>
            <a:fillRect/>
          </a:stretch>
        </p:blipFill>
        <p:spPr>
          <a:xfrm>
            <a:off x="266700" y="1676400"/>
            <a:ext cx="8610600" cy="3733800"/>
          </a:xfrm>
          <a:prstGeom prst="rect">
            <a:avLst/>
          </a:prstGeom>
        </p:spPr>
      </p:pic>
      <p:sp>
        <p:nvSpPr>
          <p:cNvPr id="5" name="TextBox 4"/>
          <p:cNvSpPr txBox="1"/>
          <p:nvPr/>
        </p:nvSpPr>
        <p:spPr>
          <a:xfrm>
            <a:off x="152400" y="5486400"/>
            <a:ext cx="8839200" cy="1163908"/>
          </a:xfrm>
          <a:prstGeom prst="rect">
            <a:avLst/>
          </a:prstGeom>
          <a:noFill/>
        </p:spPr>
        <p:txBody>
          <a:bodyPr wrap="square">
            <a:spAutoFit/>
          </a:bodyPr>
          <a:lstStyle/>
          <a:p>
            <a:pPr algn="just">
              <a:lnSpc>
                <a:spcPct val="150000"/>
              </a:lnSpc>
            </a:pPr>
            <a:r>
              <a:rPr lang="en-US" sz="1600" b="0" i="0" dirty="0">
                <a:solidFill>
                  <a:schemeClr val="accent1"/>
                </a:solidFill>
                <a:effectLst/>
                <a:latin typeface="Book Antiqua" panose="02040602050305030304" pitchFamily="18" charset="0"/>
              </a:rPr>
              <a:t>This completes the first step. While the equation now looks like an ARIMA(4,0,1), it is still the same ARIMA(3,1,1) model we started with. It cannot be considered an ARIMA(4,0,1) because the coefficients do not satisfy the stationarity conditions.</a:t>
            </a:r>
            <a:endParaRPr lang="en-IN" sz="1600" dirty="0">
              <a:solidFill>
                <a:schemeClr val="accent1"/>
              </a:solidFill>
              <a:latin typeface="Book Antiqua" panose="0204060205030503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Forecasts</a:t>
            </a:r>
            <a:endParaRPr lang="en-US" sz="3200" b="1" spc="-10" dirty="0">
              <a:solidFill>
                <a:srgbClr val="FF0000"/>
              </a:solidFill>
              <a:latin typeface="Arial" panose="020B0604020202020204"/>
              <a:ea typeface="+mn-ea"/>
              <a:cs typeface="Arial" panose="020B0604020202020204"/>
            </a:endParaRPr>
          </a:p>
        </p:txBody>
      </p:sp>
      <p:pic>
        <p:nvPicPr>
          <p:cNvPr id="7" name="Picture 6"/>
          <p:cNvPicPr>
            <a:picLocks noChangeAspect="1"/>
          </p:cNvPicPr>
          <p:nvPr/>
        </p:nvPicPr>
        <p:blipFill>
          <a:blip r:embed="rId2"/>
          <a:stretch>
            <a:fillRect/>
          </a:stretch>
        </p:blipFill>
        <p:spPr>
          <a:xfrm>
            <a:off x="304800" y="1828800"/>
            <a:ext cx="8077199" cy="4191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Seasonal ARIMA</a:t>
            </a:r>
            <a:endParaRPr lang="en-US" sz="3200" b="1" spc="-10" dirty="0">
              <a:solidFill>
                <a:srgbClr val="FF0000"/>
              </a:solidFill>
              <a:latin typeface="Arial" panose="020B0604020202020204"/>
              <a:ea typeface="+mn-ea"/>
              <a:cs typeface="Arial" panose="020B0604020202020204"/>
            </a:endParaRPr>
          </a:p>
        </p:txBody>
      </p:sp>
      <p:pic>
        <p:nvPicPr>
          <p:cNvPr id="5" name="Picture 4">
            <a:extLst>
              <a:ext uri="{FF2B5EF4-FFF2-40B4-BE49-F238E27FC236}">
                <a16:creationId xmlns:a16="http://schemas.microsoft.com/office/drawing/2014/main" id="{2A62F394-BFEB-440A-961E-197A8A4689AC}"/>
              </a:ext>
            </a:extLst>
          </p:cNvPr>
          <p:cNvPicPr>
            <a:picLocks noChangeAspect="1"/>
          </p:cNvPicPr>
          <p:nvPr/>
        </p:nvPicPr>
        <p:blipFill>
          <a:blip r:embed="rId2"/>
          <a:stretch>
            <a:fillRect/>
          </a:stretch>
        </p:blipFill>
        <p:spPr>
          <a:xfrm>
            <a:off x="1752600" y="1752600"/>
            <a:ext cx="5411335" cy="1984156"/>
          </a:xfrm>
          <a:prstGeom prst="rect">
            <a:avLst/>
          </a:prstGeom>
        </p:spPr>
      </p:pic>
      <p:pic>
        <p:nvPicPr>
          <p:cNvPr id="6" name="Picture 5">
            <a:extLst>
              <a:ext uri="{FF2B5EF4-FFF2-40B4-BE49-F238E27FC236}">
                <a16:creationId xmlns:a16="http://schemas.microsoft.com/office/drawing/2014/main" id="{15CEA7C7-022F-4F34-99AF-DC89F24A40D3}"/>
              </a:ext>
            </a:extLst>
          </p:cNvPr>
          <p:cNvPicPr>
            <a:picLocks noChangeAspect="1"/>
          </p:cNvPicPr>
          <p:nvPr/>
        </p:nvPicPr>
        <p:blipFill>
          <a:blip r:embed="rId3"/>
          <a:stretch>
            <a:fillRect/>
          </a:stretch>
        </p:blipFill>
        <p:spPr>
          <a:xfrm>
            <a:off x="457201" y="4343400"/>
            <a:ext cx="8458200" cy="1695537"/>
          </a:xfrm>
          <a:prstGeom prst="rect">
            <a:avLst/>
          </a:prstGeom>
        </p:spPr>
      </p:pic>
    </p:spTree>
    <p:extLst>
      <p:ext uri="{BB962C8B-B14F-4D97-AF65-F5344CB8AC3E}">
        <p14:creationId xmlns:p14="http://schemas.microsoft.com/office/powerpoint/2010/main" val="3044121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Seasonal ARIMA</a:t>
            </a:r>
            <a:endParaRPr lang="en-US" sz="3200" b="1" spc="-10" dirty="0">
              <a:solidFill>
                <a:srgbClr val="FF0000"/>
              </a:solidFill>
              <a:latin typeface="Arial" panose="020B0604020202020204"/>
              <a:ea typeface="+mn-ea"/>
              <a:cs typeface="Arial" panose="020B0604020202020204"/>
            </a:endParaRPr>
          </a:p>
        </p:txBody>
      </p:sp>
      <p:sp>
        <p:nvSpPr>
          <p:cNvPr id="7" name="TextBox 6">
            <a:extLst>
              <a:ext uri="{FF2B5EF4-FFF2-40B4-BE49-F238E27FC236}">
                <a16:creationId xmlns:a16="http://schemas.microsoft.com/office/drawing/2014/main" id="{D6F20188-0662-413E-AFBE-9972C9BF1E7F}"/>
              </a:ext>
            </a:extLst>
          </p:cNvPr>
          <p:cNvSpPr txBox="1"/>
          <p:nvPr/>
        </p:nvSpPr>
        <p:spPr>
          <a:xfrm>
            <a:off x="228600" y="1600200"/>
            <a:ext cx="8763000" cy="794576"/>
          </a:xfrm>
          <a:prstGeom prst="rect">
            <a:avLst/>
          </a:prstGeom>
          <a:noFill/>
        </p:spPr>
        <p:txBody>
          <a:bodyPr wrap="square">
            <a:spAutoFit/>
          </a:bodyPr>
          <a:lstStyle/>
          <a:p>
            <a:pPr>
              <a:lnSpc>
                <a:spcPct val="150000"/>
              </a:lnSpc>
            </a:pPr>
            <a:r>
              <a:rPr lang="en-US" sz="1600" b="0" i="0" dirty="0">
                <a:solidFill>
                  <a:srgbClr val="333333"/>
                </a:solidFill>
                <a:effectLst/>
                <a:latin typeface="Book Antiqua" panose="02040602050305030304" pitchFamily="18" charset="0"/>
              </a:rPr>
              <a:t>A seasonal ARIMA model is formed by including additional seasonal terms in the ARIMA models we have seen so far. It is written as follows:</a:t>
            </a:r>
            <a:endParaRPr lang="en-IN" sz="1600" dirty="0">
              <a:latin typeface="Book Antiqua" panose="02040602050305030304" pitchFamily="18" charset="0"/>
            </a:endParaRPr>
          </a:p>
        </p:txBody>
      </p:sp>
      <p:pic>
        <p:nvPicPr>
          <p:cNvPr id="8" name="Picture 7">
            <a:extLst>
              <a:ext uri="{FF2B5EF4-FFF2-40B4-BE49-F238E27FC236}">
                <a16:creationId xmlns:a16="http://schemas.microsoft.com/office/drawing/2014/main" id="{6AB7BE8E-3993-4957-B57D-191CAB11A74A}"/>
              </a:ext>
            </a:extLst>
          </p:cNvPr>
          <p:cNvPicPr>
            <a:picLocks noChangeAspect="1"/>
          </p:cNvPicPr>
          <p:nvPr/>
        </p:nvPicPr>
        <p:blipFill>
          <a:blip r:embed="rId2"/>
          <a:stretch>
            <a:fillRect/>
          </a:stretch>
        </p:blipFill>
        <p:spPr>
          <a:xfrm>
            <a:off x="2743200" y="2596415"/>
            <a:ext cx="3381375" cy="1200150"/>
          </a:xfrm>
          <a:prstGeom prst="rect">
            <a:avLst/>
          </a:prstGeom>
        </p:spPr>
      </p:pic>
      <p:sp>
        <p:nvSpPr>
          <p:cNvPr id="10" name="TextBox 9">
            <a:extLst>
              <a:ext uri="{FF2B5EF4-FFF2-40B4-BE49-F238E27FC236}">
                <a16:creationId xmlns:a16="http://schemas.microsoft.com/office/drawing/2014/main" id="{B1F197A4-0FC8-4EC8-8C1C-02CD3B147E79}"/>
              </a:ext>
            </a:extLst>
          </p:cNvPr>
          <p:cNvSpPr txBox="1"/>
          <p:nvPr/>
        </p:nvSpPr>
        <p:spPr>
          <a:xfrm>
            <a:off x="304800" y="4038600"/>
            <a:ext cx="8686800" cy="1163908"/>
          </a:xfrm>
          <a:prstGeom prst="rect">
            <a:avLst/>
          </a:prstGeom>
          <a:noFill/>
        </p:spPr>
        <p:txBody>
          <a:bodyPr wrap="square">
            <a:spAutoFit/>
          </a:bodyPr>
          <a:lstStyle/>
          <a:p>
            <a:pPr algn="just">
              <a:lnSpc>
                <a:spcPct val="150000"/>
              </a:lnSpc>
            </a:pPr>
            <a:r>
              <a:rPr lang="en-US" sz="1600" b="0" i="0" dirty="0">
                <a:solidFill>
                  <a:srgbClr val="333333"/>
                </a:solidFill>
                <a:effectLst/>
                <a:latin typeface="Book Antiqua" panose="02040602050305030304" pitchFamily="18" charset="0"/>
              </a:rPr>
              <a:t>where </a:t>
            </a:r>
            <a:r>
              <a:rPr lang="en-US" sz="1600" b="0" i="0">
                <a:solidFill>
                  <a:srgbClr val="333333"/>
                </a:solidFill>
                <a:effectLst/>
                <a:latin typeface="Book Antiqua" panose="02040602050305030304" pitchFamily="18" charset="0"/>
              </a:rPr>
              <a:t>m= </a:t>
            </a:r>
            <a:r>
              <a:rPr lang="en-US" sz="1600" b="0" i="0" dirty="0">
                <a:solidFill>
                  <a:srgbClr val="333333"/>
                </a:solidFill>
                <a:effectLst/>
                <a:latin typeface="Book Antiqua" panose="02040602050305030304" pitchFamily="18" charset="0"/>
              </a:rPr>
              <a:t>the seasonal period (e.g., number of observations per year). We use uppercase notation for the seasonal parts of the model, and lowercase notation for the non-seasonal parts of the model.</a:t>
            </a:r>
            <a:endParaRPr lang="en-IN" sz="1600" dirty="0">
              <a:latin typeface="Book Antiqua" panose="02040602050305030304" pitchFamily="18" charset="0"/>
            </a:endParaRPr>
          </a:p>
        </p:txBody>
      </p:sp>
    </p:spTree>
    <p:extLst>
      <p:ext uri="{BB962C8B-B14F-4D97-AF65-F5344CB8AC3E}">
        <p14:creationId xmlns:p14="http://schemas.microsoft.com/office/powerpoint/2010/main" val="25887314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Seasonal ARIMA</a:t>
            </a:r>
            <a:endParaRPr lang="en-US" sz="3200" b="1" spc="-10" dirty="0">
              <a:solidFill>
                <a:srgbClr val="FF0000"/>
              </a:solidFill>
              <a:latin typeface="Arial" panose="020B0604020202020204"/>
              <a:ea typeface="+mn-ea"/>
              <a:cs typeface="Arial" panose="020B0604020202020204"/>
            </a:endParaRPr>
          </a:p>
        </p:txBody>
      </p:sp>
      <p:sp>
        <p:nvSpPr>
          <p:cNvPr id="7" name="TextBox 6">
            <a:extLst>
              <a:ext uri="{FF2B5EF4-FFF2-40B4-BE49-F238E27FC236}">
                <a16:creationId xmlns:a16="http://schemas.microsoft.com/office/drawing/2014/main" id="{D6F20188-0662-413E-AFBE-9972C9BF1E7F}"/>
              </a:ext>
            </a:extLst>
          </p:cNvPr>
          <p:cNvSpPr txBox="1"/>
          <p:nvPr/>
        </p:nvSpPr>
        <p:spPr>
          <a:xfrm>
            <a:off x="228600" y="1600200"/>
            <a:ext cx="8763000" cy="1532664"/>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The seasonal part of the model consists of terms that are similar to the non-seasonal components of the model, but involve backshifts of the seasonal period. </a:t>
            </a:r>
          </a:p>
          <a:p>
            <a:pPr marL="285750" indent="-285750" algn="just">
              <a:lnSpc>
                <a:spcPct val="150000"/>
              </a:lnSpc>
              <a:buFont typeface="Wingdings" panose="05000000000000000000" pitchFamily="2" charset="2"/>
              <a:buChar char="q"/>
            </a:pPr>
            <a:r>
              <a:rPr lang="en-US" sz="1600" b="0" i="0" dirty="0">
                <a:solidFill>
                  <a:srgbClr val="333333"/>
                </a:solidFill>
                <a:effectLst/>
                <a:latin typeface="Book Antiqua" panose="02040602050305030304" pitchFamily="18" charset="0"/>
              </a:rPr>
              <a:t>For example, an ARIMA(1,1,1)(1,1,1)4 model (without a constant) is for quarterly data (m=4), and can be written as</a:t>
            </a:r>
            <a:endParaRPr lang="en-IN" sz="1600" dirty="0">
              <a:latin typeface="Book Antiqua" panose="02040602050305030304" pitchFamily="18" charset="0"/>
            </a:endParaRPr>
          </a:p>
        </p:txBody>
      </p:sp>
      <p:pic>
        <p:nvPicPr>
          <p:cNvPr id="4" name="Picture 3">
            <a:extLst>
              <a:ext uri="{FF2B5EF4-FFF2-40B4-BE49-F238E27FC236}">
                <a16:creationId xmlns:a16="http://schemas.microsoft.com/office/drawing/2014/main" id="{69BF6E33-721A-46E9-9B82-F5D8DB8DC0C0}"/>
              </a:ext>
            </a:extLst>
          </p:cNvPr>
          <p:cNvPicPr>
            <a:picLocks noChangeAspect="1"/>
          </p:cNvPicPr>
          <p:nvPr/>
        </p:nvPicPr>
        <p:blipFill>
          <a:blip r:embed="rId2"/>
          <a:stretch>
            <a:fillRect/>
          </a:stretch>
        </p:blipFill>
        <p:spPr>
          <a:xfrm>
            <a:off x="1781175" y="3248025"/>
            <a:ext cx="5581650" cy="361950"/>
          </a:xfrm>
          <a:prstGeom prst="rect">
            <a:avLst/>
          </a:prstGeom>
        </p:spPr>
      </p:pic>
      <p:sp>
        <p:nvSpPr>
          <p:cNvPr id="9" name="TextBox 8">
            <a:extLst>
              <a:ext uri="{FF2B5EF4-FFF2-40B4-BE49-F238E27FC236}">
                <a16:creationId xmlns:a16="http://schemas.microsoft.com/office/drawing/2014/main" id="{4FBBCAC7-49D4-4B1A-BE10-222D8C06FC72}"/>
              </a:ext>
            </a:extLst>
          </p:cNvPr>
          <p:cNvSpPr txBox="1"/>
          <p:nvPr/>
        </p:nvSpPr>
        <p:spPr>
          <a:xfrm>
            <a:off x="381000" y="3725136"/>
            <a:ext cx="8458200" cy="338554"/>
          </a:xfrm>
          <a:prstGeom prst="rect">
            <a:avLst/>
          </a:prstGeom>
          <a:noFill/>
        </p:spPr>
        <p:txBody>
          <a:bodyPr wrap="square">
            <a:spAutoFit/>
          </a:bodyPr>
          <a:lstStyle/>
          <a:p>
            <a:r>
              <a:rPr lang="en-US" sz="1600" dirty="0">
                <a:solidFill>
                  <a:srgbClr val="333333"/>
                </a:solidFill>
                <a:latin typeface="Book Antiqua" panose="02040602050305030304" pitchFamily="18" charset="0"/>
              </a:rPr>
              <a:t>The additional seasonal terms are simply multiplied by the non-seasonal terms.</a:t>
            </a:r>
            <a:endParaRPr lang="en-IN" sz="1600" dirty="0">
              <a:solidFill>
                <a:srgbClr val="333333"/>
              </a:solidFill>
              <a:latin typeface="Book Antiqua" panose="02040602050305030304" pitchFamily="18" charset="0"/>
            </a:endParaRPr>
          </a:p>
        </p:txBody>
      </p:sp>
    </p:spTree>
    <p:extLst>
      <p:ext uri="{BB962C8B-B14F-4D97-AF65-F5344CB8AC3E}">
        <p14:creationId xmlns:p14="http://schemas.microsoft.com/office/powerpoint/2010/main" val="15644824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Seasonal ARIMA</a:t>
            </a:r>
            <a:endParaRPr lang="en-US" sz="3200" b="1" spc="-10" dirty="0">
              <a:solidFill>
                <a:srgbClr val="FF0000"/>
              </a:solidFill>
              <a:latin typeface="Arial" panose="020B0604020202020204"/>
              <a:ea typeface="+mn-ea"/>
              <a:cs typeface="Arial" panose="020B0604020202020204"/>
            </a:endParaRPr>
          </a:p>
        </p:txBody>
      </p:sp>
      <p:sp>
        <p:nvSpPr>
          <p:cNvPr id="8" name="TextBox 7">
            <a:extLst>
              <a:ext uri="{FF2B5EF4-FFF2-40B4-BE49-F238E27FC236}">
                <a16:creationId xmlns:a16="http://schemas.microsoft.com/office/drawing/2014/main" id="{51503856-282C-45D6-8B22-0B113D9BC370}"/>
              </a:ext>
            </a:extLst>
          </p:cNvPr>
          <p:cNvSpPr txBox="1"/>
          <p:nvPr/>
        </p:nvSpPr>
        <p:spPr>
          <a:xfrm>
            <a:off x="114300" y="1676400"/>
            <a:ext cx="8915400" cy="4487895"/>
          </a:xfrm>
          <a:prstGeom prst="rect">
            <a:avLst/>
          </a:prstGeom>
          <a:noFill/>
        </p:spPr>
        <p:txBody>
          <a:bodyPr wrap="square">
            <a:spAutoFit/>
          </a:bodyPr>
          <a:lstStyle/>
          <a:p>
            <a:pPr algn="l">
              <a:lnSpc>
                <a:spcPct val="150000"/>
              </a:lnSpc>
            </a:pPr>
            <a:r>
              <a:rPr lang="en-US" sz="1600" b="0" i="0" dirty="0">
                <a:solidFill>
                  <a:srgbClr val="333333"/>
                </a:solidFill>
                <a:effectLst/>
                <a:latin typeface="Book Antiqua" panose="02040602050305030304" pitchFamily="18" charset="0"/>
              </a:rPr>
              <a:t>The seasonal part of an AR or MA model will be seen in the seasonal lags of the PACF and ACF. </a:t>
            </a:r>
          </a:p>
          <a:p>
            <a:pPr algn="l">
              <a:lnSpc>
                <a:spcPct val="150000"/>
              </a:lnSpc>
            </a:pPr>
            <a:endParaRPr lang="en-US" sz="1600" dirty="0">
              <a:solidFill>
                <a:srgbClr val="333333"/>
              </a:solidFill>
              <a:latin typeface="Book Antiqua" panose="02040602050305030304" pitchFamily="18" charset="0"/>
            </a:endParaRPr>
          </a:p>
          <a:p>
            <a:pPr algn="l">
              <a:lnSpc>
                <a:spcPct val="150000"/>
              </a:lnSpc>
            </a:pPr>
            <a:r>
              <a:rPr lang="en-US" sz="1600" b="0" i="0" dirty="0">
                <a:solidFill>
                  <a:srgbClr val="333333"/>
                </a:solidFill>
                <a:effectLst/>
                <a:latin typeface="Book Antiqua" panose="02040602050305030304" pitchFamily="18" charset="0"/>
              </a:rPr>
              <a:t>For example, an ARIMA(0,0,0)(0,0,1)12 model will show:</a:t>
            </a:r>
          </a:p>
          <a:p>
            <a:pPr marL="447675" algn="l">
              <a:lnSpc>
                <a:spcPct val="150000"/>
              </a:lnSpc>
              <a:buFont typeface="Arial" panose="020B0604020202020204" pitchFamily="34" charset="0"/>
              <a:buChar char="•"/>
            </a:pPr>
            <a:r>
              <a:rPr lang="en-US" sz="1600" b="0" i="0" dirty="0">
                <a:solidFill>
                  <a:srgbClr val="333333"/>
                </a:solidFill>
                <a:effectLst/>
                <a:latin typeface="Book Antiqua" panose="02040602050305030304" pitchFamily="18" charset="0"/>
              </a:rPr>
              <a:t>a spike at lag 12 in the ACF but no other significant spikes;</a:t>
            </a:r>
          </a:p>
          <a:p>
            <a:pPr marL="447675" algn="l">
              <a:lnSpc>
                <a:spcPct val="150000"/>
              </a:lnSpc>
              <a:buFont typeface="Arial" panose="020B0604020202020204" pitchFamily="34" charset="0"/>
              <a:buChar char="•"/>
            </a:pPr>
            <a:r>
              <a:rPr lang="en-US" sz="1600" b="0" i="0" dirty="0">
                <a:solidFill>
                  <a:srgbClr val="333333"/>
                </a:solidFill>
                <a:effectLst/>
                <a:latin typeface="Book Antiqua" panose="02040602050305030304" pitchFamily="18" charset="0"/>
              </a:rPr>
              <a:t>exponential decay in the seasonal lags of the PACF (i.e., at lags 12, 24, 36, …).</a:t>
            </a:r>
          </a:p>
          <a:p>
            <a:pPr marL="447675" algn="l">
              <a:lnSpc>
                <a:spcPct val="150000"/>
              </a:lnSpc>
              <a:buFont typeface="Arial" panose="020B0604020202020204" pitchFamily="34" charset="0"/>
              <a:buChar char="•"/>
            </a:pPr>
            <a:endParaRPr lang="en-US" sz="1600" b="0" i="0" dirty="0">
              <a:solidFill>
                <a:srgbClr val="333333"/>
              </a:solidFill>
              <a:effectLst/>
              <a:latin typeface="Book Antiqua" panose="02040602050305030304" pitchFamily="18" charset="0"/>
            </a:endParaRPr>
          </a:p>
          <a:p>
            <a:pPr algn="l">
              <a:lnSpc>
                <a:spcPct val="150000"/>
              </a:lnSpc>
            </a:pPr>
            <a:r>
              <a:rPr lang="en-US" sz="1600" b="0" i="0" dirty="0">
                <a:solidFill>
                  <a:srgbClr val="333333"/>
                </a:solidFill>
                <a:effectLst/>
                <a:latin typeface="Book Antiqua" panose="02040602050305030304" pitchFamily="18" charset="0"/>
              </a:rPr>
              <a:t>Similarly, an ARIMA(0,0,0)(1,0,0)12 model will show:</a:t>
            </a:r>
          </a:p>
          <a:p>
            <a:pPr marL="447675" indent="93663" algn="l">
              <a:lnSpc>
                <a:spcPct val="150000"/>
              </a:lnSpc>
              <a:buFont typeface="Arial" panose="020B0604020202020204" pitchFamily="34" charset="0"/>
              <a:buChar char="•"/>
            </a:pPr>
            <a:r>
              <a:rPr lang="en-US" sz="1600" b="0" i="0" dirty="0">
                <a:solidFill>
                  <a:srgbClr val="333333"/>
                </a:solidFill>
                <a:effectLst/>
                <a:latin typeface="Book Antiqua" panose="02040602050305030304" pitchFamily="18" charset="0"/>
              </a:rPr>
              <a:t>exponential decay in the seasonal lags of the ACF;</a:t>
            </a:r>
          </a:p>
          <a:p>
            <a:pPr marL="447675" indent="93663" algn="l">
              <a:lnSpc>
                <a:spcPct val="150000"/>
              </a:lnSpc>
              <a:buFont typeface="Arial" panose="020B0604020202020204" pitchFamily="34" charset="0"/>
              <a:buChar char="•"/>
            </a:pPr>
            <a:r>
              <a:rPr lang="en-US" sz="1600" b="0" i="0" dirty="0">
                <a:solidFill>
                  <a:srgbClr val="333333"/>
                </a:solidFill>
                <a:effectLst/>
                <a:latin typeface="Book Antiqua" panose="02040602050305030304" pitchFamily="18" charset="0"/>
              </a:rPr>
              <a:t>a single significant spike at lag 12 in the PACF.</a:t>
            </a:r>
          </a:p>
          <a:p>
            <a:pPr marL="447675" indent="93663" algn="l">
              <a:lnSpc>
                <a:spcPct val="150000"/>
              </a:lnSpc>
              <a:buFont typeface="Arial" panose="020B0604020202020204" pitchFamily="34" charset="0"/>
              <a:buChar char="•"/>
            </a:pPr>
            <a:endParaRPr lang="en-US" sz="1600" b="0" i="0" dirty="0">
              <a:solidFill>
                <a:srgbClr val="333333"/>
              </a:solidFill>
              <a:effectLst/>
              <a:latin typeface="Book Antiqua" panose="02040602050305030304" pitchFamily="18" charset="0"/>
            </a:endParaRPr>
          </a:p>
          <a:p>
            <a:pPr algn="l">
              <a:lnSpc>
                <a:spcPct val="150000"/>
              </a:lnSpc>
            </a:pPr>
            <a:r>
              <a:rPr lang="en-US" sz="1600" b="0" i="0" dirty="0">
                <a:solidFill>
                  <a:srgbClr val="333333"/>
                </a:solidFill>
                <a:effectLst/>
                <a:latin typeface="Book Antiqua" panose="02040602050305030304" pitchFamily="18" charset="0"/>
              </a:rPr>
              <a:t>In considering the appropriate seasonal orders for a seasonal ARIMA model, restrict attention to the seasonal lags.</a:t>
            </a:r>
          </a:p>
        </p:txBody>
      </p:sp>
    </p:spTree>
    <p:extLst>
      <p:ext uri="{BB962C8B-B14F-4D97-AF65-F5344CB8AC3E}">
        <p14:creationId xmlns:p14="http://schemas.microsoft.com/office/powerpoint/2010/main" val="22647762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Seasonal ARIMA</a:t>
            </a:r>
            <a:endParaRPr lang="en-US" sz="3200" b="1" spc="-10" dirty="0">
              <a:solidFill>
                <a:srgbClr val="FF0000"/>
              </a:solidFill>
              <a:latin typeface="Arial" panose="020B0604020202020204"/>
              <a:ea typeface="+mn-ea"/>
              <a:cs typeface="Arial" panose="020B0604020202020204"/>
            </a:endParaRPr>
          </a:p>
        </p:txBody>
      </p:sp>
      <p:pic>
        <p:nvPicPr>
          <p:cNvPr id="4" name="Picture 3">
            <a:extLst>
              <a:ext uri="{FF2B5EF4-FFF2-40B4-BE49-F238E27FC236}">
                <a16:creationId xmlns:a16="http://schemas.microsoft.com/office/drawing/2014/main" id="{9B4F9BB3-467B-435A-8F01-0BBC96BCD625}"/>
              </a:ext>
            </a:extLst>
          </p:cNvPr>
          <p:cNvPicPr>
            <a:picLocks noChangeAspect="1"/>
          </p:cNvPicPr>
          <p:nvPr/>
        </p:nvPicPr>
        <p:blipFill>
          <a:blip r:embed="rId2"/>
          <a:stretch>
            <a:fillRect/>
          </a:stretch>
        </p:blipFill>
        <p:spPr>
          <a:xfrm>
            <a:off x="300135" y="1563560"/>
            <a:ext cx="4395788" cy="1549491"/>
          </a:xfrm>
          <a:prstGeom prst="rect">
            <a:avLst/>
          </a:prstGeom>
        </p:spPr>
      </p:pic>
      <p:sp>
        <p:nvSpPr>
          <p:cNvPr id="7" name="TextBox 6">
            <a:extLst>
              <a:ext uri="{FF2B5EF4-FFF2-40B4-BE49-F238E27FC236}">
                <a16:creationId xmlns:a16="http://schemas.microsoft.com/office/drawing/2014/main" id="{1D3A316A-1B40-4F5A-9FFD-C7A022CA14FF}"/>
              </a:ext>
            </a:extLst>
          </p:cNvPr>
          <p:cNvSpPr txBox="1"/>
          <p:nvPr/>
        </p:nvSpPr>
        <p:spPr>
          <a:xfrm>
            <a:off x="4572000" y="1916429"/>
            <a:ext cx="4395788" cy="738664"/>
          </a:xfrm>
          <a:prstGeom prst="rect">
            <a:avLst/>
          </a:prstGeom>
          <a:noFill/>
        </p:spPr>
        <p:txBody>
          <a:bodyPr wrap="square">
            <a:spAutoFit/>
          </a:bodyPr>
          <a:lstStyle/>
          <a:p>
            <a:pPr algn="just"/>
            <a:r>
              <a:rPr lang="en-US" sz="1400" b="0" i="0" dirty="0">
                <a:solidFill>
                  <a:srgbClr val="333333"/>
                </a:solidFill>
                <a:effectLst/>
                <a:latin typeface="Book Antiqua" panose="02040602050305030304" pitchFamily="18" charset="0"/>
              </a:rPr>
              <a:t>The data are clearly non-stationary, with strong seasonality and a nonlinear trend, so we will first take a seasonal difference. </a:t>
            </a:r>
            <a:endParaRPr lang="en-IN" sz="1400" dirty="0">
              <a:latin typeface="Book Antiqua" panose="02040602050305030304" pitchFamily="18" charset="0"/>
            </a:endParaRPr>
          </a:p>
        </p:txBody>
      </p:sp>
      <p:pic>
        <p:nvPicPr>
          <p:cNvPr id="9" name="Picture 8">
            <a:extLst>
              <a:ext uri="{FF2B5EF4-FFF2-40B4-BE49-F238E27FC236}">
                <a16:creationId xmlns:a16="http://schemas.microsoft.com/office/drawing/2014/main" id="{9DA01F1E-568E-41D4-90D4-739C088A41C4}"/>
              </a:ext>
            </a:extLst>
          </p:cNvPr>
          <p:cNvPicPr>
            <a:picLocks noChangeAspect="1"/>
          </p:cNvPicPr>
          <p:nvPr/>
        </p:nvPicPr>
        <p:blipFill>
          <a:blip r:embed="rId3"/>
          <a:stretch>
            <a:fillRect/>
          </a:stretch>
        </p:blipFill>
        <p:spPr>
          <a:xfrm>
            <a:off x="376092" y="3242640"/>
            <a:ext cx="4271865" cy="1801145"/>
          </a:xfrm>
          <a:prstGeom prst="rect">
            <a:avLst/>
          </a:prstGeom>
        </p:spPr>
      </p:pic>
      <p:sp>
        <p:nvSpPr>
          <p:cNvPr id="11" name="TextBox 10">
            <a:extLst>
              <a:ext uri="{FF2B5EF4-FFF2-40B4-BE49-F238E27FC236}">
                <a16:creationId xmlns:a16="http://schemas.microsoft.com/office/drawing/2014/main" id="{F8743E91-BBAB-43EC-8047-C9764B969119}"/>
              </a:ext>
            </a:extLst>
          </p:cNvPr>
          <p:cNvSpPr txBox="1"/>
          <p:nvPr/>
        </p:nvSpPr>
        <p:spPr>
          <a:xfrm>
            <a:off x="4953000" y="3627041"/>
            <a:ext cx="3796782" cy="307777"/>
          </a:xfrm>
          <a:prstGeom prst="rect">
            <a:avLst/>
          </a:prstGeom>
          <a:noFill/>
        </p:spPr>
        <p:txBody>
          <a:bodyPr wrap="square">
            <a:spAutoFit/>
          </a:bodyPr>
          <a:lstStyle/>
          <a:p>
            <a:r>
              <a:rPr lang="en-US" sz="1400" b="0" i="0" dirty="0">
                <a:solidFill>
                  <a:srgbClr val="FF0000"/>
                </a:solidFill>
                <a:effectLst/>
                <a:latin typeface="Book Antiqua" panose="02040602050305030304" pitchFamily="18" charset="0"/>
              </a:rPr>
              <a:t>The seasonally differenced data are shown</a:t>
            </a:r>
            <a:endParaRPr lang="en-IN" sz="1400" dirty="0">
              <a:solidFill>
                <a:srgbClr val="FF0000"/>
              </a:solidFill>
              <a:latin typeface="Book Antiqua" panose="02040602050305030304" pitchFamily="18" charset="0"/>
            </a:endParaRPr>
          </a:p>
        </p:txBody>
      </p:sp>
      <p:pic>
        <p:nvPicPr>
          <p:cNvPr id="13" name="Picture 12">
            <a:extLst>
              <a:ext uri="{FF2B5EF4-FFF2-40B4-BE49-F238E27FC236}">
                <a16:creationId xmlns:a16="http://schemas.microsoft.com/office/drawing/2014/main" id="{6D18905C-41B1-41C3-9C9B-AA30454FA436}"/>
              </a:ext>
            </a:extLst>
          </p:cNvPr>
          <p:cNvPicPr>
            <a:picLocks noChangeAspect="1"/>
          </p:cNvPicPr>
          <p:nvPr/>
        </p:nvPicPr>
        <p:blipFill>
          <a:blip r:embed="rId4"/>
          <a:stretch>
            <a:fillRect/>
          </a:stretch>
        </p:blipFill>
        <p:spPr>
          <a:xfrm>
            <a:off x="103172" y="5043785"/>
            <a:ext cx="6586537" cy="1549491"/>
          </a:xfrm>
          <a:prstGeom prst="rect">
            <a:avLst/>
          </a:prstGeom>
        </p:spPr>
      </p:pic>
    </p:spTree>
    <p:extLst>
      <p:ext uri="{BB962C8B-B14F-4D97-AF65-F5344CB8AC3E}">
        <p14:creationId xmlns:p14="http://schemas.microsoft.com/office/powerpoint/2010/main" val="42291065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Seasonal ARIMA</a:t>
            </a:r>
            <a:endParaRPr lang="en-US" sz="3200" b="1" spc="-10" dirty="0">
              <a:solidFill>
                <a:srgbClr val="FF0000"/>
              </a:solidFill>
              <a:latin typeface="Arial" panose="020B0604020202020204"/>
              <a:ea typeface="+mn-ea"/>
              <a:cs typeface="Arial" panose="020B0604020202020204"/>
            </a:endParaRPr>
          </a:p>
        </p:txBody>
      </p:sp>
      <p:pic>
        <p:nvPicPr>
          <p:cNvPr id="5" name="Picture 4">
            <a:extLst>
              <a:ext uri="{FF2B5EF4-FFF2-40B4-BE49-F238E27FC236}">
                <a16:creationId xmlns:a16="http://schemas.microsoft.com/office/drawing/2014/main" id="{830AB30C-3589-416E-821E-DD9EBFFB4FF1}"/>
              </a:ext>
            </a:extLst>
          </p:cNvPr>
          <p:cNvPicPr>
            <a:picLocks noChangeAspect="1"/>
          </p:cNvPicPr>
          <p:nvPr/>
        </p:nvPicPr>
        <p:blipFill>
          <a:blip r:embed="rId2"/>
          <a:stretch>
            <a:fillRect/>
          </a:stretch>
        </p:blipFill>
        <p:spPr>
          <a:xfrm>
            <a:off x="152400" y="1630188"/>
            <a:ext cx="4648200" cy="1494012"/>
          </a:xfrm>
          <a:prstGeom prst="rect">
            <a:avLst/>
          </a:prstGeom>
        </p:spPr>
      </p:pic>
      <p:pic>
        <p:nvPicPr>
          <p:cNvPr id="12" name="Picture 11">
            <a:extLst>
              <a:ext uri="{FF2B5EF4-FFF2-40B4-BE49-F238E27FC236}">
                <a16:creationId xmlns:a16="http://schemas.microsoft.com/office/drawing/2014/main" id="{03944940-0427-4745-9FCE-FABA90AF9A96}"/>
              </a:ext>
            </a:extLst>
          </p:cNvPr>
          <p:cNvPicPr>
            <a:picLocks noChangeAspect="1"/>
          </p:cNvPicPr>
          <p:nvPr/>
        </p:nvPicPr>
        <p:blipFill>
          <a:blip r:embed="rId3"/>
          <a:stretch>
            <a:fillRect/>
          </a:stretch>
        </p:blipFill>
        <p:spPr>
          <a:xfrm>
            <a:off x="0" y="3200400"/>
            <a:ext cx="5257800" cy="1581150"/>
          </a:xfrm>
          <a:prstGeom prst="rect">
            <a:avLst/>
          </a:prstGeom>
        </p:spPr>
      </p:pic>
      <p:sp>
        <p:nvSpPr>
          <p:cNvPr id="15" name="TextBox 14">
            <a:extLst>
              <a:ext uri="{FF2B5EF4-FFF2-40B4-BE49-F238E27FC236}">
                <a16:creationId xmlns:a16="http://schemas.microsoft.com/office/drawing/2014/main" id="{D6D3A652-F01C-452B-9AFD-388D821F1A68}"/>
              </a:ext>
            </a:extLst>
          </p:cNvPr>
          <p:cNvSpPr txBox="1"/>
          <p:nvPr/>
        </p:nvSpPr>
        <p:spPr>
          <a:xfrm>
            <a:off x="5334000" y="1646128"/>
            <a:ext cx="3657600" cy="2645789"/>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400" b="0" i="0" dirty="0">
                <a:solidFill>
                  <a:srgbClr val="333333"/>
                </a:solidFill>
                <a:effectLst/>
                <a:latin typeface="Book Antiqua" panose="02040602050305030304" pitchFamily="18" charset="0"/>
              </a:rPr>
              <a:t>Our aim now is to find an appropriate ARIMA model based on the ACF and PACF shown in Figure. </a:t>
            </a:r>
          </a:p>
          <a:p>
            <a:pPr marL="285750" indent="-285750" algn="just">
              <a:lnSpc>
                <a:spcPct val="150000"/>
              </a:lnSpc>
              <a:buFont typeface="Wingdings" panose="05000000000000000000" pitchFamily="2" charset="2"/>
              <a:buChar char="q"/>
            </a:pPr>
            <a:r>
              <a:rPr lang="en-US" sz="1400" b="0" i="0" dirty="0">
                <a:solidFill>
                  <a:srgbClr val="333333"/>
                </a:solidFill>
                <a:effectLst/>
                <a:latin typeface="Book Antiqua" panose="02040602050305030304" pitchFamily="18" charset="0"/>
              </a:rPr>
              <a:t>The significant spike at lag 2 in the ACF suggests a non-seasonal MA(2) component. The significant spike at lag 12 in the ACF suggests a seasonal MA(1) component. </a:t>
            </a:r>
            <a:endParaRPr lang="en-IN" sz="1400" dirty="0">
              <a:latin typeface="Book Antiqua" panose="02040602050305030304" pitchFamily="18" charset="0"/>
            </a:endParaRPr>
          </a:p>
        </p:txBody>
      </p:sp>
      <p:sp>
        <p:nvSpPr>
          <p:cNvPr id="17" name="TextBox 16">
            <a:extLst>
              <a:ext uri="{FF2B5EF4-FFF2-40B4-BE49-F238E27FC236}">
                <a16:creationId xmlns:a16="http://schemas.microsoft.com/office/drawing/2014/main" id="{6CC5694B-38F0-4153-A007-D4050F6B3D21}"/>
              </a:ext>
            </a:extLst>
          </p:cNvPr>
          <p:cNvSpPr txBox="1"/>
          <p:nvPr/>
        </p:nvSpPr>
        <p:spPr>
          <a:xfrm>
            <a:off x="0" y="4800707"/>
            <a:ext cx="8610600" cy="1353127"/>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400" b="0" i="0" dirty="0">
                <a:solidFill>
                  <a:srgbClr val="333333"/>
                </a:solidFill>
                <a:effectLst/>
                <a:latin typeface="Book Antiqua" panose="02040602050305030304" pitchFamily="18" charset="0"/>
              </a:rPr>
              <a:t>Consequently, we begin with an ARIMA(0,1,2)(0,1,1)12 model, indicating a first difference, a seasonal difference, and non-seasonal MA(2) and seasonal MA(1) component. </a:t>
            </a:r>
          </a:p>
          <a:p>
            <a:pPr marL="285750" indent="-285750" algn="just">
              <a:lnSpc>
                <a:spcPct val="150000"/>
              </a:lnSpc>
              <a:buFont typeface="Wingdings" panose="05000000000000000000" pitchFamily="2" charset="2"/>
              <a:buChar char="q"/>
            </a:pPr>
            <a:r>
              <a:rPr lang="en-US" sz="1400" b="0" i="0" dirty="0">
                <a:solidFill>
                  <a:srgbClr val="333333"/>
                </a:solidFill>
                <a:effectLst/>
                <a:latin typeface="Book Antiqua" panose="02040602050305030304" pitchFamily="18" charset="0"/>
              </a:rPr>
              <a:t>If we had started with the PACF, we may have selected an ARIMA(2,1,0)(0,1,1)12 model — using the PACF to select the non-seasonal part of the model and the ACF to select the seasonal part of the model</a:t>
            </a:r>
            <a:endParaRPr lang="en-IN" sz="1400" dirty="0">
              <a:latin typeface="Book Antiqua" panose="02040602050305030304" pitchFamily="18" charset="0"/>
            </a:endParaRPr>
          </a:p>
        </p:txBody>
      </p:sp>
    </p:spTree>
    <p:extLst>
      <p:ext uri="{BB962C8B-B14F-4D97-AF65-F5344CB8AC3E}">
        <p14:creationId xmlns:p14="http://schemas.microsoft.com/office/powerpoint/2010/main" val="34760331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Seasonal ARIMA</a:t>
            </a:r>
            <a:endParaRPr lang="en-US" sz="3200" b="1" spc="-10" dirty="0">
              <a:solidFill>
                <a:srgbClr val="FF0000"/>
              </a:solidFill>
              <a:latin typeface="Arial" panose="020B0604020202020204"/>
              <a:ea typeface="+mn-ea"/>
              <a:cs typeface="Arial" panose="020B0604020202020204"/>
            </a:endParaRPr>
          </a:p>
        </p:txBody>
      </p:sp>
      <p:pic>
        <p:nvPicPr>
          <p:cNvPr id="6" name="Picture 5">
            <a:extLst>
              <a:ext uri="{FF2B5EF4-FFF2-40B4-BE49-F238E27FC236}">
                <a16:creationId xmlns:a16="http://schemas.microsoft.com/office/drawing/2014/main" id="{7683EDF7-2F6E-4750-8877-627D968EE388}"/>
              </a:ext>
            </a:extLst>
          </p:cNvPr>
          <p:cNvPicPr>
            <a:picLocks noChangeAspect="1"/>
          </p:cNvPicPr>
          <p:nvPr/>
        </p:nvPicPr>
        <p:blipFill>
          <a:blip r:embed="rId2"/>
          <a:stretch>
            <a:fillRect/>
          </a:stretch>
        </p:blipFill>
        <p:spPr>
          <a:xfrm>
            <a:off x="297024" y="1628775"/>
            <a:ext cx="6484776" cy="3600450"/>
          </a:xfrm>
          <a:prstGeom prst="rect">
            <a:avLst/>
          </a:prstGeom>
        </p:spPr>
      </p:pic>
      <p:pic>
        <p:nvPicPr>
          <p:cNvPr id="9" name="Picture 8">
            <a:extLst>
              <a:ext uri="{FF2B5EF4-FFF2-40B4-BE49-F238E27FC236}">
                <a16:creationId xmlns:a16="http://schemas.microsoft.com/office/drawing/2014/main" id="{B7E599D7-BB11-4C06-A6D3-2DE7C3847C29}"/>
              </a:ext>
            </a:extLst>
          </p:cNvPr>
          <p:cNvPicPr>
            <a:picLocks noChangeAspect="1"/>
          </p:cNvPicPr>
          <p:nvPr/>
        </p:nvPicPr>
        <p:blipFill>
          <a:blip r:embed="rId3"/>
          <a:stretch>
            <a:fillRect/>
          </a:stretch>
        </p:blipFill>
        <p:spPr>
          <a:xfrm>
            <a:off x="152400" y="5457825"/>
            <a:ext cx="6248400" cy="1019175"/>
          </a:xfrm>
          <a:prstGeom prst="rect">
            <a:avLst/>
          </a:prstGeom>
        </p:spPr>
      </p:pic>
    </p:spTree>
    <p:extLst>
      <p:ext uri="{BB962C8B-B14F-4D97-AF65-F5344CB8AC3E}">
        <p14:creationId xmlns:p14="http://schemas.microsoft.com/office/powerpoint/2010/main" val="37387724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Seasonal ARIMA</a:t>
            </a:r>
            <a:endParaRPr lang="en-US" sz="3200" b="1" spc="-10" dirty="0">
              <a:solidFill>
                <a:srgbClr val="FF0000"/>
              </a:solidFill>
              <a:latin typeface="Arial" panose="020B0604020202020204"/>
              <a:ea typeface="+mn-ea"/>
              <a:cs typeface="Arial" panose="020B0604020202020204"/>
            </a:endParaRPr>
          </a:p>
        </p:txBody>
      </p:sp>
      <p:sp>
        <p:nvSpPr>
          <p:cNvPr id="7" name="TextBox 6">
            <a:extLst>
              <a:ext uri="{FF2B5EF4-FFF2-40B4-BE49-F238E27FC236}">
                <a16:creationId xmlns:a16="http://schemas.microsoft.com/office/drawing/2014/main" id="{003E444A-1EC3-4DF0-AC5F-B5AE469F294A}"/>
              </a:ext>
            </a:extLst>
          </p:cNvPr>
          <p:cNvSpPr txBox="1"/>
          <p:nvPr/>
        </p:nvSpPr>
        <p:spPr>
          <a:xfrm>
            <a:off x="152400" y="1600200"/>
            <a:ext cx="7467600" cy="338554"/>
          </a:xfrm>
          <a:prstGeom prst="rect">
            <a:avLst/>
          </a:prstGeom>
          <a:noFill/>
        </p:spPr>
        <p:txBody>
          <a:bodyPr wrap="square">
            <a:spAutoFit/>
          </a:bodyPr>
          <a:lstStyle/>
          <a:p>
            <a:r>
              <a:rPr lang="en-US" sz="1600" b="0" i="0" dirty="0">
                <a:solidFill>
                  <a:srgbClr val="333333"/>
                </a:solidFill>
                <a:effectLst/>
                <a:latin typeface="Book Antiqua" panose="02040602050305030304" pitchFamily="18" charset="0"/>
              </a:rPr>
              <a:t>The residuals for the best model are shown</a:t>
            </a:r>
            <a:endParaRPr lang="en-IN" sz="1600" dirty="0">
              <a:latin typeface="Book Antiqua" panose="02040602050305030304" pitchFamily="18" charset="0"/>
            </a:endParaRPr>
          </a:p>
        </p:txBody>
      </p:sp>
      <p:pic>
        <p:nvPicPr>
          <p:cNvPr id="5" name="Picture 4">
            <a:extLst>
              <a:ext uri="{FF2B5EF4-FFF2-40B4-BE49-F238E27FC236}">
                <a16:creationId xmlns:a16="http://schemas.microsoft.com/office/drawing/2014/main" id="{000F02BC-94D7-41E7-8205-EC90B38C1359}"/>
              </a:ext>
            </a:extLst>
          </p:cNvPr>
          <p:cNvPicPr>
            <a:picLocks noChangeAspect="1"/>
          </p:cNvPicPr>
          <p:nvPr/>
        </p:nvPicPr>
        <p:blipFill>
          <a:blip r:embed="rId2"/>
          <a:stretch>
            <a:fillRect/>
          </a:stretch>
        </p:blipFill>
        <p:spPr>
          <a:xfrm>
            <a:off x="228600" y="2133600"/>
            <a:ext cx="6010275" cy="3695700"/>
          </a:xfrm>
          <a:prstGeom prst="rect">
            <a:avLst/>
          </a:prstGeom>
        </p:spPr>
      </p:pic>
      <p:sp>
        <p:nvSpPr>
          <p:cNvPr id="10" name="TextBox 9">
            <a:extLst>
              <a:ext uri="{FF2B5EF4-FFF2-40B4-BE49-F238E27FC236}">
                <a16:creationId xmlns:a16="http://schemas.microsoft.com/office/drawing/2014/main" id="{61F6E050-5AC4-4782-B2DB-E28B7DA588CF}"/>
              </a:ext>
            </a:extLst>
          </p:cNvPr>
          <p:cNvSpPr txBox="1"/>
          <p:nvPr/>
        </p:nvSpPr>
        <p:spPr>
          <a:xfrm>
            <a:off x="6246650" y="1621635"/>
            <a:ext cx="2744949" cy="954107"/>
          </a:xfrm>
          <a:prstGeom prst="rect">
            <a:avLst/>
          </a:prstGeom>
          <a:noFill/>
        </p:spPr>
        <p:txBody>
          <a:bodyPr wrap="square">
            <a:spAutoFit/>
          </a:bodyPr>
          <a:lstStyle/>
          <a:p>
            <a:pPr algn="just"/>
            <a:r>
              <a:rPr lang="en-US" sz="1400" b="0" i="0" dirty="0">
                <a:solidFill>
                  <a:srgbClr val="333333"/>
                </a:solidFill>
                <a:effectLst/>
                <a:latin typeface="Book Antiqua" panose="02040602050305030304" pitchFamily="18" charset="0"/>
              </a:rPr>
              <a:t>One small but significant spike (at lag 11) out of 36 is still consistent with white noise. To be sure, we use a </a:t>
            </a:r>
            <a:r>
              <a:rPr lang="en-US" sz="1400" b="0" i="0" dirty="0" err="1">
                <a:solidFill>
                  <a:srgbClr val="333333"/>
                </a:solidFill>
                <a:effectLst/>
                <a:latin typeface="Book Antiqua" panose="02040602050305030304" pitchFamily="18" charset="0"/>
              </a:rPr>
              <a:t>Ljung</a:t>
            </a:r>
            <a:r>
              <a:rPr lang="en-US" sz="1400" b="0" i="0" dirty="0">
                <a:solidFill>
                  <a:srgbClr val="333333"/>
                </a:solidFill>
                <a:effectLst/>
                <a:latin typeface="Book Antiqua" panose="02040602050305030304" pitchFamily="18" charset="0"/>
              </a:rPr>
              <a:t>-Box test</a:t>
            </a:r>
            <a:endParaRPr lang="en-IN" sz="1400" dirty="0">
              <a:latin typeface="Book Antiqua" panose="02040602050305030304" pitchFamily="18" charset="0"/>
            </a:endParaRPr>
          </a:p>
        </p:txBody>
      </p:sp>
      <p:pic>
        <p:nvPicPr>
          <p:cNvPr id="12" name="Picture 11">
            <a:extLst>
              <a:ext uri="{FF2B5EF4-FFF2-40B4-BE49-F238E27FC236}">
                <a16:creationId xmlns:a16="http://schemas.microsoft.com/office/drawing/2014/main" id="{04657CA4-8B90-464E-B32F-C84862A147BD}"/>
              </a:ext>
            </a:extLst>
          </p:cNvPr>
          <p:cNvPicPr>
            <a:picLocks noChangeAspect="1"/>
          </p:cNvPicPr>
          <p:nvPr/>
        </p:nvPicPr>
        <p:blipFill>
          <a:blip r:embed="rId3"/>
          <a:stretch>
            <a:fillRect/>
          </a:stretch>
        </p:blipFill>
        <p:spPr>
          <a:xfrm>
            <a:off x="6380874" y="2651838"/>
            <a:ext cx="2476500" cy="819150"/>
          </a:xfrm>
          <a:prstGeom prst="rect">
            <a:avLst/>
          </a:prstGeom>
        </p:spPr>
      </p:pic>
      <p:sp>
        <p:nvSpPr>
          <p:cNvPr id="14" name="TextBox 13">
            <a:extLst>
              <a:ext uri="{FF2B5EF4-FFF2-40B4-BE49-F238E27FC236}">
                <a16:creationId xmlns:a16="http://schemas.microsoft.com/office/drawing/2014/main" id="{257597B7-3139-4856-8059-DC9709B3ABD1}"/>
              </a:ext>
            </a:extLst>
          </p:cNvPr>
          <p:cNvSpPr txBox="1"/>
          <p:nvPr/>
        </p:nvSpPr>
        <p:spPr>
          <a:xfrm>
            <a:off x="6380874" y="3657600"/>
            <a:ext cx="2305926" cy="738664"/>
          </a:xfrm>
          <a:prstGeom prst="rect">
            <a:avLst/>
          </a:prstGeom>
          <a:noFill/>
        </p:spPr>
        <p:txBody>
          <a:bodyPr wrap="square">
            <a:spAutoFit/>
          </a:bodyPr>
          <a:lstStyle/>
          <a:p>
            <a:pPr algn="just"/>
            <a:r>
              <a:rPr lang="en-US" sz="1400" b="0" i="0" dirty="0">
                <a:solidFill>
                  <a:srgbClr val="333333"/>
                </a:solidFill>
                <a:effectLst/>
                <a:latin typeface="Book Antiqua" panose="02040602050305030304" pitchFamily="18" charset="0"/>
              </a:rPr>
              <a:t>The large p-value confirms that the residuals are similar to white noise.</a:t>
            </a:r>
            <a:endParaRPr lang="en-IN" sz="1400" dirty="0">
              <a:latin typeface="Book Antiqua" panose="02040602050305030304" pitchFamily="18" charset="0"/>
            </a:endParaRPr>
          </a:p>
        </p:txBody>
      </p:sp>
    </p:spTree>
    <p:extLst>
      <p:ext uri="{BB962C8B-B14F-4D97-AF65-F5344CB8AC3E}">
        <p14:creationId xmlns:p14="http://schemas.microsoft.com/office/powerpoint/2010/main" val="19964468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Regression with ARIMA errors</a:t>
            </a:r>
            <a:endParaRPr lang="en-US" sz="3200" b="1" spc="-10" dirty="0">
              <a:solidFill>
                <a:srgbClr val="FF0000"/>
              </a:solidFill>
              <a:latin typeface="Arial" panose="020B0604020202020204"/>
              <a:ea typeface="+mn-ea"/>
              <a:cs typeface="Arial" panose="020B0604020202020204"/>
            </a:endParaRPr>
          </a:p>
        </p:txBody>
      </p:sp>
      <p:sp>
        <p:nvSpPr>
          <p:cNvPr id="3" name="Rectangle 2">
            <a:extLst>
              <a:ext uri="{FF2B5EF4-FFF2-40B4-BE49-F238E27FC236}">
                <a16:creationId xmlns:a16="http://schemas.microsoft.com/office/drawing/2014/main" id="{545372C7-9FD2-4F9D-86EF-41EE9DF2CD35}"/>
              </a:ext>
            </a:extLst>
          </p:cNvPr>
          <p:cNvSpPr/>
          <p:nvPr/>
        </p:nvSpPr>
        <p:spPr>
          <a:xfrm>
            <a:off x="156148" y="1654088"/>
            <a:ext cx="4783682" cy="369332"/>
          </a:xfrm>
          <a:prstGeom prst="rect">
            <a:avLst/>
          </a:prstGeom>
        </p:spPr>
        <p:txBody>
          <a:bodyPr wrap="none">
            <a:spAutoFit/>
          </a:bodyPr>
          <a:lstStyle/>
          <a:p>
            <a:r>
              <a:rPr lang="en-US" b="0" i="0" dirty="0">
                <a:solidFill>
                  <a:srgbClr val="333333"/>
                </a:solidFill>
                <a:effectLst/>
                <a:latin typeface="Book Antiqua" panose="02040602050305030304" pitchFamily="18" charset="0"/>
              </a:rPr>
              <a:t>we considered regression models of the form</a:t>
            </a:r>
            <a:endParaRPr lang="en-IN" dirty="0">
              <a:latin typeface="Book Antiqua" panose="02040602050305030304" pitchFamily="18" charset="0"/>
            </a:endParaRPr>
          </a:p>
        </p:txBody>
      </p:sp>
      <p:pic>
        <p:nvPicPr>
          <p:cNvPr id="4" name="Picture 3">
            <a:extLst>
              <a:ext uri="{FF2B5EF4-FFF2-40B4-BE49-F238E27FC236}">
                <a16:creationId xmlns:a16="http://schemas.microsoft.com/office/drawing/2014/main" id="{AE7FACB6-0EBA-4D73-B828-5CDDFEDE07E5}"/>
              </a:ext>
            </a:extLst>
          </p:cNvPr>
          <p:cNvPicPr>
            <a:picLocks noChangeAspect="1"/>
          </p:cNvPicPr>
          <p:nvPr/>
        </p:nvPicPr>
        <p:blipFill>
          <a:blip r:embed="rId2"/>
          <a:stretch>
            <a:fillRect/>
          </a:stretch>
        </p:blipFill>
        <p:spPr>
          <a:xfrm>
            <a:off x="2297234" y="2086731"/>
            <a:ext cx="4101075" cy="505266"/>
          </a:xfrm>
          <a:prstGeom prst="rect">
            <a:avLst/>
          </a:prstGeom>
        </p:spPr>
      </p:pic>
      <p:sp>
        <p:nvSpPr>
          <p:cNvPr id="6" name="Rectangle 5">
            <a:extLst>
              <a:ext uri="{FF2B5EF4-FFF2-40B4-BE49-F238E27FC236}">
                <a16:creationId xmlns:a16="http://schemas.microsoft.com/office/drawing/2014/main" id="{A5003371-065D-4E07-953A-A8A64AC7EEEA}"/>
              </a:ext>
            </a:extLst>
          </p:cNvPr>
          <p:cNvSpPr/>
          <p:nvPr/>
        </p:nvSpPr>
        <p:spPr>
          <a:xfrm>
            <a:off x="152400" y="2682937"/>
            <a:ext cx="8686800" cy="794576"/>
          </a:xfrm>
          <a:prstGeom prst="rect">
            <a:avLst/>
          </a:prstGeom>
        </p:spPr>
        <p:txBody>
          <a:bodyPr wrap="square">
            <a:spAutoFit/>
          </a:bodyPr>
          <a:lstStyle/>
          <a:p>
            <a:pPr>
              <a:lnSpc>
                <a:spcPct val="150000"/>
              </a:lnSpc>
            </a:pPr>
            <a:r>
              <a:rPr lang="en-US" sz="1600" b="0" i="0" dirty="0">
                <a:solidFill>
                  <a:srgbClr val="333333"/>
                </a:solidFill>
                <a:effectLst/>
                <a:latin typeface="Book Antiqua" panose="02040602050305030304" pitchFamily="18" charset="0"/>
              </a:rPr>
              <a:t>where </a:t>
            </a:r>
            <a:r>
              <a:rPr lang="en-US" sz="1600" b="0" i="0" dirty="0" err="1">
                <a:solidFill>
                  <a:srgbClr val="333333"/>
                </a:solidFill>
                <a:effectLst/>
                <a:latin typeface="Book Antiqua" panose="02040602050305030304" pitchFamily="18" charset="0"/>
              </a:rPr>
              <a:t>yt</a:t>
            </a:r>
            <a:r>
              <a:rPr lang="en-US" sz="1600" b="0" i="0" dirty="0">
                <a:solidFill>
                  <a:srgbClr val="333333"/>
                </a:solidFill>
                <a:effectLst/>
                <a:latin typeface="Book Antiqua" panose="02040602050305030304" pitchFamily="18" charset="0"/>
              </a:rPr>
              <a:t> is a linear function of the k predictor variables (x1,t,…,</a:t>
            </a:r>
            <a:r>
              <a:rPr lang="en-US" sz="1600" b="0" i="0" dirty="0" err="1">
                <a:solidFill>
                  <a:srgbClr val="333333"/>
                </a:solidFill>
                <a:effectLst/>
                <a:latin typeface="Book Antiqua" panose="02040602050305030304" pitchFamily="18" charset="0"/>
              </a:rPr>
              <a:t>xk,t</a:t>
            </a:r>
            <a:r>
              <a:rPr lang="en-US" sz="1600" b="0" i="0" dirty="0">
                <a:solidFill>
                  <a:srgbClr val="333333"/>
                </a:solidFill>
                <a:effectLst/>
                <a:latin typeface="Book Antiqua" panose="02040602050305030304" pitchFamily="18" charset="0"/>
              </a:rPr>
              <a:t>), and </a:t>
            </a:r>
            <a:r>
              <a:rPr lang="en-US" sz="1600" b="0" i="0" dirty="0" err="1">
                <a:solidFill>
                  <a:srgbClr val="333333"/>
                </a:solidFill>
                <a:effectLst/>
                <a:latin typeface="Book Antiqua" panose="02040602050305030304" pitchFamily="18" charset="0"/>
              </a:rPr>
              <a:t>εt</a:t>
            </a:r>
            <a:r>
              <a:rPr lang="en-US" sz="1600" b="0" i="0" dirty="0">
                <a:solidFill>
                  <a:srgbClr val="333333"/>
                </a:solidFill>
                <a:effectLst/>
                <a:latin typeface="Book Antiqua" panose="02040602050305030304" pitchFamily="18" charset="0"/>
              </a:rPr>
              <a:t> is usually assumed to be an uncorrelated error term (i.e., it is white noise).</a:t>
            </a:r>
            <a:endParaRPr lang="en-IN" sz="1600" dirty="0">
              <a:latin typeface="Book Antiqua" panose="02040602050305030304" pitchFamily="18" charset="0"/>
            </a:endParaRPr>
          </a:p>
        </p:txBody>
      </p:sp>
      <p:sp>
        <p:nvSpPr>
          <p:cNvPr id="8" name="Rectangle 7">
            <a:extLst>
              <a:ext uri="{FF2B5EF4-FFF2-40B4-BE49-F238E27FC236}">
                <a16:creationId xmlns:a16="http://schemas.microsoft.com/office/drawing/2014/main" id="{05E79531-ADFD-4D9C-9439-2115CDEB9847}"/>
              </a:ext>
            </a:extLst>
          </p:cNvPr>
          <p:cNvSpPr/>
          <p:nvPr/>
        </p:nvSpPr>
        <p:spPr>
          <a:xfrm>
            <a:off x="181131" y="3469295"/>
            <a:ext cx="8658070" cy="1297856"/>
          </a:xfrm>
          <a:prstGeom prst="rect">
            <a:avLst/>
          </a:prstGeom>
        </p:spPr>
        <p:txBody>
          <a:bodyPr wrap="square">
            <a:spAutoFit/>
          </a:bodyPr>
          <a:lstStyle/>
          <a:p>
            <a:pPr marL="285750" indent="-285750" algn="just">
              <a:lnSpc>
                <a:spcPct val="150000"/>
              </a:lnSpc>
              <a:buFont typeface="Wingdings" panose="05000000000000000000" pitchFamily="2" charset="2"/>
              <a:buChar char="q"/>
            </a:pPr>
            <a:r>
              <a:rPr lang="en-US" b="0" i="0" dirty="0">
                <a:solidFill>
                  <a:srgbClr val="333333"/>
                </a:solidFill>
                <a:effectLst/>
                <a:latin typeface="Book Antiqua" panose="02040602050305030304" pitchFamily="18" charset="0"/>
              </a:rPr>
              <a:t>Here, we will allow the errors from a regression to contain autocorrelation.</a:t>
            </a:r>
          </a:p>
          <a:p>
            <a:pPr marL="285750" indent="-285750" algn="just">
              <a:lnSpc>
                <a:spcPct val="150000"/>
              </a:lnSpc>
              <a:buFont typeface="Wingdings" panose="05000000000000000000" pitchFamily="2" charset="2"/>
              <a:buChar char="q"/>
            </a:pPr>
            <a:r>
              <a:rPr lang="en-US" dirty="0">
                <a:latin typeface="Book Antiqua" panose="02040602050305030304" pitchFamily="18" charset="0"/>
              </a:rPr>
              <a:t>To</a:t>
            </a:r>
            <a:r>
              <a:rPr lang="en-US" dirty="0"/>
              <a:t> </a:t>
            </a:r>
            <a:r>
              <a:rPr lang="en-US" dirty="0" err="1">
                <a:solidFill>
                  <a:srgbClr val="333333"/>
                </a:solidFill>
                <a:latin typeface="Book Antiqua" panose="02040602050305030304" pitchFamily="18" charset="0"/>
              </a:rPr>
              <a:t>emphasise</a:t>
            </a:r>
            <a:r>
              <a:rPr lang="en-US" dirty="0">
                <a:solidFill>
                  <a:srgbClr val="333333"/>
                </a:solidFill>
                <a:latin typeface="Book Antiqua" panose="02040602050305030304" pitchFamily="18" charset="0"/>
              </a:rPr>
              <a:t> this change in perspective, we will replace </a:t>
            </a:r>
            <a:r>
              <a:rPr lang="en-US" dirty="0" err="1">
                <a:solidFill>
                  <a:srgbClr val="333333"/>
                </a:solidFill>
                <a:latin typeface="Book Antiqua" panose="02040602050305030304" pitchFamily="18" charset="0"/>
              </a:rPr>
              <a:t>εt</a:t>
            </a:r>
            <a:r>
              <a:rPr lang="en-US" dirty="0">
                <a:solidFill>
                  <a:srgbClr val="333333"/>
                </a:solidFill>
                <a:latin typeface="Book Antiqua" panose="02040602050305030304" pitchFamily="18" charset="0"/>
              </a:rPr>
              <a:t> with </a:t>
            </a:r>
            <a:r>
              <a:rPr lang="en-US" dirty="0" err="1">
                <a:solidFill>
                  <a:srgbClr val="333333"/>
                </a:solidFill>
                <a:latin typeface="Book Antiqua" panose="02040602050305030304" pitchFamily="18" charset="0"/>
              </a:rPr>
              <a:t>ηt</a:t>
            </a:r>
            <a:r>
              <a:rPr lang="en-US" dirty="0">
                <a:solidFill>
                  <a:srgbClr val="333333"/>
                </a:solidFill>
                <a:latin typeface="Book Antiqua" panose="02040602050305030304" pitchFamily="18" charset="0"/>
              </a:rPr>
              <a:t> in the equation. The error series </a:t>
            </a:r>
            <a:r>
              <a:rPr lang="en-US" dirty="0" err="1">
                <a:solidFill>
                  <a:srgbClr val="333333"/>
                </a:solidFill>
                <a:latin typeface="Book Antiqua" panose="02040602050305030304" pitchFamily="18" charset="0"/>
              </a:rPr>
              <a:t>ηt</a:t>
            </a:r>
            <a:r>
              <a:rPr lang="en-US" dirty="0">
                <a:solidFill>
                  <a:srgbClr val="333333"/>
                </a:solidFill>
                <a:latin typeface="Book Antiqua" panose="02040602050305030304" pitchFamily="18" charset="0"/>
              </a:rPr>
              <a:t> is assumed to follow an ARIMA model.</a:t>
            </a:r>
            <a:endParaRPr lang="en-IN" dirty="0">
              <a:solidFill>
                <a:srgbClr val="333333"/>
              </a:solidFill>
              <a:latin typeface="Book Antiqua" panose="02040602050305030304" pitchFamily="18" charset="0"/>
            </a:endParaRPr>
          </a:p>
        </p:txBody>
      </p:sp>
      <p:sp>
        <p:nvSpPr>
          <p:cNvPr id="9" name="Rectangle 8">
            <a:extLst>
              <a:ext uri="{FF2B5EF4-FFF2-40B4-BE49-F238E27FC236}">
                <a16:creationId xmlns:a16="http://schemas.microsoft.com/office/drawing/2014/main" id="{4F541ED0-0D06-4023-9438-F57B64140245}"/>
              </a:ext>
            </a:extLst>
          </p:cNvPr>
          <p:cNvSpPr/>
          <p:nvPr/>
        </p:nvSpPr>
        <p:spPr>
          <a:xfrm>
            <a:off x="381571" y="4880746"/>
            <a:ext cx="7688516" cy="369332"/>
          </a:xfrm>
          <a:prstGeom prst="rect">
            <a:avLst/>
          </a:prstGeom>
        </p:spPr>
        <p:txBody>
          <a:bodyPr wrap="square">
            <a:spAutoFit/>
          </a:bodyPr>
          <a:lstStyle/>
          <a:p>
            <a:r>
              <a:rPr lang="en-US" b="0" i="0" dirty="0">
                <a:solidFill>
                  <a:srgbClr val="333333"/>
                </a:solidFill>
                <a:effectLst/>
                <a:latin typeface="Book Antiqua" panose="02040602050305030304" pitchFamily="18" charset="0"/>
              </a:rPr>
              <a:t>if </a:t>
            </a:r>
            <a:r>
              <a:rPr lang="en-US" b="0" i="0" dirty="0" err="1">
                <a:solidFill>
                  <a:srgbClr val="333333"/>
                </a:solidFill>
                <a:effectLst/>
                <a:latin typeface="Book Antiqua" panose="02040602050305030304" pitchFamily="18" charset="0"/>
              </a:rPr>
              <a:t>ηt</a:t>
            </a:r>
            <a:r>
              <a:rPr lang="en-US" b="0" i="0" dirty="0">
                <a:solidFill>
                  <a:srgbClr val="333333"/>
                </a:solidFill>
                <a:effectLst/>
                <a:latin typeface="Book Antiqua" panose="02040602050305030304" pitchFamily="18" charset="0"/>
              </a:rPr>
              <a:t> follows an ARIMA(1,1,1) model, we can write</a:t>
            </a:r>
            <a:endParaRPr lang="en-IN" dirty="0">
              <a:latin typeface="Book Antiqua" panose="02040602050305030304" pitchFamily="18" charset="0"/>
            </a:endParaRPr>
          </a:p>
        </p:txBody>
      </p:sp>
      <p:pic>
        <p:nvPicPr>
          <p:cNvPr id="11" name="Picture 10">
            <a:extLst>
              <a:ext uri="{FF2B5EF4-FFF2-40B4-BE49-F238E27FC236}">
                <a16:creationId xmlns:a16="http://schemas.microsoft.com/office/drawing/2014/main" id="{F5254219-34A4-4713-898A-415B6BEA3A41}"/>
              </a:ext>
            </a:extLst>
          </p:cNvPr>
          <p:cNvPicPr>
            <a:picLocks noChangeAspect="1"/>
          </p:cNvPicPr>
          <p:nvPr/>
        </p:nvPicPr>
        <p:blipFill>
          <a:blip r:embed="rId3"/>
          <a:stretch>
            <a:fillRect/>
          </a:stretch>
        </p:blipFill>
        <p:spPr>
          <a:xfrm>
            <a:off x="2547989" y="5363673"/>
            <a:ext cx="4691011" cy="609600"/>
          </a:xfrm>
          <a:prstGeom prst="rect">
            <a:avLst/>
          </a:prstGeom>
        </p:spPr>
      </p:pic>
      <p:sp>
        <p:nvSpPr>
          <p:cNvPr id="13" name="Rectangle 12">
            <a:extLst>
              <a:ext uri="{FF2B5EF4-FFF2-40B4-BE49-F238E27FC236}">
                <a16:creationId xmlns:a16="http://schemas.microsoft.com/office/drawing/2014/main" id="{EE010923-0433-47B8-8D1E-C001F42AEB03}"/>
              </a:ext>
            </a:extLst>
          </p:cNvPr>
          <p:cNvSpPr/>
          <p:nvPr/>
        </p:nvSpPr>
        <p:spPr>
          <a:xfrm>
            <a:off x="381571" y="5902202"/>
            <a:ext cx="3371436" cy="369332"/>
          </a:xfrm>
          <a:prstGeom prst="rect">
            <a:avLst/>
          </a:prstGeom>
        </p:spPr>
        <p:txBody>
          <a:bodyPr wrap="none">
            <a:spAutoFit/>
          </a:bodyPr>
          <a:lstStyle/>
          <a:p>
            <a:r>
              <a:rPr lang="en-US" b="0" i="0" dirty="0">
                <a:solidFill>
                  <a:srgbClr val="333333"/>
                </a:solidFill>
                <a:effectLst/>
                <a:latin typeface="Book Antiqua" panose="02040602050305030304" pitchFamily="18" charset="0"/>
              </a:rPr>
              <a:t>where </a:t>
            </a:r>
            <a:r>
              <a:rPr lang="en-US" b="0" i="0" dirty="0" err="1">
                <a:solidFill>
                  <a:srgbClr val="333333"/>
                </a:solidFill>
                <a:effectLst/>
                <a:latin typeface="Book Antiqua" panose="02040602050305030304" pitchFamily="18" charset="0"/>
              </a:rPr>
              <a:t>εt</a:t>
            </a:r>
            <a:r>
              <a:rPr lang="en-US" b="0" i="0" dirty="0">
                <a:solidFill>
                  <a:srgbClr val="333333"/>
                </a:solidFill>
                <a:effectLst/>
                <a:latin typeface="Book Antiqua" panose="02040602050305030304" pitchFamily="18" charset="0"/>
              </a:rPr>
              <a:t> is a white noise series.</a:t>
            </a:r>
            <a:endParaRPr lang="en-IN" dirty="0">
              <a:latin typeface="Book Antiqua" panose="02040602050305030304" pitchFamily="18" charset="0"/>
            </a:endParaRPr>
          </a:p>
        </p:txBody>
      </p:sp>
      <p:sp>
        <p:nvSpPr>
          <p:cNvPr id="15" name="Rectangle 14">
            <a:extLst>
              <a:ext uri="{FF2B5EF4-FFF2-40B4-BE49-F238E27FC236}">
                <a16:creationId xmlns:a16="http://schemas.microsoft.com/office/drawing/2014/main" id="{B914DA5D-F029-4EB7-9B71-40F6E5140BD2}"/>
              </a:ext>
            </a:extLst>
          </p:cNvPr>
          <p:cNvSpPr/>
          <p:nvPr/>
        </p:nvSpPr>
        <p:spPr>
          <a:xfrm>
            <a:off x="119296" y="6163732"/>
            <a:ext cx="8781739" cy="523220"/>
          </a:xfrm>
          <a:prstGeom prst="rect">
            <a:avLst/>
          </a:prstGeom>
        </p:spPr>
        <p:txBody>
          <a:bodyPr wrap="square">
            <a:spAutoFit/>
          </a:bodyPr>
          <a:lstStyle/>
          <a:p>
            <a:r>
              <a:rPr lang="en-US" sz="1400" dirty="0">
                <a:solidFill>
                  <a:srgbClr val="FF0000"/>
                </a:solidFill>
                <a:latin typeface="Book Antiqua" panose="02040602050305030304" pitchFamily="18" charset="0"/>
              </a:rPr>
              <a:t>T</a:t>
            </a:r>
            <a:r>
              <a:rPr lang="en-US" sz="1400" b="0" i="0" dirty="0">
                <a:solidFill>
                  <a:srgbClr val="FF0000"/>
                </a:solidFill>
                <a:effectLst/>
                <a:latin typeface="Book Antiqua" panose="02040602050305030304" pitchFamily="18" charset="0"/>
              </a:rPr>
              <a:t>he error from the regression model, which we denote by </a:t>
            </a:r>
            <a:r>
              <a:rPr lang="en-US" sz="1400" b="0" i="0" dirty="0" err="1">
                <a:solidFill>
                  <a:srgbClr val="FF0000"/>
                </a:solidFill>
                <a:effectLst/>
                <a:latin typeface="Book Antiqua" panose="02040602050305030304" pitchFamily="18" charset="0"/>
              </a:rPr>
              <a:t>ηt</a:t>
            </a:r>
            <a:r>
              <a:rPr lang="en-US" sz="1400" b="0" i="0" dirty="0">
                <a:solidFill>
                  <a:srgbClr val="FF0000"/>
                </a:solidFill>
                <a:effectLst/>
                <a:latin typeface="Book Antiqua" panose="02040602050305030304" pitchFamily="18" charset="0"/>
              </a:rPr>
              <a:t>, and the error from the ARIMA model, which we denote by </a:t>
            </a:r>
            <a:r>
              <a:rPr lang="en-US" sz="1400" b="0" i="0" dirty="0" err="1">
                <a:solidFill>
                  <a:srgbClr val="FF0000"/>
                </a:solidFill>
                <a:effectLst/>
                <a:latin typeface="Book Antiqua" panose="02040602050305030304" pitchFamily="18" charset="0"/>
              </a:rPr>
              <a:t>εt</a:t>
            </a:r>
            <a:r>
              <a:rPr lang="en-US" sz="1400" b="0" i="0" dirty="0">
                <a:solidFill>
                  <a:srgbClr val="FF0000"/>
                </a:solidFill>
                <a:effectLst/>
                <a:latin typeface="Book Antiqua" panose="02040602050305030304" pitchFamily="18" charset="0"/>
              </a:rPr>
              <a:t>. Only the ARIMA model errors are assumed to be white noise.</a:t>
            </a:r>
            <a:endParaRPr lang="en-IN" sz="1400" dirty="0">
              <a:solidFill>
                <a:srgbClr val="FF0000"/>
              </a:solidFill>
              <a:latin typeface="Book Antiqua" panose="02040602050305030304" pitchFamily="18" charset="0"/>
            </a:endParaRPr>
          </a:p>
        </p:txBody>
      </p:sp>
    </p:spTree>
    <p:extLst>
      <p:ext uri="{BB962C8B-B14F-4D97-AF65-F5344CB8AC3E}">
        <p14:creationId xmlns:p14="http://schemas.microsoft.com/office/powerpoint/2010/main" val="39223729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Regression with ARIMA errors</a:t>
            </a:r>
            <a:endParaRPr lang="en-US" sz="3200" b="1" spc="-10" dirty="0">
              <a:solidFill>
                <a:srgbClr val="FF0000"/>
              </a:solidFill>
              <a:latin typeface="Arial" panose="020B0604020202020204"/>
              <a:ea typeface="+mn-ea"/>
              <a:cs typeface="Arial" panose="020B0604020202020204"/>
            </a:endParaRPr>
          </a:p>
        </p:txBody>
      </p:sp>
      <p:sp>
        <p:nvSpPr>
          <p:cNvPr id="5" name="Rectangle 4">
            <a:extLst>
              <a:ext uri="{FF2B5EF4-FFF2-40B4-BE49-F238E27FC236}">
                <a16:creationId xmlns:a16="http://schemas.microsoft.com/office/drawing/2014/main" id="{32462A49-5593-4271-BA8F-50464B6DD1A9}"/>
              </a:ext>
            </a:extLst>
          </p:cNvPr>
          <p:cNvSpPr/>
          <p:nvPr/>
        </p:nvSpPr>
        <p:spPr>
          <a:xfrm>
            <a:off x="139700" y="1676400"/>
            <a:ext cx="8686800" cy="1297856"/>
          </a:xfrm>
          <a:prstGeom prst="rect">
            <a:avLst/>
          </a:prstGeom>
        </p:spPr>
        <p:txBody>
          <a:bodyPr wrap="square">
            <a:spAutoFit/>
          </a:bodyPr>
          <a:lstStyle/>
          <a:p>
            <a:pPr marL="285750" indent="-285750" algn="just">
              <a:lnSpc>
                <a:spcPct val="150000"/>
              </a:lnSpc>
              <a:buFont typeface="Wingdings" panose="05000000000000000000" pitchFamily="2" charset="2"/>
              <a:buChar char="q"/>
            </a:pPr>
            <a:r>
              <a:rPr lang="en-US" b="0" i="0" dirty="0">
                <a:solidFill>
                  <a:srgbClr val="333333"/>
                </a:solidFill>
                <a:effectLst/>
                <a:latin typeface="Book Antiqua" panose="02040602050305030304" pitchFamily="18" charset="0"/>
              </a:rPr>
              <a:t>When we estimate the parameters from the model, we need to </a:t>
            </a:r>
            <a:r>
              <a:rPr lang="en-US" b="0" i="0" dirty="0" err="1">
                <a:solidFill>
                  <a:srgbClr val="333333"/>
                </a:solidFill>
                <a:effectLst/>
                <a:latin typeface="Book Antiqua" panose="02040602050305030304" pitchFamily="18" charset="0"/>
              </a:rPr>
              <a:t>minimise</a:t>
            </a:r>
            <a:r>
              <a:rPr lang="en-US" b="0" i="0" dirty="0">
                <a:solidFill>
                  <a:srgbClr val="333333"/>
                </a:solidFill>
                <a:effectLst/>
                <a:latin typeface="Book Antiqua" panose="02040602050305030304" pitchFamily="18" charset="0"/>
              </a:rPr>
              <a:t> the sum of squared </a:t>
            </a:r>
            <a:r>
              <a:rPr lang="en-US" b="0" i="0" dirty="0" err="1">
                <a:solidFill>
                  <a:srgbClr val="333333"/>
                </a:solidFill>
                <a:effectLst/>
                <a:latin typeface="Book Antiqua" panose="02040602050305030304" pitchFamily="18" charset="0"/>
              </a:rPr>
              <a:t>εt</a:t>
            </a:r>
            <a:r>
              <a:rPr lang="en-US" b="0" i="0" dirty="0">
                <a:solidFill>
                  <a:srgbClr val="333333"/>
                </a:solidFill>
                <a:effectLst/>
                <a:latin typeface="Book Antiqua" panose="02040602050305030304" pitchFamily="18" charset="0"/>
              </a:rPr>
              <a:t> values. </a:t>
            </a:r>
          </a:p>
          <a:p>
            <a:pPr marL="285750" indent="-285750" algn="just">
              <a:lnSpc>
                <a:spcPct val="150000"/>
              </a:lnSpc>
              <a:buFont typeface="Wingdings" panose="05000000000000000000" pitchFamily="2" charset="2"/>
              <a:buChar char="q"/>
            </a:pPr>
            <a:r>
              <a:rPr lang="en-US" b="0" i="0" dirty="0">
                <a:solidFill>
                  <a:srgbClr val="333333"/>
                </a:solidFill>
                <a:effectLst/>
                <a:latin typeface="Book Antiqua" panose="02040602050305030304" pitchFamily="18" charset="0"/>
              </a:rPr>
              <a:t>If we </a:t>
            </a:r>
            <a:r>
              <a:rPr lang="en-US" b="0" i="0" dirty="0" err="1">
                <a:solidFill>
                  <a:srgbClr val="333333"/>
                </a:solidFill>
                <a:effectLst/>
                <a:latin typeface="Book Antiqua" panose="02040602050305030304" pitchFamily="18" charset="0"/>
              </a:rPr>
              <a:t>minimise</a:t>
            </a:r>
            <a:r>
              <a:rPr lang="en-US" b="0" i="0" dirty="0">
                <a:solidFill>
                  <a:srgbClr val="333333"/>
                </a:solidFill>
                <a:effectLst/>
                <a:latin typeface="Book Antiqua" panose="02040602050305030304" pitchFamily="18" charset="0"/>
              </a:rPr>
              <a:t> the sum of squared </a:t>
            </a:r>
            <a:r>
              <a:rPr lang="en-US" b="0" i="0" dirty="0" err="1">
                <a:solidFill>
                  <a:srgbClr val="333333"/>
                </a:solidFill>
                <a:effectLst/>
                <a:latin typeface="Book Antiqua" panose="02040602050305030304" pitchFamily="18" charset="0"/>
              </a:rPr>
              <a:t>ηt</a:t>
            </a:r>
            <a:r>
              <a:rPr lang="en-US" b="0" i="0" dirty="0">
                <a:solidFill>
                  <a:srgbClr val="333333"/>
                </a:solidFill>
                <a:effectLst/>
                <a:latin typeface="Book Antiqua" panose="02040602050305030304" pitchFamily="18" charset="0"/>
              </a:rPr>
              <a:t> values instead </a:t>
            </a:r>
            <a:r>
              <a:rPr lang="en-IN" dirty="0">
                <a:latin typeface="Book Antiqua" panose="02040602050305030304" pitchFamily="18" charset="0"/>
              </a:rPr>
              <a:t>then several problems arise.</a:t>
            </a:r>
          </a:p>
        </p:txBody>
      </p:sp>
      <p:pic>
        <p:nvPicPr>
          <p:cNvPr id="7" name="Picture 6">
            <a:extLst>
              <a:ext uri="{FF2B5EF4-FFF2-40B4-BE49-F238E27FC236}">
                <a16:creationId xmlns:a16="http://schemas.microsoft.com/office/drawing/2014/main" id="{A3EEED04-6962-4E5A-829F-6534BFBB0E7C}"/>
              </a:ext>
            </a:extLst>
          </p:cNvPr>
          <p:cNvPicPr>
            <a:picLocks noChangeAspect="1"/>
          </p:cNvPicPr>
          <p:nvPr/>
        </p:nvPicPr>
        <p:blipFill>
          <a:blip r:embed="rId2"/>
          <a:stretch>
            <a:fillRect/>
          </a:stretch>
        </p:blipFill>
        <p:spPr>
          <a:xfrm>
            <a:off x="139700" y="3276600"/>
            <a:ext cx="8686800" cy="3048000"/>
          </a:xfrm>
          <a:prstGeom prst="rect">
            <a:avLst/>
          </a:prstGeom>
        </p:spPr>
      </p:pic>
    </p:spTree>
    <p:extLst>
      <p:ext uri="{BB962C8B-B14F-4D97-AF65-F5344CB8AC3E}">
        <p14:creationId xmlns:p14="http://schemas.microsoft.com/office/powerpoint/2010/main" val="39445670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Regression with ARIMA errors</a:t>
            </a:r>
            <a:endParaRPr lang="en-US" sz="3200" b="1" spc="-10" dirty="0">
              <a:solidFill>
                <a:srgbClr val="FF0000"/>
              </a:solidFill>
              <a:latin typeface="Arial" panose="020B0604020202020204"/>
              <a:ea typeface="+mn-ea"/>
              <a:cs typeface="Arial" panose="020B0604020202020204"/>
            </a:endParaRPr>
          </a:p>
        </p:txBody>
      </p:sp>
      <p:sp>
        <p:nvSpPr>
          <p:cNvPr id="3" name="Rectangle 2">
            <a:extLst>
              <a:ext uri="{FF2B5EF4-FFF2-40B4-BE49-F238E27FC236}">
                <a16:creationId xmlns:a16="http://schemas.microsoft.com/office/drawing/2014/main" id="{F81CB296-5D12-420E-9D83-0F98F5255052}"/>
              </a:ext>
            </a:extLst>
          </p:cNvPr>
          <p:cNvSpPr/>
          <p:nvPr/>
        </p:nvSpPr>
        <p:spPr>
          <a:xfrm>
            <a:off x="114300" y="1524000"/>
            <a:ext cx="8915400" cy="3375348"/>
          </a:xfrm>
          <a:prstGeom prst="rect">
            <a:avLst/>
          </a:prstGeom>
        </p:spPr>
        <p:txBody>
          <a:bodyPr wrap="square">
            <a:spAutoFit/>
          </a:bodyPr>
          <a:lstStyle/>
          <a:p>
            <a:pPr marL="285750" indent="-285750" algn="just">
              <a:lnSpc>
                <a:spcPct val="150000"/>
              </a:lnSpc>
              <a:buFont typeface="Wingdings" panose="05000000000000000000" pitchFamily="2" charset="2"/>
              <a:buChar char="q"/>
            </a:pPr>
            <a:r>
              <a:rPr lang="en-US" b="0" i="0" dirty="0">
                <a:solidFill>
                  <a:srgbClr val="333333"/>
                </a:solidFill>
                <a:effectLst/>
                <a:latin typeface="Book Antiqua" panose="02040602050305030304" pitchFamily="18" charset="0"/>
              </a:rPr>
              <a:t>An important consideration when estimating a regression with ARMA errors is that all of the variables in the model must first be stationary. </a:t>
            </a:r>
          </a:p>
          <a:p>
            <a:pPr marL="285750" indent="-285750" algn="just">
              <a:lnSpc>
                <a:spcPct val="150000"/>
              </a:lnSpc>
              <a:buFont typeface="Wingdings" panose="05000000000000000000" pitchFamily="2" charset="2"/>
              <a:buChar char="q"/>
            </a:pPr>
            <a:r>
              <a:rPr lang="en-US" b="0" i="0" dirty="0">
                <a:solidFill>
                  <a:srgbClr val="333333"/>
                </a:solidFill>
                <a:effectLst/>
                <a:latin typeface="Book Antiqua" panose="02040602050305030304" pitchFamily="18" charset="0"/>
              </a:rPr>
              <a:t>Thus, we first have to check that </a:t>
            </a:r>
            <a:r>
              <a:rPr lang="en-US" b="0" i="0" dirty="0" err="1">
                <a:solidFill>
                  <a:srgbClr val="333333"/>
                </a:solidFill>
                <a:effectLst/>
                <a:latin typeface="Book Antiqua" panose="02040602050305030304" pitchFamily="18" charset="0"/>
              </a:rPr>
              <a:t>yt</a:t>
            </a:r>
            <a:r>
              <a:rPr lang="en-US" b="0" i="0" dirty="0">
                <a:solidFill>
                  <a:srgbClr val="333333"/>
                </a:solidFill>
                <a:effectLst/>
                <a:latin typeface="Book Antiqua" panose="02040602050305030304" pitchFamily="18" charset="0"/>
              </a:rPr>
              <a:t> and all of the predictors (x1,t,…,</a:t>
            </a:r>
            <a:r>
              <a:rPr lang="en-US" b="0" i="0" dirty="0" err="1">
                <a:solidFill>
                  <a:srgbClr val="333333"/>
                </a:solidFill>
                <a:effectLst/>
                <a:latin typeface="Book Antiqua" panose="02040602050305030304" pitchFamily="18" charset="0"/>
              </a:rPr>
              <a:t>xk,t</a:t>
            </a:r>
            <a:r>
              <a:rPr lang="en-US" b="0" i="0" dirty="0">
                <a:solidFill>
                  <a:srgbClr val="333333"/>
                </a:solidFill>
                <a:effectLst/>
                <a:latin typeface="Book Antiqua" panose="02040602050305030304" pitchFamily="18" charset="0"/>
              </a:rPr>
              <a:t>) appear to be stationary. </a:t>
            </a:r>
          </a:p>
          <a:p>
            <a:pPr marL="285750" indent="-285750" algn="just">
              <a:lnSpc>
                <a:spcPct val="150000"/>
              </a:lnSpc>
              <a:buFont typeface="Wingdings" panose="05000000000000000000" pitchFamily="2" charset="2"/>
              <a:buChar char="q"/>
            </a:pPr>
            <a:r>
              <a:rPr lang="en-US" b="0" i="0" dirty="0">
                <a:solidFill>
                  <a:srgbClr val="333333"/>
                </a:solidFill>
                <a:effectLst/>
                <a:latin typeface="Book Antiqua" panose="02040602050305030304" pitchFamily="18" charset="0"/>
              </a:rPr>
              <a:t>If we estimate the model when any of these are non-stationary, the estimated coefficients will not be consistent estimates (and therefore may not be meaningful).</a:t>
            </a:r>
          </a:p>
          <a:p>
            <a:pPr marL="285750" indent="-285750" algn="just">
              <a:lnSpc>
                <a:spcPct val="150000"/>
              </a:lnSpc>
              <a:buFont typeface="Wingdings" panose="05000000000000000000" pitchFamily="2" charset="2"/>
              <a:buChar char="q"/>
            </a:pPr>
            <a:r>
              <a:rPr lang="en-US" dirty="0">
                <a:solidFill>
                  <a:srgbClr val="333333"/>
                </a:solidFill>
                <a:latin typeface="Book Antiqua" panose="02040602050305030304" pitchFamily="18" charset="0"/>
              </a:rPr>
              <a:t>We therefore first difference the non-stationary variables in the model.</a:t>
            </a:r>
          </a:p>
          <a:p>
            <a:pPr marL="285750" indent="-285750" algn="just">
              <a:lnSpc>
                <a:spcPct val="150000"/>
              </a:lnSpc>
              <a:buFont typeface="Wingdings" panose="05000000000000000000" pitchFamily="2" charset="2"/>
              <a:buChar char="q"/>
            </a:pPr>
            <a:r>
              <a:rPr lang="en-US" dirty="0">
                <a:solidFill>
                  <a:srgbClr val="333333"/>
                </a:solidFill>
                <a:latin typeface="Book Antiqua" panose="02040602050305030304" pitchFamily="18" charset="0"/>
              </a:rPr>
              <a:t> It is common to difference all of the variables if any of them need differencing. </a:t>
            </a:r>
            <a:endParaRPr lang="en-IN" dirty="0">
              <a:solidFill>
                <a:srgbClr val="333333"/>
              </a:solidFill>
              <a:latin typeface="Book Antiqua" panose="02040602050305030304" pitchFamily="18" charset="0"/>
            </a:endParaRPr>
          </a:p>
        </p:txBody>
      </p:sp>
    </p:spTree>
    <p:extLst>
      <p:ext uri="{BB962C8B-B14F-4D97-AF65-F5344CB8AC3E}">
        <p14:creationId xmlns:p14="http://schemas.microsoft.com/office/powerpoint/2010/main" val="1082645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Regression with ARIMA errors</a:t>
            </a:r>
            <a:endParaRPr lang="en-US" sz="3200" b="1" spc="-10" dirty="0">
              <a:solidFill>
                <a:srgbClr val="FF0000"/>
              </a:solidFill>
              <a:latin typeface="Arial" panose="020B0604020202020204"/>
              <a:ea typeface="+mn-ea"/>
              <a:cs typeface="Arial" panose="020B0604020202020204"/>
            </a:endParaRPr>
          </a:p>
        </p:txBody>
      </p:sp>
      <p:sp>
        <p:nvSpPr>
          <p:cNvPr id="3" name="Rectangle 2">
            <a:extLst>
              <a:ext uri="{FF2B5EF4-FFF2-40B4-BE49-F238E27FC236}">
                <a16:creationId xmlns:a16="http://schemas.microsoft.com/office/drawing/2014/main" id="{F81CB296-5D12-420E-9D83-0F98F5255052}"/>
              </a:ext>
            </a:extLst>
          </p:cNvPr>
          <p:cNvSpPr/>
          <p:nvPr/>
        </p:nvSpPr>
        <p:spPr>
          <a:xfrm>
            <a:off x="114300" y="1524000"/>
            <a:ext cx="8915400" cy="2543902"/>
          </a:xfrm>
          <a:prstGeom prst="rect">
            <a:avLst/>
          </a:prstGeom>
        </p:spPr>
        <p:txBody>
          <a:bodyPr wrap="square">
            <a:spAutoFit/>
          </a:bodyPr>
          <a:lstStyle/>
          <a:p>
            <a:pPr marL="285750" indent="-285750" algn="just">
              <a:lnSpc>
                <a:spcPct val="150000"/>
              </a:lnSpc>
              <a:buFont typeface="Wingdings" panose="05000000000000000000" pitchFamily="2" charset="2"/>
              <a:buChar char="q"/>
            </a:pPr>
            <a:r>
              <a:rPr lang="en-US" dirty="0">
                <a:latin typeface="Book Antiqua" panose="02040602050305030304" pitchFamily="18" charset="0"/>
              </a:rPr>
              <a:t>If all of the variables in the model are stationary, then we only need to consider an ARMA process for the errors. </a:t>
            </a:r>
          </a:p>
          <a:p>
            <a:pPr marL="285750" indent="-285750" algn="just">
              <a:lnSpc>
                <a:spcPct val="150000"/>
              </a:lnSpc>
              <a:buFont typeface="Wingdings" panose="05000000000000000000" pitchFamily="2" charset="2"/>
              <a:buChar char="q"/>
            </a:pPr>
            <a:r>
              <a:rPr lang="en-US" dirty="0">
                <a:latin typeface="Book Antiqua" panose="02040602050305030304" pitchFamily="18" charset="0"/>
              </a:rPr>
              <a:t>A regression model with ARIMA errors is equivalent to a regression model in differences with ARMA errors.</a:t>
            </a:r>
          </a:p>
          <a:p>
            <a:pPr marL="285750" indent="-285750" algn="just">
              <a:lnSpc>
                <a:spcPct val="150000"/>
              </a:lnSpc>
              <a:buFont typeface="Wingdings" panose="05000000000000000000" pitchFamily="2" charset="2"/>
              <a:buChar char="q"/>
            </a:pPr>
            <a:r>
              <a:rPr lang="en-US" dirty="0">
                <a:latin typeface="Book Antiqua" panose="02040602050305030304" pitchFamily="18" charset="0"/>
              </a:rPr>
              <a:t>if the above regression model with ARIMA(1,1,1) errors is differenced we obtain the model</a:t>
            </a:r>
            <a:endParaRPr lang="en-IN" dirty="0">
              <a:solidFill>
                <a:srgbClr val="333333"/>
              </a:solidFill>
              <a:latin typeface="Book Antiqua" panose="02040602050305030304" pitchFamily="18" charset="0"/>
            </a:endParaRPr>
          </a:p>
        </p:txBody>
      </p:sp>
      <p:pic>
        <p:nvPicPr>
          <p:cNvPr id="4" name="Picture 3">
            <a:extLst>
              <a:ext uri="{FF2B5EF4-FFF2-40B4-BE49-F238E27FC236}">
                <a16:creationId xmlns:a16="http://schemas.microsoft.com/office/drawing/2014/main" id="{E3F3BA90-E847-4269-ADEA-1746C101138D}"/>
              </a:ext>
            </a:extLst>
          </p:cNvPr>
          <p:cNvPicPr>
            <a:picLocks noChangeAspect="1"/>
          </p:cNvPicPr>
          <p:nvPr/>
        </p:nvPicPr>
        <p:blipFill>
          <a:blip r:embed="rId2"/>
          <a:stretch>
            <a:fillRect/>
          </a:stretch>
        </p:blipFill>
        <p:spPr>
          <a:xfrm>
            <a:off x="2514600" y="4267200"/>
            <a:ext cx="3886200" cy="590550"/>
          </a:xfrm>
          <a:prstGeom prst="rect">
            <a:avLst/>
          </a:prstGeom>
        </p:spPr>
      </p:pic>
      <p:pic>
        <p:nvPicPr>
          <p:cNvPr id="5" name="Picture 4">
            <a:extLst>
              <a:ext uri="{FF2B5EF4-FFF2-40B4-BE49-F238E27FC236}">
                <a16:creationId xmlns:a16="http://schemas.microsoft.com/office/drawing/2014/main" id="{05DC08D6-9FF6-4E7C-90F7-BEEB0C563C0D}"/>
              </a:ext>
            </a:extLst>
          </p:cNvPr>
          <p:cNvPicPr>
            <a:picLocks noChangeAspect="1"/>
          </p:cNvPicPr>
          <p:nvPr/>
        </p:nvPicPr>
        <p:blipFill>
          <a:blip r:embed="rId3"/>
          <a:stretch>
            <a:fillRect/>
          </a:stretch>
        </p:blipFill>
        <p:spPr>
          <a:xfrm>
            <a:off x="506030" y="5321300"/>
            <a:ext cx="7210425" cy="609600"/>
          </a:xfrm>
          <a:prstGeom prst="rect">
            <a:avLst/>
          </a:prstGeom>
        </p:spPr>
      </p:pic>
    </p:spTree>
    <p:extLst>
      <p:ext uri="{BB962C8B-B14F-4D97-AF65-F5344CB8AC3E}">
        <p14:creationId xmlns:p14="http://schemas.microsoft.com/office/powerpoint/2010/main" val="3768712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Regression with ARIMA errors</a:t>
            </a:r>
            <a:endParaRPr lang="en-US" sz="3200" b="1" spc="-10" dirty="0">
              <a:solidFill>
                <a:srgbClr val="FF0000"/>
              </a:solidFill>
              <a:latin typeface="Arial" panose="020B0604020202020204"/>
              <a:ea typeface="+mn-ea"/>
              <a:cs typeface="Arial" panose="020B0604020202020204"/>
            </a:endParaRPr>
          </a:p>
        </p:txBody>
      </p:sp>
      <p:pic>
        <p:nvPicPr>
          <p:cNvPr id="6" name="Picture 5">
            <a:extLst>
              <a:ext uri="{FF2B5EF4-FFF2-40B4-BE49-F238E27FC236}">
                <a16:creationId xmlns:a16="http://schemas.microsoft.com/office/drawing/2014/main" id="{5264F480-463B-4641-8914-5DF4275AE4F6}"/>
              </a:ext>
            </a:extLst>
          </p:cNvPr>
          <p:cNvPicPr>
            <a:picLocks noChangeAspect="1"/>
          </p:cNvPicPr>
          <p:nvPr/>
        </p:nvPicPr>
        <p:blipFill>
          <a:blip r:embed="rId2"/>
          <a:stretch>
            <a:fillRect/>
          </a:stretch>
        </p:blipFill>
        <p:spPr>
          <a:xfrm>
            <a:off x="990600" y="1905000"/>
            <a:ext cx="6220178" cy="304800"/>
          </a:xfrm>
          <a:prstGeom prst="rect">
            <a:avLst/>
          </a:prstGeom>
        </p:spPr>
      </p:pic>
      <p:sp>
        <p:nvSpPr>
          <p:cNvPr id="7" name="Rectangle 6">
            <a:extLst>
              <a:ext uri="{FF2B5EF4-FFF2-40B4-BE49-F238E27FC236}">
                <a16:creationId xmlns:a16="http://schemas.microsoft.com/office/drawing/2014/main" id="{34DB039C-88E3-4A9F-B6CF-B70E3E61EB12}"/>
              </a:ext>
            </a:extLst>
          </p:cNvPr>
          <p:cNvSpPr/>
          <p:nvPr/>
        </p:nvSpPr>
        <p:spPr>
          <a:xfrm>
            <a:off x="381000" y="2438400"/>
            <a:ext cx="3331361" cy="369332"/>
          </a:xfrm>
          <a:prstGeom prst="rect">
            <a:avLst/>
          </a:prstGeom>
        </p:spPr>
        <p:txBody>
          <a:bodyPr wrap="none">
            <a:spAutoFit/>
          </a:bodyPr>
          <a:lstStyle/>
          <a:p>
            <a:r>
              <a:rPr lang="en-US" b="0" i="0" dirty="0">
                <a:solidFill>
                  <a:srgbClr val="333333"/>
                </a:solidFill>
                <a:effectLst/>
                <a:latin typeface="Book Antiqua" panose="02040602050305030304" pitchFamily="18" charset="0"/>
              </a:rPr>
              <a:t>This is equivalent to the model</a:t>
            </a:r>
            <a:endParaRPr lang="en-IN" dirty="0">
              <a:latin typeface="Book Antiqua" panose="02040602050305030304" pitchFamily="18" charset="0"/>
            </a:endParaRPr>
          </a:p>
        </p:txBody>
      </p:sp>
      <p:pic>
        <p:nvPicPr>
          <p:cNvPr id="8" name="Picture 7">
            <a:extLst>
              <a:ext uri="{FF2B5EF4-FFF2-40B4-BE49-F238E27FC236}">
                <a16:creationId xmlns:a16="http://schemas.microsoft.com/office/drawing/2014/main" id="{1C4CFFCD-236D-4A56-A193-E18D06F655EF}"/>
              </a:ext>
            </a:extLst>
          </p:cNvPr>
          <p:cNvPicPr>
            <a:picLocks noChangeAspect="1"/>
          </p:cNvPicPr>
          <p:nvPr/>
        </p:nvPicPr>
        <p:blipFill>
          <a:blip r:embed="rId3"/>
          <a:stretch>
            <a:fillRect/>
          </a:stretch>
        </p:blipFill>
        <p:spPr>
          <a:xfrm>
            <a:off x="2828925" y="3010932"/>
            <a:ext cx="2505075" cy="323850"/>
          </a:xfrm>
          <a:prstGeom prst="rect">
            <a:avLst/>
          </a:prstGeom>
        </p:spPr>
      </p:pic>
      <p:sp>
        <p:nvSpPr>
          <p:cNvPr id="9" name="Rectangle 8">
            <a:extLst>
              <a:ext uri="{FF2B5EF4-FFF2-40B4-BE49-F238E27FC236}">
                <a16:creationId xmlns:a16="http://schemas.microsoft.com/office/drawing/2014/main" id="{81D08E64-3140-437D-96D3-C6CD93CB7926}"/>
              </a:ext>
            </a:extLst>
          </p:cNvPr>
          <p:cNvSpPr/>
          <p:nvPr/>
        </p:nvSpPr>
        <p:spPr>
          <a:xfrm>
            <a:off x="685800" y="3434834"/>
            <a:ext cx="3728906" cy="369332"/>
          </a:xfrm>
          <a:prstGeom prst="rect">
            <a:avLst/>
          </a:prstGeom>
        </p:spPr>
        <p:txBody>
          <a:bodyPr wrap="none">
            <a:spAutoFit/>
          </a:bodyPr>
          <a:lstStyle/>
          <a:p>
            <a:r>
              <a:rPr lang="en-US" b="0" i="0" dirty="0">
                <a:solidFill>
                  <a:srgbClr val="333333"/>
                </a:solidFill>
                <a:effectLst/>
                <a:latin typeface="Book Antiqua" panose="02040602050305030304" pitchFamily="18" charset="0"/>
              </a:rPr>
              <a:t>where </a:t>
            </a:r>
            <a:r>
              <a:rPr lang="en-US" b="0" i="0" dirty="0" err="1">
                <a:solidFill>
                  <a:srgbClr val="333333"/>
                </a:solidFill>
                <a:effectLst/>
                <a:latin typeface="Book Antiqua" panose="02040602050305030304" pitchFamily="18" charset="0"/>
              </a:rPr>
              <a:t>ηt</a:t>
            </a:r>
            <a:r>
              <a:rPr lang="en-US" b="0" i="0" dirty="0">
                <a:solidFill>
                  <a:srgbClr val="333333"/>
                </a:solidFill>
                <a:effectLst/>
                <a:latin typeface="Book Antiqua" panose="02040602050305030304" pitchFamily="18" charset="0"/>
              </a:rPr>
              <a:t> is an ARIMA(1,1,0) error.</a:t>
            </a:r>
            <a:endParaRPr lang="en-IN" dirty="0">
              <a:latin typeface="Book Antiqua" panose="02040602050305030304" pitchFamily="18" charset="0"/>
            </a:endParaRPr>
          </a:p>
        </p:txBody>
      </p:sp>
      <p:sp>
        <p:nvSpPr>
          <p:cNvPr id="10" name="Rectangle 9">
            <a:extLst>
              <a:ext uri="{FF2B5EF4-FFF2-40B4-BE49-F238E27FC236}">
                <a16:creationId xmlns:a16="http://schemas.microsoft.com/office/drawing/2014/main" id="{9A5C49F4-9353-4321-92EE-594282E8E512}"/>
              </a:ext>
            </a:extLst>
          </p:cNvPr>
          <p:cNvSpPr/>
          <p:nvPr/>
        </p:nvSpPr>
        <p:spPr>
          <a:xfrm>
            <a:off x="190499" y="3961884"/>
            <a:ext cx="7917687" cy="369332"/>
          </a:xfrm>
          <a:prstGeom prst="rect">
            <a:avLst/>
          </a:prstGeom>
        </p:spPr>
        <p:txBody>
          <a:bodyPr wrap="square">
            <a:spAutoFit/>
          </a:bodyPr>
          <a:lstStyle/>
          <a:p>
            <a:r>
              <a:rPr lang="en-US" b="0" i="0" dirty="0">
                <a:solidFill>
                  <a:srgbClr val="333333"/>
                </a:solidFill>
                <a:effectLst/>
                <a:latin typeface="Book Antiqua" panose="02040602050305030304" pitchFamily="18" charset="0"/>
              </a:rPr>
              <a:t>The constant term disappears due to the differencing. </a:t>
            </a:r>
            <a:endParaRPr lang="en-IN" dirty="0">
              <a:latin typeface="Book Antiqua" panose="02040602050305030304" pitchFamily="18" charset="0"/>
            </a:endParaRPr>
          </a:p>
        </p:txBody>
      </p:sp>
      <p:sp>
        <p:nvSpPr>
          <p:cNvPr id="11" name="Rectangle 10">
            <a:extLst>
              <a:ext uri="{FF2B5EF4-FFF2-40B4-BE49-F238E27FC236}">
                <a16:creationId xmlns:a16="http://schemas.microsoft.com/office/drawing/2014/main" id="{AEF5FD07-3CBA-4750-B4E7-8E6F84725FC0}"/>
              </a:ext>
            </a:extLst>
          </p:cNvPr>
          <p:cNvSpPr/>
          <p:nvPr/>
        </p:nvSpPr>
        <p:spPr>
          <a:xfrm>
            <a:off x="114297" y="4287604"/>
            <a:ext cx="8801101" cy="2949525"/>
          </a:xfrm>
          <a:prstGeom prst="rect">
            <a:avLst/>
          </a:prstGeom>
        </p:spPr>
        <p:txBody>
          <a:bodyPr wrap="square">
            <a:spAutoFit/>
          </a:bodyPr>
          <a:lstStyle/>
          <a:p>
            <a:pPr marL="285750" indent="-285750" algn="just">
              <a:lnSpc>
                <a:spcPct val="150000"/>
              </a:lnSpc>
              <a:buFont typeface="Wingdings" panose="05000000000000000000" pitchFamily="2" charset="2"/>
              <a:buChar char="q"/>
            </a:pPr>
            <a:r>
              <a:rPr lang="en-US" b="0" i="0" dirty="0">
                <a:solidFill>
                  <a:srgbClr val="333333"/>
                </a:solidFill>
                <a:effectLst/>
                <a:latin typeface="Book Antiqua" panose="02040602050305030304" pitchFamily="18" charset="0"/>
              </a:rPr>
              <a:t>The final model will be expressed in terms of the original variables, even if it has been estimated using differenced variables.</a:t>
            </a:r>
          </a:p>
          <a:p>
            <a:pPr marL="285750" indent="-285750" algn="just">
              <a:lnSpc>
                <a:spcPct val="150000"/>
              </a:lnSpc>
              <a:buFont typeface="Wingdings" panose="05000000000000000000" pitchFamily="2" charset="2"/>
              <a:buChar char="q"/>
            </a:pPr>
            <a:r>
              <a:rPr lang="en-US" b="0" i="0" dirty="0">
                <a:solidFill>
                  <a:srgbClr val="333333"/>
                </a:solidFill>
                <a:effectLst/>
                <a:latin typeface="Book Antiqua" panose="02040602050305030304" pitchFamily="18" charset="0"/>
              </a:rPr>
              <a:t>The </a:t>
            </a:r>
            <a:r>
              <a:rPr lang="en-US" b="0" i="0" dirty="0" err="1">
                <a:solidFill>
                  <a:srgbClr val="333333"/>
                </a:solidFill>
                <a:effectLst/>
                <a:latin typeface="Book Antiqua" panose="02040602050305030304" pitchFamily="18" charset="0"/>
              </a:rPr>
              <a:t>AICc</a:t>
            </a:r>
            <a:r>
              <a:rPr lang="en-US" b="0" i="0" dirty="0">
                <a:solidFill>
                  <a:srgbClr val="333333"/>
                </a:solidFill>
                <a:effectLst/>
                <a:latin typeface="Book Antiqua" panose="02040602050305030304" pitchFamily="18" charset="0"/>
              </a:rPr>
              <a:t> is calculated for the final model, and this value can be used to determine the best predictors.</a:t>
            </a:r>
          </a:p>
          <a:p>
            <a:pPr marL="285750" indent="-285750" algn="just">
              <a:lnSpc>
                <a:spcPct val="150000"/>
              </a:lnSpc>
              <a:buFont typeface="Wingdings" panose="05000000000000000000" pitchFamily="2" charset="2"/>
              <a:buChar char="q"/>
            </a:pPr>
            <a:r>
              <a:rPr lang="en-US" dirty="0">
                <a:latin typeface="Book Antiqua" panose="02040602050305030304" pitchFamily="18" charset="0"/>
              </a:rPr>
              <a:t>the procedure should be repeated for all subsets of predictors to be considered, and the model with the lowest </a:t>
            </a:r>
            <a:r>
              <a:rPr lang="en-US" dirty="0" err="1">
                <a:latin typeface="Book Antiqua" panose="02040602050305030304" pitchFamily="18" charset="0"/>
              </a:rPr>
              <a:t>AICc</a:t>
            </a:r>
            <a:r>
              <a:rPr lang="en-US" dirty="0">
                <a:latin typeface="Book Antiqua" panose="02040602050305030304" pitchFamily="18" charset="0"/>
              </a:rPr>
              <a:t> value selected.</a:t>
            </a:r>
            <a:endParaRPr lang="en-IN" dirty="0">
              <a:latin typeface="Book Antiqua" panose="02040602050305030304" pitchFamily="18" charset="0"/>
            </a:endParaRPr>
          </a:p>
          <a:p>
            <a:pPr>
              <a:lnSpc>
                <a:spcPct val="150000"/>
              </a:lnSpc>
            </a:pPr>
            <a:endParaRPr lang="en-IN" dirty="0"/>
          </a:p>
        </p:txBody>
      </p:sp>
    </p:spTree>
    <p:extLst>
      <p:ext uri="{BB962C8B-B14F-4D97-AF65-F5344CB8AC3E}">
        <p14:creationId xmlns:p14="http://schemas.microsoft.com/office/powerpoint/2010/main" val="33516467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Regression with ARIMA errors</a:t>
            </a:r>
            <a:endParaRPr lang="en-US" sz="3200" b="1" spc="-10" dirty="0">
              <a:solidFill>
                <a:srgbClr val="FF0000"/>
              </a:solidFill>
              <a:latin typeface="Arial" panose="020B0604020202020204"/>
              <a:ea typeface="+mn-ea"/>
              <a:cs typeface="Arial" panose="020B0604020202020204"/>
            </a:endParaRPr>
          </a:p>
        </p:txBody>
      </p:sp>
      <p:pic>
        <p:nvPicPr>
          <p:cNvPr id="3" name="Picture 2">
            <a:extLst>
              <a:ext uri="{FF2B5EF4-FFF2-40B4-BE49-F238E27FC236}">
                <a16:creationId xmlns:a16="http://schemas.microsoft.com/office/drawing/2014/main" id="{54D6200C-0EB1-45E2-8704-3B1ECBF93619}"/>
              </a:ext>
            </a:extLst>
          </p:cNvPr>
          <p:cNvPicPr>
            <a:picLocks noChangeAspect="1"/>
          </p:cNvPicPr>
          <p:nvPr/>
        </p:nvPicPr>
        <p:blipFill>
          <a:blip r:embed="rId2"/>
          <a:stretch>
            <a:fillRect/>
          </a:stretch>
        </p:blipFill>
        <p:spPr>
          <a:xfrm>
            <a:off x="152400" y="1828801"/>
            <a:ext cx="4876800" cy="2819399"/>
          </a:xfrm>
          <a:prstGeom prst="rect">
            <a:avLst/>
          </a:prstGeom>
        </p:spPr>
      </p:pic>
      <p:sp>
        <p:nvSpPr>
          <p:cNvPr id="4" name="Rectangle 3">
            <a:extLst>
              <a:ext uri="{FF2B5EF4-FFF2-40B4-BE49-F238E27FC236}">
                <a16:creationId xmlns:a16="http://schemas.microsoft.com/office/drawing/2014/main" id="{2C5C6C14-FA31-45F0-9AE0-B2543BA0C271}"/>
              </a:ext>
            </a:extLst>
          </p:cNvPr>
          <p:cNvSpPr/>
          <p:nvPr/>
        </p:nvSpPr>
        <p:spPr>
          <a:xfrm>
            <a:off x="5029200" y="2514600"/>
            <a:ext cx="4104009" cy="369332"/>
          </a:xfrm>
          <a:prstGeom prst="rect">
            <a:avLst/>
          </a:prstGeom>
        </p:spPr>
        <p:txBody>
          <a:bodyPr wrap="none">
            <a:spAutoFit/>
          </a:bodyPr>
          <a:lstStyle/>
          <a:p>
            <a:r>
              <a:rPr lang="en-US" b="0" i="0" dirty="0">
                <a:solidFill>
                  <a:srgbClr val="333333"/>
                </a:solidFill>
                <a:effectLst/>
                <a:latin typeface="Book Antiqua" panose="02040602050305030304" pitchFamily="18" charset="0"/>
              </a:rPr>
              <a:t>The data are clearly already stationary</a:t>
            </a:r>
            <a:endParaRPr lang="en-IN" dirty="0">
              <a:latin typeface="Book Antiqua" panose="02040602050305030304" pitchFamily="18" charset="0"/>
            </a:endParaRPr>
          </a:p>
        </p:txBody>
      </p:sp>
      <p:sp>
        <p:nvSpPr>
          <p:cNvPr id="5" name="Rectangle 4">
            <a:extLst>
              <a:ext uri="{FF2B5EF4-FFF2-40B4-BE49-F238E27FC236}">
                <a16:creationId xmlns:a16="http://schemas.microsoft.com/office/drawing/2014/main" id="{6D3DE195-0B99-42DC-9515-DBD9B0417F90}"/>
              </a:ext>
            </a:extLst>
          </p:cNvPr>
          <p:cNvSpPr/>
          <p:nvPr/>
        </p:nvSpPr>
        <p:spPr>
          <a:xfrm>
            <a:off x="152400" y="4826000"/>
            <a:ext cx="2105063" cy="369332"/>
          </a:xfrm>
          <a:prstGeom prst="rect">
            <a:avLst/>
          </a:prstGeom>
        </p:spPr>
        <p:txBody>
          <a:bodyPr wrap="none">
            <a:spAutoFit/>
          </a:bodyPr>
          <a:lstStyle/>
          <a:p>
            <a:r>
              <a:rPr lang="en-IN" b="0" i="0" dirty="0">
                <a:solidFill>
                  <a:srgbClr val="333333"/>
                </a:solidFill>
                <a:effectLst/>
                <a:latin typeface="Book Antiqua" panose="02040602050305030304" pitchFamily="18" charset="0"/>
              </a:rPr>
              <a:t>The fitted model is</a:t>
            </a:r>
            <a:endParaRPr lang="en-IN" dirty="0">
              <a:latin typeface="Book Antiqua" panose="02040602050305030304" pitchFamily="18" charset="0"/>
            </a:endParaRPr>
          </a:p>
        </p:txBody>
      </p:sp>
      <p:pic>
        <p:nvPicPr>
          <p:cNvPr id="12" name="Picture 11">
            <a:extLst>
              <a:ext uri="{FF2B5EF4-FFF2-40B4-BE49-F238E27FC236}">
                <a16:creationId xmlns:a16="http://schemas.microsoft.com/office/drawing/2014/main" id="{933301C6-E649-45F7-A79C-39935D0B84CF}"/>
              </a:ext>
            </a:extLst>
          </p:cNvPr>
          <p:cNvPicPr>
            <a:picLocks noChangeAspect="1"/>
          </p:cNvPicPr>
          <p:nvPr/>
        </p:nvPicPr>
        <p:blipFill>
          <a:blip r:embed="rId3"/>
          <a:stretch>
            <a:fillRect/>
          </a:stretch>
        </p:blipFill>
        <p:spPr>
          <a:xfrm>
            <a:off x="620330" y="5322332"/>
            <a:ext cx="3781425" cy="907018"/>
          </a:xfrm>
          <a:prstGeom prst="rect">
            <a:avLst/>
          </a:prstGeom>
        </p:spPr>
      </p:pic>
    </p:spTree>
    <p:extLst>
      <p:ext uri="{BB962C8B-B14F-4D97-AF65-F5344CB8AC3E}">
        <p14:creationId xmlns:p14="http://schemas.microsoft.com/office/powerpoint/2010/main" val="706006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Regression with ARIMA errors</a:t>
            </a:r>
            <a:endParaRPr lang="en-US" sz="3200" b="1" spc="-10" dirty="0">
              <a:solidFill>
                <a:srgbClr val="FF0000"/>
              </a:solidFill>
              <a:latin typeface="Arial" panose="020B0604020202020204"/>
              <a:ea typeface="+mn-ea"/>
              <a:cs typeface="Arial" panose="020B0604020202020204"/>
            </a:endParaRPr>
          </a:p>
        </p:txBody>
      </p:sp>
      <p:sp>
        <p:nvSpPr>
          <p:cNvPr id="8" name="Rectangle 7">
            <a:extLst>
              <a:ext uri="{FF2B5EF4-FFF2-40B4-BE49-F238E27FC236}">
                <a16:creationId xmlns:a16="http://schemas.microsoft.com/office/drawing/2014/main" id="{20936C8C-D253-4846-B9D4-2141CD787889}"/>
              </a:ext>
            </a:extLst>
          </p:cNvPr>
          <p:cNvSpPr/>
          <p:nvPr/>
        </p:nvSpPr>
        <p:spPr>
          <a:xfrm>
            <a:off x="152400" y="1676400"/>
            <a:ext cx="8610600" cy="369332"/>
          </a:xfrm>
          <a:prstGeom prst="rect">
            <a:avLst/>
          </a:prstGeom>
        </p:spPr>
        <p:txBody>
          <a:bodyPr wrap="square">
            <a:spAutoFit/>
          </a:bodyPr>
          <a:lstStyle/>
          <a:p>
            <a:r>
              <a:rPr lang="en-US" b="0" i="0" dirty="0">
                <a:solidFill>
                  <a:srgbClr val="333333"/>
                </a:solidFill>
                <a:effectLst/>
                <a:latin typeface="Book Antiqua" panose="02040602050305030304" pitchFamily="18" charset="0"/>
              </a:rPr>
              <a:t>We can recover estimates of both the </a:t>
            </a:r>
            <a:r>
              <a:rPr lang="en-US" b="0" i="0" dirty="0" err="1">
                <a:solidFill>
                  <a:srgbClr val="333333"/>
                </a:solidFill>
                <a:effectLst/>
                <a:latin typeface="Book Antiqua" panose="02040602050305030304" pitchFamily="18" charset="0"/>
              </a:rPr>
              <a:t>ηt</a:t>
            </a:r>
            <a:r>
              <a:rPr lang="en-US" b="0" i="0" dirty="0">
                <a:solidFill>
                  <a:srgbClr val="333333"/>
                </a:solidFill>
                <a:effectLst/>
                <a:latin typeface="Book Antiqua" panose="02040602050305030304" pitchFamily="18" charset="0"/>
              </a:rPr>
              <a:t> and </a:t>
            </a:r>
            <a:r>
              <a:rPr lang="en-US" b="0" i="0" dirty="0" err="1">
                <a:solidFill>
                  <a:srgbClr val="333333"/>
                </a:solidFill>
                <a:effectLst/>
                <a:latin typeface="Book Antiqua" panose="02040602050305030304" pitchFamily="18" charset="0"/>
              </a:rPr>
              <a:t>εt</a:t>
            </a:r>
            <a:r>
              <a:rPr lang="en-US" b="0" i="0" dirty="0">
                <a:solidFill>
                  <a:srgbClr val="333333"/>
                </a:solidFill>
                <a:effectLst/>
                <a:latin typeface="Book Antiqua" panose="02040602050305030304" pitchFamily="18" charset="0"/>
              </a:rPr>
              <a:t> series using the </a:t>
            </a:r>
            <a:r>
              <a:rPr lang="en-US" b="0" i="0" dirty="0" err="1">
                <a:solidFill>
                  <a:srgbClr val="333333"/>
                </a:solidFill>
                <a:effectLst/>
                <a:latin typeface="Book Antiqua" panose="02040602050305030304" pitchFamily="18" charset="0"/>
              </a:rPr>
              <a:t>residulas</a:t>
            </a:r>
            <a:r>
              <a:rPr lang="en-US" b="0" i="0" dirty="0">
                <a:solidFill>
                  <a:srgbClr val="333333"/>
                </a:solidFill>
                <a:effectLst/>
                <a:latin typeface="Book Antiqua" panose="02040602050305030304" pitchFamily="18" charset="0"/>
              </a:rPr>
              <a:t>() function</a:t>
            </a:r>
            <a:endParaRPr lang="en-IN" dirty="0">
              <a:latin typeface="Book Antiqua" panose="02040602050305030304" pitchFamily="18" charset="0"/>
            </a:endParaRPr>
          </a:p>
        </p:txBody>
      </p:sp>
      <p:pic>
        <p:nvPicPr>
          <p:cNvPr id="9" name="Picture 8">
            <a:extLst>
              <a:ext uri="{FF2B5EF4-FFF2-40B4-BE49-F238E27FC236}">
                <a16:creationId xmlns:a16="http://schemas.microsoft.com/office/drawing/2014/main" id="{8DD44C1D-7B92-4B60-A344-ED4C8CE8875D}"/>
              </a:ext>
            </a:extLst>
          </p:cNvPr>
          <p:cNvPicPr>
            <a:picLocks noChangeAspect="1"/>
          </p:cNvPicPr>
          <p:nvPr/>
        </p:nvPicPr>
        <p:blipFill>
          <a:blip r:embed="rId2"/>
          <a:stretch>
            <a:fillRect/>
          </a:stretch>
        </p:blipFill>
        <p:spPr>
          <a:xfrm>
            <a:off x="457200" y="2209800"/>
            <a:ext cx="6086475" cy="3138487"/>
          </a:xfrm>
          <a:prstGeom prst="rect">
            <a:avLst/>
          </a:prstGeom>
        </p:spPr>
      </p:pic>
      <p:sp>
        <p:nvSpPr>
          <p:cNvPr id="10" name="Rectangle 9">
            <a:extLst>
              <a:ext uri="{FF2B5EF4-FFF2-40B4-BE49-F238E27FC236}">
                <a16:creationId xmlns:a16="http://schemas.microsoft.com/office/drawing/2014/main" id="{FCAB0AA2-A6FD-447B-85CE-B27C5477DB86}"/>
              </a:ext>
            </a:extLst>
          </p:cNvPr>
          <p:cNvSpPr/>
          <p:nvPr/>
        </p:nvSpPr>
        <p:spPr>
          <a:xfrm>
            <a:off x="6400800" y="2438400"/>
            <a:ext cx="2438400" cy="2128853"/>
          </a:xfrm>
          <a:prstGeom prst="rect">
            <a:avLst/>
          </a:prstGeom>
        </p:spPr>
        <p:txBody>
          <a:bodyPr wrap="square">
            <a:spAutoFit/>
          </a:bodyPr>
          <a:lstStyle/>
          <a:p>
            <a:pPr algn="just">
              <a:lnSpc>
                <a:spcPct val="150000"/>
              </a:lnSpc>
            </a:pPr>
            <a:r>
              <a:rPr lang="en-US" b="0" i="0" dirty="0">
                <a:solidFill>
                  <a:srgbClr val="333333"/>
                </a:solidFill>
                <a:effectLst/>
                <a:latin typeface="Book Antiqua" panose="02040602050305030304" pitchFamily="18" charset="0"/>
              </a:rPr>
              <a:t>It is the ARIMA estimated errors (the innovation residuals) that should resemble a white noise series.</a:t>
            </a:r>
            <a:endParaRPr lang="en-IN" dirty="0">
              <a:latin typeface="Book Antiqua" panose="02040602050305030304" pitchFamily="18" charset="0"/>
            </a:endParaRPr>
          </a:p>
        </p:txBody>
      </p:sp>
    </p:spTree>
    <p:extLst>
      <p:ext uri="{BB962C8B-B14F-4D97-AF65-F5344CB8AC3E}">
        <p14:creationId xmlns:p14="http://schemas.microsoft.com/office/powerpoint/2010/main" val="5018385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917687" cy="505267"/>
          </a:xfrm>
          <a:prstGeom prst="rect">
            <a:avLst/>
          </a:prstGeom>
        </p:spPr>
        <p:txBody>
          <a:bodyPr vert="horz" wrap="square" lIns="0" tIns="12700" rIns="0" bIns="0" rtlCol="0">
            <a:spAutoFit/>
          </a:bodyPr>
          <a:lstStyle/>
          <a:p>
            <a:pPr marL="15240" algn="l">
              <a:spcBef>
                <a:spcPts val="100"/>
              </a:spcBef>
            </a:pPr>
            <a:r>
              <a:rPr lang="en-IN" sz="3200" b="1" spc="-10" dirty="0">
                <a:solidFill>
                  <a:srgbClr val="FF0000"/>
                </a:solidFill>
                <a:latin typeface="Arial" panose="020B0604020202020204"/>
                <a:ea typeface="+mn-ea"/>
                <a:cs typeface="Arial" panose="020B0604020202020204"/>
              </a:rPr>
              <a:t>Regression with ARIMA errors</a:t>
            </a:r>
            <a:endParaRPr lang="en-US" sz="3200" b="1" spc="-10" dirty="0">
              <a:solidFill>
                <a:srgbClr val="FF0000"/>
              </a:solidFill>
              <a:latin typeface="Arial" panose="020B0604020202020204"/>
              <a:ea typeface="+mn-ea"/>
              <a:cs typeface="Arial" panose="020B0604020202020204"/>
            </a:endParaRPr>
          </a:p>
        </p:txBody>
      </p:sp>
      <p:pic>
        <p:nvPicPr>
          <p:cNvPr id="3" name="Picture 2">
            <a:extLst>
              <a:ext uri="{FF2B5EF4-FFF2-40B4-BE49-F238E27FC236}">
                <a16:creationId xmlns:a16="http://schemas.microsoft.com/office/drawing/2014/main" id="{A51F6118-48CE-4155-9D2B-3818F45D9F0A}"/>
              </a:ext>
            </a:extLst>
          </p:cNvPr>
          <p:cNvPicPr>
            <a:picLocks noChangeAspect="1"/>
          </p:cNvPicPr>
          <p:nvPr/>
        </p:nvPicPr>
        <p:blipFill>
          <a:blip r:embed="rId2"/>
          <a:stretch>
            <a:fillRect/>
          </a:stretch>
        </p:blipFill>
        <p:spPr>
          <a:xfrm>
            <a:off x="876300" y="1828800"/>
            <a:ext cx="7391400" cy="4148137"/>
          </a:xfrm>
          <a:prstGeom prst="rect">
            <a:avLst/>
          </a:prstGeom>
        </p:spPr>
      </p:pic>
    </p:spTree>
    <p:extLst>
      <p:ext uri="{BB962C8B-B14F-4D97-AF65-F5344CB8AC3E}">
        <p14:creationId xmlns:p14="http://schemas.microsoft.com/office/powerpoint/2010/main" val="27909469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EACA0-5816-7570-4979-0AC0DE7A4722}"/>
              </a:ext>
            </a:extLst>
          </p:cNvPr>
          <p:cNvSpPr>
            <a:spLocks noGrp="1"/>
          </p:cNvSpPr>
          <p:nvPr>
            <p:ph type="title"/>
          </p:nvPr>
        </p:nvSpPr>
        <p:spPr>
          <a:xfrm>
            <a:off x="688340" y="348995"/>
            <a:ext cx="7917687" cy="677108"/>
          </a:xfrm>
        </p:spPr>
        <p:txBody>
          <a:bodyPr/>
          <a:lstStyle/>
          <a:p>
            <a:r>
              <a:rPr lang="en-IN" b="1" dirty="0"/>
              <a:t>Information criteria </a:t>
            </a:r>
            <a:endParaRPr lang="en-IN" dirty="0"/>
          </a:p>
        </p:txBody>
      </p:sp>
      <p:sp>
        <p:nvSpPr>
          <p:cNvPr id="3" name="Content Placeholder 2">
            <a:extLst>
              <a:ext uri="{FF2B5EF4-FFF2-40B4-BE49-F238E27FC236}">
                <a16:creationId xmlns:a16="http://schemas.microsoft.com/office/drawing/2014/main" id="{4E44BE3D-B0BE-70C1-3D00-4C50DBD86EA6}"/>
              </a:ext>
            </a:extLst>
          </p:cNvPr>
          <p:cNvSpPr>
            <a:spLocks noGrp="1"/>
          </p:cNvSpPr>
          <p:nvPr>
            <p:ph idx="1"/>
          </p:nvPr>
        </p:nvSpPr>
        <p:spPr/>
        <p:txBody>
          <a:bodyPr vert="horz" wrap="square" lIns="68580" tIns="34290" rIns="68580" bIns="34290" rtlCol="0" anchor="t">
            <a:normAutofit/>
          </a:bodyPr>
          <a:lstStyle/>
          <a:p>
            <a:pPr algn="just"/>
            <a:r>
              <a:rPr lang="en-US" sz="1800" b="0" i="0" dirty="0">
                <a:solidFill>
                  <a:srgbClr val="333333"/>
                </a:solidFill>
                <a:effectLst/>
                <a:highlight>
                  <a:srgbClr val="FFFFFF"/>
                </a:highlight>
                <a:latin typeface="Merriweather" panose="00000500000000000000" pitchFamily="2" charset="0"/>
              </a:rPr>
              <a:t>It is important to note that these information criteria tend not to be good guides to selecting the appropriate order of differencing (d) of a model, but only for selecting the values of p and q. </a:t>
            </a:r>
          </a:p>
          <a:p>
            <a:pPr algn="just"/>
            <a:endParaRPr lang="en-US" sz="1800" dirty="0">
              <a:solidFill>
                <a:srgbClr val="333333"/>
              </a:solidFill>
              <a:highlight>
                <a:srgbClr val="FFFFFF"/>
              </a:highlight>
              <a:latin typeface="Merriweather" panose="00000500000000000000" pitchFamily="2" charset="0"/>
            </a:endParaRPr>
          </a:p>
          <a:p>
            <a:pPr algn="just"/>
            <a:r>
              <a:rPr lang="en-US" sz="1800" b="0" i="0" dirty="0">
                <a:solidFill>
                  <a:srgbClr val="333333"/>
                </a:solidFill>
                <a:effectLst/>
                <a:highlight>
                  <a:srgbClr val="FFFFFF"/>
                </a:highlight>
                <a:latin typeface="Merriweather" panose="00000500000000000000" pitchFamily="2" charset="0"/>
              </a:rPr>
              <a:t>This is because the differencing changes the data on which the likelihood is computed, making the AIC values between models with different orders of differencing not comparable. </a:t>
            </a:r>
          </a:p>
          <a:p>
            <a:pPr algn="just"/>
            <a:endParaRPr lang="en-US" sz="1800" dirty="0">
              <a:solidFill>
                <a:srgbClr val="333333"/>
              </a:solidFill>
              <a:highlight>
                <a:srgbClr val="FFFFFF"/>
              </a:highlight>
              <a:latin typeface="Merriweather" panose="00000500000000000000" pitchFamily="2" charset="0"/>
            </a:endParaRPr>
          </a:p>
          <a:p>
            <a:pPr algn="just"/>
            <a:r>
              <a:rPr lang="en-US" sz="1800" b="0" i="0" dirty="0">
                <a:solidFill>
                  <a:srgbClr val="333333"/>
                </a:solidFill>
                <a:effectLst/>
                <a:highlight>
                  <a:srgbClr val="FFFFFF"/>
                </a:highlight>
                <a:latin typeface="Merriweather"/>
              </a:rPr>
              <a:t>So, we need to use some other approach to choose d, and then we can use the </a:t>
            </a:r>
            <a:r>
              <a:rPr lang="en-US" sz="1800" b="0" i="0" dirty="0" err="1">
                <a:solidFill>
                  <a:srgbClr val="333333"/>
                </a:solidFill>
                <a:effectLst/>
                <a:highlight>
                  <a:srgbClr val="FFFFFF"/>
                </a:highlight>
                <a:latin typeface="Merriweather"/>
              </a:rPr>
              <a:t>AICc</a:t>
            </a:r>
            <a:r>
              <a:rPr lang="en-US" sz="1800" b="0" i="0" dirty="0">
                <a:solidFill>
                  <a:srgbClr val="333333"/>
                </a:solidFill>
                <a:effectLst/>
                <a:highlight>
                  <a:srgbClr val="FFFFFF"/>
                </a:highlight>
                <a:latin typeface="Merriweather"/>
              </a:rPr>
              <a:t> to select </a:t>
            </a:r>
            <a:r>
              <a:rPr lang="en-US" sz="1800" dirty="0">
                <a:solidFill>
                  <a:srgbClr val="333333"/>
                </a:solidFill>
                <a:highlight>
                  <a:srgbClr val="FFFFFF"/>
                </a:highlight>
                <a:latin typeface="Merriweather"/>
              </a:rPr>
              <a:t>p</a:t>
            </a:r>
            <a:r>
              <a:rPr lang="en-US" sz="1800" b="0" i="0" dirty="0">
                <a:solidFill>
                  <a:srgbClr val="333333"/>
                </a:solidFill>
                <a:effectLst/>
                <a:highlight>
                  <a:srgbClr val="FFFFFF"/>
                </a:highlight>
                <a:latin typeface="Merriweather"/>
              </a:rPr>
              <a:t> and </a:t>
            </a:r>
            <a:r>
              <a:rPr lang="en-US" sz="1800" dirty="0">
                <a:solidFill>
                  <a:srgbClr val="333333"/>
                </a:solidFill>
                <a:highlight>
                  <a:srgbClr val="FFFFFF"/>
                </a:highlight>
                <a:latin typeface="Merriweather"/>
              </a:rPr>
              <a:t>q</a:t>
            </a:r>
            <a:r>
              <a:rPr lang="en-US" sz="1800" b="0" i="0" dirty="0">
                <a:solidFill>
                  <a:srgbClr val="333333"/>
                </a:solidFill>
                <a:effectLst/>
                <a:highlight>
                  <a:srgbClr val="FFFFFF"/>
                </a:highlight>
                <a:latin typeface="Merriweather"/>
              </a:rPr>
              <a:t>.</a:t>
            </a:r>
            <a:endParaRPr lang="en-IN" sz="1800" dirty="0">
              <a:latin typeface="Merriweather"/>
            </a:endParaRPr>
          </a:p>
        </p:txBody>
      </p:sp>
    </p:spTree>
    <p:extLst>
      <p:ext uri="{BB962C8B-B14F-4D97-AF65-F5344CB8AC3E}">
        <p14:creationId xmlns:p14="http://schemas.microsoft.com/office/powerpoint/2010/main" val="37469402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94C1B-281A-2912-6FFD-23CD6F1F0884}"/>
              </a:ext>
            </a:extLst>
          </p:cNvPr>
          <p:cNvSpPr>
            <a:spLocks noGrp="1"/>
          </p:cNvSpPr>
          <p:nvPr>
            <p:ph type="title"/>
          </p:nvPr>
        </p:nvSpPr>
        <p:spPr>
          <a:xfrm>
            <a:off x="688340" y="348995"/>
            <a:ext cx="7917687" cy="861774"/>
          </a:xfrm>
        </p:spPr>
        <p:txBody>
          <a:bodyPr/>
          <a:lstStyle/>
          <a:p>
            <a:r>
              <a:rPr lang="en-IN" sz="2800" dirty="0"/>
              <a:t>ADF Test for checking Stationarity and selection of parameter d</a:t>
            </a:r>
          </a:p>
        </p:txBody>
      </p:sp>
      <p:pic>
        <p:nvPicPr>
          <p:cNvPr id="5" name="Content Placeholder 4">
            <a:extLst>
              <a:ext uri="{FF2B5EF4-FFF2-40B4-BE49-F238E27FC236}">
                <a16:creationId xmlns:a16="http://schemas.microsoft.com/office/drawing/2014/main" id="{3C8CC770-CC6E-3D94-7E35-0EC01C5DE5F6}"/>
              </a:ext>
            </a:extLst>
          </p:cNvPr>
          <p:cNvPicPr>
            <a:picLocks noGrp="1" noChangeAspect="1"/>
          </p:cNvPicPr>
          <p:nvPr>
            <p:ph idx="1"/>
          </p:nvPr>
        </p:nvPicPr>
        <p:blipFill>
          <a:blip r:embed="rId2"/>
          <a:stretch>
            <a:fillRect/>
          </a:stretch>
        </p:blipFill>
        <p:spPr>
          <a:xfrm>
            <a:off x="914400" y="2133600"/>
            <a:ext cx="6909619" cy="2954911"/>
          </a:xfrm>
        </p:spPr>
      </p:pic>
    </p:spTree>
    <p:extLst>
      <p:ext uri="{BB962C8B-B14F-4D97-AF65-F5344CB8AC3E}">
        <p14:creationId xmlns:p14="http://schemas.microsoft.com/office/powerpoint/2010/main" val="4150300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95C3-55D2-61F8-BDE3-D975B7DD9BF1}"/>
              </a:ext>
            </a:extLst>
          </p:cNvPr>
          <p:cNvSpPr>
            <a:spLocks noGrp="1"/>
          </p:cNvSpPr>
          <p:nvPr>
            <p:ph type="title"/>
          </p:nvPr>
        </p:nvSpPr>
        <p:spPr>
          <a:xfrm>
            <a:off x="688340" y="348995"/>
            <a:ext cx="7917687" cy="553998"/>
          </a:xfrm>
        </p:spPr>
        <p:txBody>
          <a:bodyPr/>
          <a:lstStyle/>
          <a:p>
            <a:r>
              <a:rPr lang="en-IN" sz="3600" dirty="0"/>
              <a:t>ADF Test Regression Equation </a:t>
            </a:r>
          </a:p>
        </p:txBody>
      </p:sp>
      <p:pic>
        <p:nvPicPr>
          <p:cNvPr id="4" name="Content Placeholder 3" descr="A screenshot of a computer&#10;&#10;Description automatically generated">
            <a:extLst>
              <a:ext uri="{FF2B5EF4-FFF2-40B4-BE49-F238E27FC236}">
                <a16:creationId xmlns:a16="http://schemas.microsoft.com/office/drawing/2014/main" id="{3B62E45D-7DDA-4D67-9AB3-4EF28D48A56E}"/>
              </a:ext>
            </a:extLst>
          </p:cNvPr>
          <p:cNvPicPr>
            <a:picLocks noGrp="1" noChangeAspect="1"/>
          </p:cNvPicPr>
          <p:nvPr>
            <p:ph idx="1"/>
          </p:nvPr>
        </p:nvPicPr>
        <p:blipFill rotWithShape="1">
          <a:blip r:embed="rId2" cstate="email">
            <a:extLst>
              <a:ext uri="{28A0092B-C50C-407E-A947-70E740481C1C}">
                <a14:useLocalDpi xmlns:a14="http://schemas.microsoft.com/office/drawing/2010/main"/>
              </a:ext>
            </a:extLst>
          </a:blip>
          <a:srcRect/>
          <a:stretch/>
        </p:blipFill>
        <p:spPr>
          <a:xfrm>
            <a:off x="464575" y="2481575"/>
            <a:ext cx="7886700" cy="2925552"/>
          </a:xfrm>
          <a:prstGeom prst="rect">
            <a:avLst/>
          </a:prstGeom>
        </p:spPr>
      </p:pic>
    </p:spTree>
    <p:extLst>
      <p:ext uri="{BB962C8B-B14F-4D97-AF65-F5344CB8AC3E}">
        <p14:creationId xmlns:p14="http://schemas.microsoft.com/office/powerpoint/2010/main" val="4229069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B5210-9CBA-280A-832E-D8550C791F9C}"/>
              </a:ext>
            </a:extLst>
          </p:cNvPr>
          <p:cNvSpPr>
            <a:spLocks noGrp="1"/>
          </p:cNvSpPr>
          <p:nvPr>
            <p:ph type="title"/>
          </p:nvPr>
        </p:nvSpPr>
        <p:spPr>
          <a:xfrm>
            <a:off x="688340" y="348995"/>
            <a:ext cx="7917687" cy="677108"/>
          </a:xfrm>
        </p:spPr>
        <p:txBody>
          <a:bodyPr/>
          <a:lstStyle/>
          <a:p>
            <a:r>
              <a:rPr lang="en-IN" dirty="0"/>
              <a:t>Example – </a:t>
            </a:r>
            <a:r>
              <a:rPr lang="en-IN" dirty="0" err="1"/>
              <a:t>spx</a:t>
            </a:r>
            <a:r>
              <a:rPr lang="en-IN" dirty="0"/>
              <a:t> data</a:t>
            </a:r>
          </a:p>
        </p:txBody>
      </p:sp>
      <p:graphicFrame>
        <p:nvGraphicFramePr>
          <p:cNvPr id="4" name="Content Placeholder 3">
            <a:extLst>
              <a:ext uri="{FF2B5EF4-FFF2-40B4-BE49-F238E27FC236}">
                <a16:creationId xmlns:a16="http://schemas.microsoft.com/office/drawing/2014/main" id="{7482229D-87C1-7F35-1D50-3D0DBCDC8544}"/>
              </a:ext>
            </a:extLst>
          </p:cNvPr>
          <p:cNvGraphicFramePr>
            <a:graphicFrameLocks noGrp="1"/>
          </p:cNvGraphicFramePr>
          <p:nvPr>
            <p:ph idx="1"/>
          </p:nvPr>
        </p:nvGraphicFramePr>
        <p:xfrm>
          <a:off x="368710" y="2803613"/>
          <a:ext cx="4697362" cy="2551903"/>
        </p:xfrm>
        <a:graphic>
          <a:graphicData uri="http://schemas.openxmlformats.org/drawingml/2006/table">
            <a:tbl>
              <a:tblPr>
                <a:tableStyleId>{5C22544A-7EE6-4342-B048-85BDC9FD1C3A}</a:tableStyleId>
              </a:tblPr>
              <a:tblGrid>
                <a:gridCol w="1000199">
                  <a:extLst>
                    <a:ext uri="{9D8B030D-6E8A-4147-A177-3AD203B41FA5}">
                      <a16:colId xmlns:a16="http://schemas.microsoft.com/office/drawing/2014/main" val="2256294685"/>
                    </a:ext>
                  </a:extLst>
                </a:gridCol>
                <a:gridCol w="982338">
                  <a:extLst>
                    <a:ext uri="{9D8B030D-6E8A-4147-A177-3AD203B41FA5}">
                      <a16:colId xmlns:a16="http://schemas.microsoft.com/office/drawing/2014/main" val="3784504116"/>
                    </a:ext>
                  </a:extLst>
                </a:gridCol>
                <a:gridCol w="857313">
                  <a:extLst>
                    <a:ext uri="{9D8B030D-6E8A-4147-A177-3AD203B41FA5}">
                      <a16:colId xmlns:a16="http://schemas.microsoft.com/office/drawing/2014/main" val="2285172071"/>
                    </a:ext>
                  </a:extLst>
                </a:gridCol>
                <a:gridCol w="857313">
                  <a:extLst>
                    <a:ext uri="{9D8B030D-6E8A-4147-A177-3AD203B41FA5}">
                      <a16:colId xmlns:a16="http://schemas.microsoft.com/office/drawing/2014/main" val="727154978"/>
                    </a:ext>
                  </a:extLst>
                </a:gridCol>
                <a:gridCol w="1000199">
                  <a:extLst>
                    <a:ext uri="{9D8B030D-6E8A-4147-A177-3AD203B41FA5}">
                      <a16:colId xmlns:a16="http://schemas.microsoft.com/office/drawing/2014/main" val="2296641155"/>
                    </a:ext>
                  </a:extLst>
                </a:gridCol>
              </a:tblGrid>
              <a:tr h="258283">
                <a:tc>
                  <a:txBody>
                    <a:bodyPr/>
                    <a:lstStyle/>
                    <a:p>
                      <a:pPr algn="l" fontAlgn="b"/>
                      <a:r>
                        <a:rPr lang="en-IN" sz="800" u="none" strike="noStrike">
                          <a:effectLst/>
                        </a:rPr>
                        <a:t>date</a:t>
                      </a:r>
                      <a:endParaRPr lang="en-IN" sz="800" b="1" i="0" u="none" strike="noStrike">
                        <a:solidFill>
                          <a:srgbClr val="000000"/>
                        </a:solidFill>
                        <a:effectLst/>
                        <a:latin typeface="Aptos Narrow" panose="020B0004020202020204" pitchFamily="34" charset="0"/>
                      </a:endParaRPr>
                    </a:p>
                  </a:txBody>
                  <a:tcPr marL="5715" marR="5715" marT="5715" marB="0" anchor="b"/>
                </a:tc>
                <a:tc>
                  <a:txBody>
                    <a:bodyPr/>
                    <a:lstStyle/>
                    <a:p>
                      <a:pPr algn="l" fontAlgn="b"/>
                      <a:r>
                        <a:rPr lang="en-IN" sz="800" u="none" strike="noStrike" dirty="0" err="1">
                          <a:effectLst/>
                        </a:rPr>
                        <a:t>spx</a:t>
                      </a:r>
                      <a:endParaRPr lang="en-IN" sz="800" b="1" i="0" u="none" strike="noStrike" dirty="0">
                        <a:solidFill>
                          <a:srgbClr val="000000"/>
                        </a:solidFill>
                        <a:effectLst/>
                        <a:latin typeface="Aptos Narrow" panose="020B0004020202020204" pitchFamily="34" charset="0"/>
                      </a:endParaRPr>
                    </a:p>
                  </a:txBody>
                  <a:tcPr marL="5715" marR="5715" marT="5715" marB="0" anchor="b"/>
                </a:tc>
                <a:tc>
                  <a:txBody>
                    <a:bodyPr/>
                    <a:lstStyle/>
                    <a:p>
                      <a:pPr algn="l" fontAlgn="b"/>
                      <a:r>
                        <a:rPr lang="en-IN" sz="800" u="none" strike="noStrike">
                          <a:effectLst/>
                        </a:rPr>
                        <a:t>Lag1 dely</a:t>
                      </a:r>
                      <a:endParaRPr lang="en-IN" sz="800" b="1" i="0" u="none" strike="noStrike">
                        <a:solidFill>
                          <a:srgbClr val="000000"/>
                        </a:solidFill>
                        <a:effectLst/>
                        <a:latin typeface="Aptos Narrow" panose="020B0004020202020204" pitchFamily="34" charset="0"/>
                      </a:endParaRPr>
                    </a:p>
                  </a:txBody>
                  <a:tcPr marL="5715" marR="5715" marT="5715" marB="0" anchor="b"/>
                </a:tc>
                <a:tc>
                  <a:txBody>
                    <a:bodyPr/>
                    <a:lstStyle/>
                    <a:p>
                      <a:pPr algn="l" fontAlgn="b"/>
                      <a:r>
                        <a:rPr lang="en-IN" sz="800" u="none" strike="noStrike">
                          <a:effectLst/>
                        </a:rPr>
                        <a:t>Fisrt Diff</a:t>
                      </a:r>
                      <a:endParaRPr lang="en-IN" sz="800" b="1" i="0" u="none" strike="noStrike">
                        <a:solidFill>
                          <a:srgbClr val="000000"/>
                        </a:solidFill>
                        <a:effectLst/>
                        <a:latin typeface="Aptos Narrow" panose="020B0004020202020204" pitchFamily="34" charset="0"/>
                      </a:endParaRPr>
                    </a:p>
                  </a:txBody>
                  <a:tcPr marL="5715" marR="5715" marT="5715" marB="0" anchor="b"/>
                </a:tc>
                <a:tc>
                  <a:txBody>
                    <a:bodyPr/>
                    <a:lstStyle/>
                    <a:p>
                      <a:pPr algn="l" fontAlgn="b"/>
                      <a:r>
                        <a:rPr lang="en-IN" sz="800" u="none" strike="noStrike">
                          <a:effectLst/>
                        </a:rPr>
                        <a:t>lag1FirstDiff</a:t>
                      </a:r>
                      <a:endParaRPr lang="en-IN" sz="800" b="1"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3423816140"/>
                  </a:ext>
                </a:extLst>
              </a:tr>
              <a:tr h="152908">
                <a:tc>
                  <a:txBody>
                    <a:bodyPr/>
                    <a:lstStyle/>
                    <a:p>
                      <a:pPr algn="r" fontAlgn="b"/>
                      <a:r>
                        <a:rPr lang="en-IN" sz="800" u="none" strike="noStrike">
                          <a:effectLst/>
                        </a:rPr>
                        <a:t>07-01-1994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469.9</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l" fontAlgn="b"/>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l" fontAlgn="b"/>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l" fontAlgn="b"/>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1685161348"/>
                  </a:ext>
                </a:extLst>
              </a:tr>
              <a:tr h="152908">
                <a:tc>
                  <a:txBody>
                    <a:bodyPr/>
                    <a:lstStyle/>
                    <a:p>
                      <a:pPr algn="r" fontAlgn="b"/>
                      <a:r>
                        <a:rPr lang="en-IN" sz="800" u="none" strike="noStrike">
                          <a:effectLst/>
                        </a:rPr>
                        <a:t>10-01-1994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475.27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469.9</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5.37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l" fontAlgn="b"/>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2305967593"/>
                  </a:ext>
                </a:extLst>
              </a:tr>
              <a:tr h="152908">
                <a:tc>
                  <a:txBody>
                    <a:bodyPr/>
                    <a:lstStyle/>
                    <a:p>
                      <a:pPr algn="r" fontAlgn="b"/>
                      <a:r>
                        <a:rPr lang="en-IN" sz="800" u="none" strike="noStrike">
                          <a:effectLst/>
                        </a:rPr>
                        <a:t>11-01-1994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474.13</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475.27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-1.14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5.37</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2361152654"/>
                  </a:ext>
                </a:extLst>
              </a:tr>
              <a:tr h="152908">
                <a:tc>
                  <a:txBody>
                    <a:bodyPr/>
                    <a:lstStyle/>
                    <a:p>
                      <a:pPr algn="r" fontAlgn="b"/>
                      <a:r>
                        <a:rPr lang="en-IN" sz="800" u="none" strike="noStrike">
                          <a:effectLst/>
                        </a:rPr>
                        <a:t>12-01-1994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474.17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474.13</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0.04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-1.14</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3202260110"/>
                  </a:ext>
                </a:extLst>
              </a:tr>
              <a:tr h="152908">
                <a:tc>
                  <a:txBody>
                    <a:bodyPr/>
                    <a:lstStyle/>
                    <a:p>
                      <a:pPr algn="r" fontAlgn="b"/>
                      <a:r>
                        <a:rPr lang="en-IN" sz="800" u="none" strike="noStrike">
                          <a:effectLst/>
                        </a:rPr>
                        <a:t>13-01-1994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472.47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474.17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0.04</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2003013637"/>
                  </a:ext>
                </a:extLst>
              </a:tr>
              <a:tr h="152908">
                <a:tc>
                  <a:txBody>
                    <a:bodyPr/>
                    <a:lstStyle/>
                    <a:p>
                      <a:pPr algn="r" fontAlgn="b"/>
                      <a:r>
                        <a:rPr lang="en-IN" sz="800" u="none" strike="noStrike">
                          <a:effectLst/>
                        </a:rPr>
                        <a:t>14-01-1994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474.91</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472.47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2.44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-1.7</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2371581237"/>
                  </a:ext>
                </a:extLst>
              </a:tr>
              <a:tr h="152908">
                <a:tc>
                  <a:txBody>
                    <a:bodyPr/>
                    <a:lstStyle/>
                    <a:p>
                      <a:pPr algn="r" fontAlgn="b"/>
                      <a:r>
                        <a:rPr lang="en-IN" sz="800" u="none" strike="noStrike">
                          <a:effectLst/>
                        </a:rPr>
                        <a:t>17-01-1994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473.3</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474.91</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-1.61</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2.44</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315023251"/>
                  </a:ext>
                </a:extLst>
              </a:tr>
              <a:tr h="152908">
                <a:tc>
                  <a:txBody>
                    <a:bodyPr/>
                    <a:lstStyle/>
                    <a:p>
                      <a:pPr algn="r" fontAlgn="b"/>
                      <a:r>
                        <a:rPr lang="en-IN" sz="800" u="none" strike="noStrike">
                          <a:effectLst/>
                        </a:rPr>
                        <a:t>18-01-1994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474.25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473.3</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0.95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-1.61</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2474922164"/>
                  </a:ext>
                </a:extLst>
              </a:tr>
              <a:tr h="152908">
                <a:tc>
                  <a:txBody>
                    <a:bodyPr/>
                    <a:lstStyle/>
                    <a:p>
                      <a:pPr algn="r" fontAlgn="b"/>
                      <a:r>
                        <a:rPr lang="en-IN" sz="800" u="none" strike="noStrike">
                          <a:effectLst/>
                        </a:rPr>
                        <a:t>19-01-1994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474.3</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474.25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0.05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0.95</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4090826247"/>
                  </a:ext>
                </a:extLst>
              </a:tr>
              <a:tr h="152908">
                <a:tc>
                  <a:txBody>
                    <a:bodyPr/>
                    <a:lstStyle/>
                    <a:p>
                      <a:pPr algn="r" fontAlgn="b"/>
                      <a:r>
                        <a:rPr lang="en-IN" sz="800" u="none" strike="noStrike">
                          <a:effectLst/>
                        </a:rPr>
                        <a:t>20-01-1994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474.98</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474.3</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0.68</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0.05</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3149580891"/>
                  </a:ext>
                </a:extLst>
              </a:tr>
              <a:tr h="152908">
                <a:tc>
                  <a:txBody>
                    <a:bodyPr/>
                    <a:lstStyle/>
                    <a:p>
                      <a:pPr algn="r" fontAlgn="b"/>
                      <a:r>
                        <a:rPr lang="en-IN" sz="800" u="none" strike="noStrike">
                          <a:effectLst/>
                        </a:rPr>
                        <a:t>21-01-1994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474.72</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474.98</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-0.26</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0.68</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72846874"/>
                  </a:ext>
                </a:extLst>
              </a:tr>
              <a:tr h="152908">
                <a:tc>
                  <a:txBody>
                    <a:bodyPr/>
                    <a:lstStyle/>
                    <a:p>
                      <a:pPr algn="r" fontAlgn="b"/>
                      <a:r>
                        <a:rPr lang="en-IN" sz="800" u="none" strike="noStrike">
                          <a:effectLst/>
                        </a:rPr>
                        <a:t>24-01-1994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471.97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474.72</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-2.75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-0.26</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1007819548"/>
                  </a:ext>
                </a:extLst>
              </a:tr>
              <a:tr h="152908">
                <a:tc>
                  <a:txBody>
                    <a:bodyPr/>
                    <a:lstStyle/>
                    <a:p>
                      <a:pPr algn="r" fontAlgn="b"/>
                      <a:r>
                        <a:rPr lang="en-IN" sz="800" u="none" strike="noStrike">
                          <a:effectLst/>
                        </a:rPr>
                        <a:t>25-01-1994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470.92</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471.97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-1.05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-2.75</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887006524"/>
                  </a:ext>
                </a:extLst>
              </a:tr>
              <a:tr h="152908">
                <a:tc>
                  <a:txBody>
                    <a:bodyPr/>
                    <a:lstStyle/>
                    <a:p>
                      <a:pPr algn="r" fontAlgn="b"/>
                      <a:r>
                        <a:rPr lang="en-IN" sz="800" u="none" strike="noStrike">
                          <a:effectLst/>
                        </a:rPr>
                        <a:t>26-01-1994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473.2</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470.92</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2.28</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-1.05</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3595072326"/>
                  </a:ext>
                </a:extLst>
              </a:tr>
              <a:tr h="152908">
                <a:tc>
                  <a:txBody>
                    <a:bodyPr/>
                    <a:lstStyle/>
                    <a:p>
                      <a:pPr algn="r" fontAlgn="b"/>
                      <a:r>
                        <a:rPr lang="en-IN" sz="800" u="none" strike="noStrike">
                          <a:effectLst/>
                        </a:rPr>
                        <a:t>27-01-1994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477.05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473.2</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3.85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dirty="0">
                          <a:effectLst/>
                        </a:rPr>
                        <a:t>2.28</a:t>
                      </a:r>
                      <a:endParaRPr lang="en-IN" sz="800" b="0" i="0" u="none" strike="noStrike" dirty="0">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731872846"/>
                  </a:ext>
                </a:extLst>
              </a:tr>
            </a:tbl>
          </a:graphicData>
        </a:graphic>
      </p:graphicFrame>
      <p:graphicFrame>
        <p:nvGraphicFramePr>
          <p:cNvPr id="5" name="Table 4">
            <a:extLst>
              <a:ext uri="{FF2B5EF4-FFF2-40B4-BE49-F238E27FC236}">
                <a16:creationId xmlns:a16="http://schemas.microsoft.com/office/drawing/2014/main" id="{929EC0A4-8A00-D887-9AF6-9AF71627995F}"/>
              </a:ext>
            </a:extLst>
          </p:cNvPr>
          <p:cNvGraphicFramePr>
            <a:graphicFrameLocks noGrp="1"/>
          </p:cNvGraphicFramePr>
          <p:nvPr/>
        </p:nvGraphicFramePr>
        <p:xfrm>
          <a:off x="5235677" y="3165373"/>
          <a:ext cx="3449282" cy="2190136"/>
        </p:xfrm>
        <a:graphic>
          <a:graphicData uri="http://schemas.openxmlformats.org/drawingml/2006/table">
            <a:tbl>
              <a:tblPr>
                <a:tableStyleId>{5C22544A-7EE6-4342-B048-85BDC9FD1C3A}</a:tableStyleId>
              </a:tblPr>
              <a:tblGrid>
                <a:gridCol w="778870">
                  <a:extLst>
                    <a:ext uri="{9D8B030D-6E8A-4147-A177-3AD203B41FA5}">
                      <a16:colId xmlns:a16="http://schemas.microsoft.com/office/drawing/2014/main" val="1806098229"/>
                    </a:ext>
                  </a:extLst>
                </a:gridCol>
                <a:gridCol w="667603">
                  <a:extLst>
                    <a:ext uri="{9D8B030D-6E8A-4147-A177-3AD203B41FA5}">
                      <a16:colId xmlns:a16="http://schemas.microsoft.com/office/drawing/2014/main" val="2413379288"/>
                    </a:ext>
                  </a:extLst>
                </a:gridCol>
                <a:gridCol w="667603">
                  <a:extLst>
                    <a:ext uri="{9D8B030D-6E8A-4147-A177-3AD203B41FA5}">
                      <a16:colId xmlns:a16="http://schemas.microsoft.com/office/drawing/2014/main" val="3594249028"/>
                    </a:ext>
                  </a:extLst>
                </a:gridCol>
                <a:gridCol w="667603">
                  <a:extLst>
                    <a:ext uri="{9D8B030D-6E8A-4147-A177-3AD203B41FA5}">
                      <a16:colId xmlns:a16="http://schemas.microsoft.com/office/drawing/2014/main" val="2499098696"/>
                    </a:ext>
                  </a:extLst>
                </a:gridCol>
                <a:gridCol w="667603">
                  <a:extLst>
                    <a:ext uri="{9D8B030D-6E8A-4147-A177-3AD203B41FA5}">
                      <a16:colId xmlns:a16="http://schemas.microsoft.com/office/drawing/2014/main" val="525418361"/>
                    </a:ext>
                  </a:extLst>
                </a:gridCol>
              </a:tblGrid>
              <a:tr h="276068">
                <a:tc>
                  <a:txBody>
                    <a:bodyPr/>
                    <a:lstStyle/>
                    <a:p>
                      <a:pPr algn="l" fontAlgn="b"/>
                      <a:r>
                        <a:rPr lang="en-IN" sz="800" u="none" strike="noStrike">
                          <a:effectLst/>
                        </a:rPr>
                        <a:t>date</a:t>
                      </a:r>
                      <a:endParaRPr lang="en-IN" sz="800" b="1" i="0" u="none" strike="noStrike">
                        <a:solidFill>
                          <a:srgbClr val="000000"/>
                        </a:solidFill>
                        <a:effectLst/>
                        <a:latin typeface="Aptos Narrow" panose="020B0004020202020204" pitchFamily="34" charset="0"/>
                      </a:endParaRPr>
                    </a:p>
                  </a:txBody>
                  <a:tcPr marL="5715" marR="5715" marT="5715" marB="0" anchor="b"/>
                </a:tc>
                <a:tc>
                  <a:txBody>
                    <a:bodyPr/>
                    <a:lstStyle/>
                    <a:p>
                      <a:pPr algn="l" fontAlgn="b"/>
                      <a:r>
                        <a:rPr lang="en-IN" sz="800" u="none" strike="noStrike">
                          <a:effectLst/>
                        </a:rPr>
                        <a:t>spx</a:t>
                      </a:r>
                      <a:endParaRPr lang="en-IN" sz="800" b="1" i="0" u="none" strike="noStrike">
                        <a:solidFill>
                          <a:srgbClr val="000000"/>
                        </a:solidFill>
                        <a:effectLst/>
                        <a:latin typeface="Aptos Narrow" panose="020B0004020202020204" pitchFamily="34" charset="0"/>
                      </a:endParaRPr>
                    </a:p>
                  </a:txBody>
                  <a:tcPr marL="5715" marR="5715" marT="5715" marB="0" anchor="b"/>
                </a:tc>
                <a:tc>
                  <a:txBody>
                    <a:bodyPr/>
                    <a:lstStyle/>
                    <a:p>
                      <a:pPr algn="l" fontAlgn="b"/>
                      <a:r>
                        <a:rPr lang="en-IN" sz="800" u="none" strike="noStrike">
                          <a:effectLst/>
                        </a:rPr>
                        <a:t>Lag1 </a:t>
                      </a:r>
                      <a:endParaRPr lang="en-IN" sz="800" b="1" i="0" u="none" strike="noStrike">
                        <a:solidFill>
                          <a:srgbClr val="000000"/>
                        </a:solidFill>
                        <a:effectLst/>
                        <a:latin typeface="Aptos Narrow" panose="020B0004020202020204" pitchFamily="34" charset="0"/>
                      </a:endParaRPr>
                    </a:p>
                  </a:txBody>
                  <a:tcPr marL="5715" marR="5715" marT="5715" marB="0" anchor="b"/>
                </a:tc>
                <a:tc>
                  <a:txBody>
                    <a:bodyPr/>
                    <a:lstStyle/>
                    <a:p>
                      <a:pPr algn="l" fontAlgn="b"/>
                      <a:r>
                        <a:rPr lang="en-IN" sz="800" u="none" strike="noStrike">
                          <a:effectLst/>
                        </a:rPr>
                        <a:t>lag1FirstDiff</a:t>
                      </a:r>
                      <a:endParaRPr lang="en-IN" sz="800" b="1" i="0" u="none" strike="noStrike">
                        <a:solidFill>
                          <a:srgbClr val="000000"/>
                        </a:solidFill>
                        <a:effectLst/>
                        <a:latin typeface="Aptos Narrow" panose="020B0004020202020204" pitchFamily="34" charset="0"/>
                      </a:endParaRPr>
                    </a:p>
                  </a:txBody>
                  <a:tcPr marL="5715" marR="5715" marT="5715" marB="0" anchor="b"/>
                </a:tc>
                <a:tc>
                  <a:txBody>
                    <a:bodyPr/>
                    <a:lstStyle/>
                    <a:p>
                      <a:pPr algn="l" fontAlgn="b"/>
                      <a:r>
                        <a:rPr lang="en-IN" sz="800" u="none" strike="noStrike">
                          <a:effectLst/>
                        </a:rPr>
                        <a:t>Fisrt Diff</a:t>
                      </a:r>
                      <a:endParaRPr lang="en-IN" sz="800" b="1"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1414102111"/>
                  </a:ext>
                </a:extLst>
              </a:tr>
              <a:tr h="147236">
                <a:tc>
                  <a:txBody>
                    <a:bodyPr/>
                    <a:lstStyle/>
                    <a:p>
                      <a:pPr algn="r" fontAlgn="b"/>
                      <a:r>
                        <a:rPr lang="en-IN" sz="800" u="none" strike="noStrike">
                          <a:effectLst/>
                        </a:rPr>
                        <a:t>11-01-1994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474.13</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475.27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5.37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-1.14</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3165208404"/>
                  </a:ext>
                </a:extLst>
              </a:tr>
              <a:tr h="147236">
                <a:tc>
                  <a:txBody>
                    <a:bodyPr/>
                    <a:lstStyle/>
                    <a:p>
                      <a:pPr algn="r" fontAlgn="b"/>
                      <a:r>
                        <a:rPr lang="en-IN" sz="800" u="none" strike="noStrike">
                          <a:effectLst/>
                        </a:rPr>
                        <a:t>12-01-1994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474.17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474.13</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-1.14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0.04</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956592493"/>
                  </a:ext>
                </a:extLst>
              </a:tr>
              <a:tr h="147236">
                <a:tc>
                  <a:txBody>
                    <a:bodyPr/>
                    <a:lstStyle/>
                    <a:p>
                      <a:pPr algn="r" fontAlgn="b"/>
                      <a:r>
                        <a:rPr lang="en-IN" sz="800" u="none" strike="noStrike">
                          <a:effectLst/>
                        </a:rPr>
                        <a:t>13-01-1994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472.47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474.17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0.04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-1.7</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2180241551"/>
                  </a:ext>
                </a:extLst>
              </a:tr>
              <a:tr h="147236">
                <a:tc>
                  <a:txBody>
                    <a:bodyPr/>
                    <a:lstStyle/>
                    <a:p>
                      <a:pPr algn="r" fontAlgn="b"/>
                      <a:r>
                        <a:rPr lang="en-IN" sz="800" u="none" strike="noStrike">
                          <a:effectLst/>
                        </a:rPr>
                        <a:t>14-01-1994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474.91</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472.47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2.44</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3734426168"/>
                  </a:ext>
                </a:extLst>
              </a:tr>
              <a:tr h="147236">
                <a:tc>
                  <a:txBody>
                    <a:bodyPr/>
                    <a:lstStyle/>
                    <a:p>
                      <a:pPr algn="r" fontAlgn="b"/>
                      <a:r>
                        <a:rPr lang="en-IN" sz="800" u="none" strike="noStrike">
                          <a:effectLst/>
                        </a:rPr>
                        <a:t>17-01-1994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473.3</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474.91</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2.44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-1.61</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3031831081"/>
                  </a:ext>
                </a:extLst>
              </a:tr>
              <a:tr h="147236">
                <a:tc>
                  <a:txBody>
                    <a:bodyPr/>
                    <a:lstStyle/>
                    <a:p>
                      <a:pPr algn="r" fontAlgn="b"/>
                      <a:r>
                        <a:rPr lang="en-IN" sz="800" u="none" strike="noStrike">
                          <a:effectLst/>
                        </a:rPr>
                        <a:t>18-01-1994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474.25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473.3</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-1.61</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0.95</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2657713880"/>
                  </a:ext>
                </a:extLst>
              </a:tr>
              <a:tr h="147236">
                <a:tc>
                  <a:txBody>
                    <a:bodyPr/>
                    <a:lstStyle/>
                    <a:p>
                      <a:pPr algn="r" fontAlgn="b"/>
                      <a:r>
                        <a:rPr lang="en-IN" sz="800" u="none" strike="noStrike">
                          <a:effectLst/>
                        </a:rPr>
                        <a:t>19-01-1994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474.3</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474.25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0.95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0.05</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542098641"/>
                  </a:ext>
                </a:extLst>
              </a:tr>
              <a:tr h="147236">
                <a:tc>
                  <a:txBody>
                    <a:bodyPr/>
                    <a:lstStyle/>
                    <a:p>
                      <a:pPr algn="r" fontAlgn="b"/>
                      <a:r>
                        <a:rPr lang="en-IN" sz="800" u="none" strike="noStrike">
                          <a:effectLst/>
                        </a:rPr>
                        <a:t>20-01-1994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474.98</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474.3</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0.05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0.68</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3402139769"/>
                  </a:ext>
                </a:extLst>
              </a:tr>
              <a:tr h="147236">
                <a:tc>
                  <a:txBody>
                    <a:bodyPr/>
                    <a:lstStyle/>
                    <a:p>
                      <a:pPr algn="r" fontAlgn="b"/>
                      <a:r>
                        <a:rPr lang="en-IN" sz="800" u="none" strike="noStrike">
                          <a:effectLst/>
                        </a:rPr>
                        <a:t>21-01-1994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474.72</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474.98</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0.68</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-0.26</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4250916737"/>
                  </a:ext>
                </a:extLst>
              </a:tr>
              <a:tr h="147236">
                <a:tc>
                  <a:txBody>
                    <a:bodyPr/>
                    <a:lstStyle/>
                    <a:p>
                      <a:pPr algn="r" fontAlgn="b"/>
                      <a:r>
                        <a:rPr lang="en-IN" sz="800" u="none" strike="noStrike">
                          <a:effectLst/>
                        </a:rPr>
                        <a:t>24-01-1994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471.97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474.72</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-0.26</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-2.75</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2577665093"/>
                  </a:ext>
                </a:extLst>
              </a:tr>
              <a:tr h="147236">
                <a:tc>
                  <a:txBody>
                    <a:bodyPr/>
                    <a:lstStyle/>
                    <a:p>
                      <a:pPr algn="r" fontAlgn="b"/>
                      <a:r>
                        <a:rPr lang="en-IN" sz="800" u="none" strike="noStrike">
                          <a:effectLst/>
                        </a:rPr>
                        <a:t>25-01-1994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470.92</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471.97</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-2.75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-1.05</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2191115277"/>
                  </a:ext>
                </a:extLst>
              </a:tr>
              <a:tr h="147236">
                <a:tc>
                  <a:txBody>
                    <a:bodyPr/>
                    <a:lstStyle/>
                    <a:p>
                      <a:pPr algn="r" fontAlgn="b"/>
                      <a:r>
                        <a:rPr lang="en-IN" sz="800" u="none" strike="noStrike">
                          <a:effectLst/>
                        </a:rPr>
                        <a:t>26-01-1994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473.2</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470.92</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-1.05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2.28</a:t>
                      </a:r>
                      <a:endParaRPr lang="en-IN" sz="800" b="0" i="0" u="none" strike="noStrike">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461480420"/>
                  </a:ext>
                </a:extLst>
              </a:tr>
              <a:tr h="147236">
                <a:tc>
                  <a:txBody>
                    <a:bodyPr/>
                    <a:lstStyle/>
                    <a:p>
                      <a:pPr algn="r" fontAlgn="b"/>
                      <a:r>
                        <a:rPr lang="en-IN" sz="800" u="none" strike="noStrike">
                          <a:effectLst/>
                        </a:rPr>
                        <a:t>27-01-1994</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477.05</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473.2</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a:effectLst/>
                        </a:rPr>
                        <a:t>2.28</a:t>
                      </a:r>
                      <a:endParaRPr lang="en-IN" sz="800" b="0" i="0" u="none" strike="noStrike">
                        <a:solidFill>
                          <a:srgbClr val="000000"/>
                        </a:solidFill>
                        <a:effectLst/>
                        <a:latin typeface="Aptos Narrow" panose="020B0004020202020204" pitchFamily="34" charset="0"/>
                      </a:endParaRPr>
                    </a:p>
                  </a:txBody>
                  <a:tcPr marL="5715" marR="5715" marT="5715" marB="0" anchor="b"/>
                </a:tc>
                <a:tc>
                  <a:txBody>
                    <a:bodyPr/>
                    <a:lstStyle/>
                    <a:p>
                      <a:pPr algn="r" fontAlgn="b"/>
                      <a:r>
                        <a:rPr lang="en-IN" sz="800" u="none" strike="noStrike" dirty="0">
                          <a:effectLst/>
                        </a:rPr>
                        <a:t>3.85</a:t>
                      </a:r>
                      <a:endParaRPr lang="en-IN" sz="800" b="0" i="0" u="none" strike="noStrike" dirty="0">
                        <a:solidFill>
                          <a:srgbClr val="000000"/>
                        </a:solidFill>
                        <a:effectLst/>
                        <a:latin typeface="Aptos Narrow" panose="020B0004020202020204" pitchFamily="34" charset="0"/>
                      </a:endParaRPr>
                    </a:p>
                  </a:txBody>
                  <a:tcPr marL="5715" marR="5715" marT="5715" marB="0" anchor="b"/>
                </a:tc>
                <a:extLst>
                  <a:ext uri="{0D108BD9-81ED-4DB2-BD59-A6C34878D82A}">
                    <a16:rowId xmlns:a16="http://schemas.microsoft.com/office/drawing/2014/main" val="1405665005"/>
                  </a:ext>
                </a:extLst>
              </a:tr>
            </a:tbl>
          </a:graphicData>
        </a:graphic>
      </p:graphicFrame>
    </p:spTree>
    <p:extLst>
      <p:ext uri="{BB962C8B-B14F-4D97-AF65-F5344CB8AC3E}">
        <p14:creationId xmlns:p14="http://schemas.microsoft.com/office/powerpoint/2010/main" val="13492871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D5838-7F57-836D-3020-BDBC86064B60}"/>
              </a:ext>
            </a:extLst>
          </p:cNvPr>
          <p:cNvSpPr>
            <a:spLocks noGrp="1"/>
          </p:cNvSpPr>
          <p:nvPr>
            <p:ph type="title"/>
          </p:nvPr>
        </p:nvSpPr>
        <p:spPr>
          <a:xfrm>
            <a:off x="688340" y="348995"/>
            <a:ext cx="7917687" cy="677108"/>
          </a:xfrm>
        </p:spPr>
        <p:txBody>
          <a:bodyPr/>
          <a:lstStyle/>
          <a:p>
            <a:r>
              <a:rPr lang="en-IN"/>
              <a:t>Model type </a:t>
            </a:r>
            <a:r>
              <a:rPr lang="en-IN" dirty="0"/>
              <a:t>1</a:t>
            </a:r>
          </a:p>
        </p:txBody>
      </p:sp>
      <p:graphicFrame>
        <p:nvGraphicFramePr>
          <p:cNvPr id="4" name="Content Placeholder 3">
            <a:extLst>
              <a:ext uri="{FF2B5EF4-FFF2-40B4-BE49-F238E27FC236}">
                <a16:creationId xmlns:a16="http://schemas.microsoft.com/office/drawing/2014/main" id="{E490B20B-48E9-D1CC-7070-15D819FD7B5E}"/>
              </a:ext>
            </a:extLst>
          </p:cNvPr>
          <p:cNvGraphicFramePr>
            <a:graphicFrameLocks noGrp="1"/>
          </p:cNvGraphicFramePr>
          <p:nvPr>
            <p:ph idx="1"/>
          </p:nvPr>
        </p:nvGraphicFramePr>
        <p:xfrm>
          <a:off x="470222" y="2123231"/>
          <a:ext cx="8300432" cy="3664807"/>
        </p:xfrm>
        <a:graphic>
          <a:graphicData uri="http://schemas.openxmlformats.org/drawingml/2006/table">
            <a:tbl>
              <a:tblPr>
                <a:tableStyleId>{5C22544A-7EE6-4342-B048-85BDC9FD1C3A}</a:tableStyleId>
              </a:tblPr>
              <a:tblGrid>
                <a:gridCol w="782876">
                  <a:extLst>
                    <a:ext uri="{9D8B030D-6E8A-4147-A177-3AD203B41FA5}">
                      <a16:colId xmlns:a16="http://schemas.microsoft.com/office/drawing/2014/main" val="2410493853"/>
                    </a:ext>
                  </a:extLst>
                </a:gridCol>
                <a:gridCol w="771033">
                  <a:extLst>
                    <a:ext uri="{9D8B030D-6E8A-4147-A177-3AD203B41FA5}">
                      <a16:colId xmlns:a16="http://schemas.microsoft.com/office/drawing/2014/main" val="2121515086"/>
                    </a:ext>
                  </a:extLst>
                </a:gridCol>
                <a:gridCol w="963789">
                  <a:extLst>
                    <a:ext uri="{9D8B030D-6E8A-4147-A177-3AD203B41FA5}">
                      <a16:colId xmlns:a16="http://schemas.microsoft.com/office/drawing/2014/main" val="2051708995"/>
                    </a:ext>
                  </a:extLst>
                </a:gridCol>
                <a:gridCol w="963789">
                  <a:extLst>
                    <a:ext uri="{9D8B030D-6E8A-4147-A177-3AD203B41FA5}">
                      <a16:colId xmlns:a16="http://schemas.microsoft.com/office/drawing/2014/main" val="3833086160"/>
                    </a:ext>
                  </a:extLst>
                </a:gridCol>
                <a:gridCol w="963789">
                  <a:extLst>
                    <a:ext uri="{9D8B030D-6E8A-4147-A177-3AD203B41FA5}">
                      <a16:colId xmlns:a16="http://schemas.microsoft.com/office/drawing/2014/main" val="4122640753"/>
                    </a:ext>
                  </a:extLst>
                </a:gridCol>
                <a:gridCol w="963789">
                  <a:extLst>
                    <a:ext uri="{9D8B030D-6E8A-4147-A177-3AD203B41FA5}">
                      <a16:colId xmlns:a16="http://schemas.microsoft.com/office/drawing/2014/main" val="870069512"/>
                    </a:ext>
                  </a:extLst>
                </a:gridCol>
                <a:gridCol w="963789">
                  <a:extLst>
                    <a:ext uri="{9D8B030D-6E8A-4147-A177-3AD203B41FA5}">
                      <a16:colId xmlns:a16="http://schemas.microsoft.com/office/drawing/2014/main" val="4090828466"/>
                    </a:ext>
                  </a:extLst>
                </a:gridCol>
                <a:gridCol w="963789">
                  <a:extLst>
                    <a:ext uri="{9D8B030D-6E8A-4147-A177-3AD203B41FA5}">
                      <a16:colId xmlns:a16="http://schemas.microsoft.com/office/drawing/2014/main" val="3782115366"/>
                    </a:ext>
                  </a:extLst>
                </a:gridCol>
                <a:gridCol w="963789">
                  <a:extLst>
                    <a:ext uri="{9D8B030D-6E8A-4147-A177-3AD203B41FA5}">
                      <a16:colId xmlns:a16="http://schemas.microsoft.com/office/drawing/2014/main" val="3220793155"/>
                    </a:ext>
                  </a:extLst>
                </a:gridCol>
              </a:tblGrid>
              <a:tr h="219490">
                <a:tc gridSpan="2">
                  <a:txBody>
                    <a:bodyPr/>
                    <a:lstStyle/>
                    <a:p>
                      <a:pPr algn="l" fontAlgn="b"/>
                      <a:r>
                        <a:rPr lang="en-IN" sz="900" b="1" u="none" strike="noStrike" dirty="0">
                          <a:effectLst/>
                        </a:rPr>
                        <a:t>SUMMARY OUTPUT</a:t>
                      </a:r>
                      <a:endParaRPr lang="en-IN" sz="900" b="1" i="0" u="none" strike="noStrike" dirty="0">
                        <a:solidFill>
                          <a:srgbClr val="000000"/>
                        </a:solidFill>
                        <a:effectLst/>
                        <a:latin typeface="Aptos Narrow"/>
                      </a:endParaRPr>
                    </a:p>
                  </a:txBody>
                  <a:tcPr marL="4597" marR="4597" marT="4597" marB="0" anchor="b"/>
                </a:tc>
                <a:tc hMerge="1">
                  <a:txBody>
                    <a:bodyPr/>
                    <a:lstStyle/>
                    <a:p>
                      <a:endParaRPr lang="en-IN"/>
                    </a:p>
                  </a:txBody>
                  <a:tcPr/>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3772262515"/>
                  </a:ext>
                </a:extLst>
              </a:tr>
              <a:tr h="141757">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845763282"/>
                  </a:ext>
                </a:extLst>
              </a:tr>
              <a:tr h="219490">
                <a:tc gridSpan="2">
                  <a:txBody>
                    <a:bodyPr/>
                    <a:lstStyle/>
                    <a:p>
                      <a:pPr algn="ctr" fontAlgn="b"/>
                      <a:r>
                        <a:rPr lang="en-IN" sz="900" b="1" u="none" strike="noStrike" dirty="0">
                          <a:effectLst/>
                        </a:rPr>
                        <a:t>Regression Statistics</a:t>
                      </a:r>
                      <a:endParaRPr lang="en-IN" sz="900" b="1" i="1" u="none" strike="noStrike">
                        <a:solidFill>
                          <a:srgbClr val="000000"/>
                        </a:solidFill>
                        <a:effectLst/>
                        <a:latin typeface="Aptos Narrow"/>
                      </a:endParaRPr>
                    </a:p>
                  </a:txBody>
                  <a:tcPr marL="4597" marR="4597" marT="4597" marB="0" anchor="b"/>
                </a:tc>
                <a:tc hMerge="1">
                  <a:txBody>
                    <a:bodyPr/>
                    <a:lstStyle/>
                    <a:p>
                      <a:endParaRPr lang="en-IN"/>
                    </a:p>
                  </a:txBody>
                  <a:tcPr/>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1612177398"/>
                  </a:ext>
                </a:extLst>
              </a:tr>
              <a:tr h="219490">
                <a:tc>
                  <a:txBody>
                    <a:bodyPr/>
                    <a:lstStyle/>
                    <a:p>
                      <a:pPr algn="l" fontAlgn="b"/>
                      <a:r>
                        <a:rPr lang="en-IN" sz="900" b="1" u="none" strike="noStrike" dirty="0">
                          <a:effectLst/>
                        </a:rPr>
                        <a:t>Multiple R</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0.026784</a:t>
                      </a:r>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722803636"/>
                  </a:ext>
                </a:extLst>
              </a:tr>
              <a:tr h="219490">
                <a:tc>
                  <a:txBody>
                    <a:bodyPr/>
                    <a:lstStyle/>
                    <a:p>
                      <a:pPr algn="l" fontAlgn="b"/>
                      <a:r>
                        <a:rPr lang="en-IN" sz="900" b="1" u="none" strike="noStrike" dirty="0">
                          <a:effectLst/>
                        </a:rPr>
                        <a:t>R Square</a:t>
                      </a:r>
                      <a:endParaRPr lang="en-IN" sz="900" b="1" i="0" u="none" strike="noStrike" dirty="0">
                        <a:solidFill>
                          <a:srgbClr val="000000"/>
                        </a:solidFill>
                        <a:effectLst/>
                        <a:latin typeface="Aptos Narrow" panose="020B0004020202020204" pitchFamily="34" charset="0"/>
                      </a:endParaRPr>
                    </a:p>
                  </a:txBody>
                  <a:tcPr marL="4597" marR="4597" marT="4597" marB="0" anchor="b"/>
                </a:tc>
                <a:tc>
                  <a:txBody>
                    <a:bodyPr/>
                    <a:lstStyle/>
                    <a:p>
                      <a:pPr algn="r" fontAlgn="b"/>
                      <a:r>
                        <a:rPr lang="en-IN" sz="900" b="1" u="none" strike="noStrike" dirty="0">
                          <a:effectLst/>
                        </a:rPr>
                        <a:t>0.000717</a:t>
                      </a:r>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2714592569"/>
                  </a:ext>
                </a:extLst>
              </a:tr>
              <a:tr h="326837">
                <a:tc>
                  <a:txBody>
                    <a:bodyPr/>
                    <a:lstStyle/>
                    <a:p>
                      <a:pPr algn="l" fontAlgn="b"/>
                      <a:r>
                        <a:rPr lang="en-IN" sz="900" b="1" u="none" strike="noStrike" dirty="0">
                          <a:effectLst/>
                        </a:rPr>
                        <a:t>Adjusted R Square</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0.000518</a:t>
                      </a:r>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628148"/>
                  </a:ext>
                </a:extLst>
              </a:tr>
              <a:tr h="252725">
                <a:tc>
                  <a:txBody>
                    <a:bodyPr/>
                    <a:lstStyle/>
                    <a:p>
                      <a:pPr algn="l" fontAlgn="b"/>
                      <a:r>
                        <a:rPr lang="en-IN" sz="900" b="1" u="none" strike="noStrike" dirty="0">
                          <a:effectLst/>
                        </a:rPr>
                        <a:t>Standard Error</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13.2425</a:t>
                      </a:r>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2106441016"/>
                  </a:ext>
                </a:extLst>
              </a:tr>
              <a:tr h="252725">
                <a:tc>
                  <a:txBody>
                    <a:bodyPr/>
                    <a:lstStyle/>
                    <a:p>
                      <a:pPr algn="l" fontAlgn="b"/>
                      <a:r>
                        <a:rPr lang="en-IN" sz="900" b="1" u="none" strike="noStrike" dirty="0">
                          <a:effectLst/>
                        </a:rPr>
                        <a:t>Observations</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5014</a:t>
                      </a:r>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1150396832"/>
                  </a:ext>
                </a:extLst>
              </a:tr>
              <a:tr h="141757">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1177750057"/>
                  </a:ext>
                </a:extLst>
              </a:tr>
              <a:tr h="141757">
                <a:tc>
                  <a:txBody>
                    <a:bodyPr/>
                    <a:lstStyle/>
                    <a:p>
                      <a:pPr algn="l" fontAlgn="b"/>
                      <a:r>
                        <a:rPr lang="en-IN" sz="900" b="1" u="none" strike="noStrike" dirty="0">
                          <a:effectLst/>
                        </a:rPr>
                        <a:t>ANOVA</a:t>
                      </a:r>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2583920059"/>
                  </a:ext>
                </a:extLst>
              </a:tr>
              <a:tr h="219490">
                <a:tc>
                  <a:txBody>
                    <a:bodyPr/>
                    <a:lstStyle/>
                    <a:p>
                      <a:pPr algn="ctr" fontAlgn="b"/>
                      <a:endParaRPr lang="en-IN" sz="900" b="1" i="1" u="none" strike="noStrike" dirty="0">
                        <a:solidFill>
                          <a:srgbClr val="000000"/>
                        </a:solidFill>
                        <a:effectLst/>
                        <a:latin typeface="Aptos Narrow"/>
                      </a:endParaRPr>
                    </a:p>
                  </a:txBody>
                  <a:tcPr marL="4597" marR="4597" marT="4597" marB="0" anchor="b"/>
                </a:tc>
                <a:tc>
                  <a:txBody>
                    <a:bodyPr/>
                    <a:lstStyle/>
                    <a:p>
                      <a:pPr algn="ctr" fontAlgn="b"/>
                      <a:r>
                        <a:rPr lang="en-IN" sz="900" b="1" u="none" strike="noStrike" err="1">
                          <a:effectLst/>
                        </a:rPr>
                        <a:t>df</a:t>
                      </a:r>
                      <a:endParaRPr lang="en-IN" sz="900" b="1" i="1" u="none" strike="noStrike" err="1">
                        <a:solidFill>
                          <a:srgbClr val="000000"/>
                        </a:solidFill>
                        <a:effectLst/>
                        <a:latin typeface="Aptos Narrow"/>
                      </a:endParaRPr>
                    </a:p>
                  </a:txBody>
                  <a:tcPr marL="4597" marR="4597" marT="4597" marB="0" anchor="b"/>
                </a:tc>
                <a:tc>
                  <a:txBody>
                    <a:bodyPr/>
                    <a:lstStyle/>
                    <a:p>
                      <a:pPr algn="ctr" fontAlgn="b"/>
                      <a:r>
                        <a:rPr lang="en-IN" sz="900" b="1" u="none" strike="noStrike" dirty="0">
                          <a:effectLst/>
                        </a:rPr>
                        <a:t>SS</a:t>
                      </a:r>
                      <a:endParaRPr lang="en-IN" sz="900" b="1" i="1" u="none" strike="noStrike" dirty="0">
                        <a:solidFill>
                          <a:srgbClr val="000000"/>
                        </a:solidFill>
                        <a:effectLst/>
                        <a:latin typeface="Aptos Narrow"/>
                      </a:endParaRPr>
                    </a:p>
                  </a:txBody>
                  <a:tcPr marL="4597" marR="4597" marT="4597" marB="0" anchor="b"/>
                </a:tc>
                <a:tc>
                  <a:txBody>
                    <a:bodyPr/>
                    <a:lstStyle/>
                    <a:p>
                      <a:pPr algn="ctr" fontAlgn="b"/>
                      <a:r>
                        <a:rPr lang="en-IN" sz="900" b="1" u="none" strike="noStrike" dirty="0">
                          <a:effectLst/>
                        </a:rPr>
                        <a:t>MS</a:t>
                      </a:r>
                      <a:endParaRPr lang="en-IN" sz="900" b="1" i="1" u="none" strike="noStrike" dirty="0">
                        <a:solidFill>
                          <a:srgbClr val="000000"/>
                        </a:solidFill>
                        <a:effectLst/>
                        <a:latin typeface="Aptos Narrow"/>
                      </a:endParaRPr>
                    </a:p>
                  </a:txBody>
                  <a:tcPr marL="4597" marR="4597" marT="4597" marB="0" anchor="b"/>
                </a:tc>
                <a:tc>
                  <a:txBody>
                    <a:bodyPr/>
                    <a:lstStyle/>
                    <a:p>
                      <a:pPr algn="ctr" fontAlgn="b"/>
                      <a:r>
                        <a:rPr lang="en-IN" sz="900" b="1" u="none" strike="noStrike" dirty="0">
                          <a:effectLst/>
                        </a:rPr>
                        <a:t>F</a:t>
                      </a:r>
                      <a:endParaRPr lang="en-IN" sz="900" b="1" i="1" u="none" strike="noStrike" dirty="0">
                        <a:solidFill>
                          <a:srgbClr val="000000"/>
                        </a:solidFill>
                        <a:effectLst/>
                        <a:latin typeface="Aptos Narrow"/>
                      </a:endParaRPr>
                    </a:p>
                  </a:txBody>
                  <a:tcPr marL="4597" marR="4597" marT="4597" marB="0" anchor="b"/>
                </a:tc>
                <a:tc>
                  <a:txBody>
                    <a:bodyPr/>
                    <a:lstStyle/>
                    <a:p>
                      <a:pPr algn="ctr" fontAlgn="b"/>
                      <a:r>
                        <a:rPr lang="en-IN" sz="900" b="1" u="none" strike="noStrike" dirty="0">
                          <a:effectLst/>
                        </a:rPr>
                        <a:t>Significance F</a:t>
                      </a:r>
                      <a:endParaRPr lang="en-IN" sz="900" b="1" i="1"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2669575255"/>
                  </a:ext>
                </a:extLst>
              </a:tr>
              <a:tr h="219490">
                <a:tc>
                  <a:txBody>
                    <a:bodyPr/>
                    <a:lstStyle/>
                    <a:p>
                      <a:pPr algn="l" fontAlgn="b"/>
                      <a:r>
                        <a:rPr lang="en-IN" sz="900" b="1" u="none" strike="noStrike" dirty="0">
                          <a:effectLst/>
                        </a:rPr>
                        <a:t>Regression</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1</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630.9724</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630.9724</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3.598077</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0.057904</a:t>
                      </a:r>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544071028"/>
                  </a:ext>
                </a:extLst>
              </a:tr>
              <a:tr h="219490">
                <a:tc>
                  <a:txBody>
                    <a:bodyPr/>
                    <a:lstStyle/>
                    <a:p>
                      <a:pPr algn="l" fontAlgn="b"/>
                      <a:r>
                        <a:rPr lang="en-IN" sz="900" b="1" u="none" strike="noStrike" dirty="0">
                          <a:effectLst/>
                        </a:rPr>
                        <a:t>Residual</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5012</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878923.3</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175.3638</a:t>
                      </a:r>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1548090650"/>
                  </a:ext>
                </a:extLst>
              </a:tr>
              <a:tr h="141757">
                <a:tc>
                  <a:txBody>
                    <a:bodyPr/>
                    <a:lstStyle/>
                    <a:p>
                      <a:pPr algn="l" fontAlgn="b"/>
                      <a:r>
                        <a:rPr lang="en-IN" sz="900" b="1" u="none" strike="noStrike" dirty="0">
                          <a:effectLst/>
                        </a:rPr>
                        <a:t>Total</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5013</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879554.2</a:t>
                      </a:r>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3711047889"/>
                  </a:ext>
                </a:extLst>
              </a:tr>
              <a:tr h="141757">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tc>
                  <a:txBody>
                    <a:bodyPr/>
                    <a:lstStyle/>
                    <a:p>
                      <a:pPr algn="l" fontAlgn="b"/>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2202049297"/>
                  </a:ext>
                </a:extLst>
              </a:tr>
              <a:tr h="219490">
                <a:tc>
                  <a:txBody>
                    <a:bodyPr/>
                    <a:lstStyle/>
                    <a:p>
                      <a:pPr algn="ctr" fontAlgn="b"/>
                      <a:endParaRPr lang="en-IN" sz="900" b="1" i="1" u="none" strike="noStrike" dirty="0">
                        <a:solidFill>
                          <a:srgbClr val="000000"/>
                        </a:solidFill>
                        <a:effectLst/>
                        <a:latin typeface="Aptos Narrow"/>
                      </a:endParaRPr>
                    </a:p>
                  </a:txBody>
                  <a:tcPr marL="4597" marR="4597" marT="4597" marB="0" anchor="b"/>
                </a:tc>
                <a:tc>
                  <a:txBody>
                    <a:bodyPr/>
                    <a:lstStyle/>
                    <a:p>
                      <a:pPr algn="ctr" fontAlgn="b"/>
                      <a:r>
                        <a:rPr lang="en-IN" sz="900" b="1" u="none" strike="noStrike" dirty="0">
                          <a:effectLst/>
                        </a:rPr>
                        <a:t>Coefficients</a:t>
                      </a:r>
                      <a:endParaRPr lang="en-IN" sz="900" b="1" i="1" u="none" strike="noStrike" dirty="0">
                        <a:solidFill>
                          <a:srgbClr val="000000"/>
                        </a:solidFill>
                        <a:effectLst/>
                        <a:latin typeface="Aptos Narrow"/>
                      </a:endParaRPr>
                    </a:p>
                  </a:txBody>
                  <a:tcPr marL="4597" marR="4597" marT="4597" marB="0" anchor="b"/>
                </a:tc>
                <a:tc>
                  <a:txBody>
                    <a:bodyPr/>
                    <a:lstStyle/>
                    <a:p>
                      <a:pPr algn="ctr" fontAlgn="b"/>
                      <a:r>
                        <a:rPr lang="en-IN" sz="900" b="1" u="none" strike="noStrike" dirty="0">
                          <a:effectLst/>
                        </a:rPr>
                        <a:t>Standard Error</a:t>
                      </a:r>
                      <a:endParaRPr lang="en-IN" sz="900" b="1" i="1" u="none" strike="noStrike" dirty="0">
                        <a:solidFill>
                          <a:srgbClr val="000000"/>
                        </a:solidFill>
                        <a:effectLst/>
                        <a:latin typeface="Aptos Narrow"/>
                      </a:endParaRPr>
                    </a:p>
                  </a:txBody>
                  <a:tcPr marL="4597" marR="4597" marT="4597" marB="0" anchor="b"/>
                </a:tc>
                <a:tc>
                  <a:txBody>
                    <a:bodyPr/>
                    <a:lstStyle/>
                    <a:p>
                      <a:pPr algn="ctr" fontAlgn="b"/>
                      <a:r>
                        <a:rPr lang="en-IN" sz="900" b="1" u="none" strike="noStrike" dirty="0">
                          <a:effectLst/>
                        </a:rPr>
                        <a:t>t Stat</a:t>
                      </a:r>
                      <a:endParaRPr lang="en-IN" sz="900" b="1" i="1" u="none" strike="noStrike" dirty="0">
                        <a:solidFill>
                          <a:srgbClr val="000000"/>
                        </a:solidFill>
                        <a:effectLst/>
                        <a:latin typeface="Aptos Narrow"/>
                      </a:endParaRPr>
                    </a:p>
                  </a:txBody>
                  <a:tcPr marL="4597" marR="4597" marT="4597" marB="0" anchor="b"/>
                </a:tc>
                <a:tc>
                  <a:txBody>
                    <a:bodyPr/>
                    <a:lstStyle/>
                    <a:p>
                      <a:pPr algn="ctr" fontAlgn="b"/>
                      <a:r>
                        <a:rPr lang="en-IN" sz="900" b="1" u="none" strike="noStrike" dirty="0">
                          <a:effectLst/>
                        </a:rPr>
                        <a:t>P-value</a:t>
                      </a:r>
                      <a:endParaRPr lang="en-IN" sz="900" b="1" i="1" u="none" strike="noStrike" dirty="0">
                        <a:solidFill>
                          <a:srgbClr val="000000"/>
                        </a:solidFill>
                        <a:effectLst/>
                        <a:latin typeface="Aptos Narrow"/>
                      </a:endParaRPr>
                    </a:p>
                  </a:txBody>
                  <a:tcPr marL="4597" marR="4597" marT="4597" marB="0" anchor="b"/>
                </a:tc>
                <a:tc>
                  <a:txBody>
                    <a:bodyPr/>
                    <a:lstStyle/>
                    <a:p>
                      <a:pPr algn="ctr" fontAlgn="b"/>
                      <a:r>
                        <a:rPr lang="en-IN" sz="900" b="1" u="none" strike="noStrike" dirty="0">
                          <a:effectLst/>
                        </a:rPr>
                        <a:t>Lower 95%</a:t>
                      </a:r>
                      <a:endParaRPr lang="en-IN" sz="900" b="1" i="1" u="none" strike="noStrike" dirty="0">
                        <a:solidFill>
                          <a:srgbClr val="000000"/>
                        </a:solidFill>
                        <a:effectLst/>
                        <a:latin typeface="Aptos Narrow"/>
                      </a:endParaRPr>
                    </a:p>
                  </a:txBody>
                  <a:tcPr marL="4597" marR="4597" marT="4597" marB="0" anchor="b"/>
                </a:tc>
                <a:tc>
                  <a:txBody>
                    <a:bodyPr/>
                    <a:lstStyle/>
                    <a:p>
                      <a:pPr algn="ctr" fontAlgn="b"/>
                      <a:r>
                        <a:rPr lang="en-IN" sz="900" b="1" u="none" strike="noStrike" dirty="0">
                          <a:effectLst/>
                        </a:rPr>
                        <a:t>Upper 95%</a:t>
                      </a:r>
                      <a:endParaRPr lang="en-IN" sz="900" b="1" i="1" u="none" strike="noStrike" dirty="0">
                        <a:solidFill>
                          <a:srgbClr val="000000"/>
                        </a:solidFill>
                        <a:effectLst/>
                        <a:latin typeface="Aptos Narrow"/>
                      </a:endParaRPr>
                    </a:p>
                  </a:txBody>
                  <a:tcPr marL="4597" marR="4597" marT="4597" marB="0" anchor="b"/>
                </a:tc>
                <a:tc>
                  <a:txBody>
                    <a:bodyPr/>
                    <a:lstStyle/>
                    <a:p>
                      <a:pPr algn="ctr" fontAlgn="b"/>
                      <a:r>
                        <a:rPr lang="en-IN" sz="900" b="1" u="none" strike="noStrike" dirty="0">
                          <a:effectLst/>
                        </a:rPr>
                        <a:t>Lower 95.0%</a:t>
                      </a:r>
                      <a:endParaRPr lang="en-IN" sz="900" b="1" i="1" u="none" strike="noStrike" dirty="0">
                        <a:solidFill>
                          <a:srgbClr val="000000"/>
                        </a:solidFill>
                        <a:effectLst/>
                        <a:latin typeface="Aptos Narrow"/>
                      </a:endParaRPr>
                    </a:p>
                  </a:txBody>
                  <a:tcPr marL="4597" marR="4597" marT="4597" marB="0" anchor="b"/>
                </a:tc>
                <a:tc>
                  <a:txBody>
                    <a:bodyPr/>
                    <a:lstStyle/>
                    <a:p>
                      <a:pPr algn="ctr" fontAlgn="b"/>
                      <a:r>
                        <a:rPr lang="en-IN" sz="900" b="1" u="none" strike="noStrike" dirty="0">
                          <a:effectLst/>
                        </a:rPr>
                        <a:t>Upper 95.0%</a:t>
                      </a:r>
                      <a:endParaRPr lang="en-IN" sz="900" b="1" i="1" u="none" strike="noStrike">
                        <a:solidFill>
                          <a:srgbClr val="000000"/>
                        </a:solidFill>
                        <a:effectLst/>
                        <a:latin typeface="Aptos Narrow"/>
                      </a:endParaRPr>
                    </a:p>
                  </a:txBody>
                  <a:tcPr marL="4597" marR="4597" marT="4597" marB="0" anchor="b"/>
                </a:tc>
                <a:extLst>
                  <a:ext uri="{0D108BD9-81ED-4DB2-BD59-A6C34878D82A}">
                    <a16:rowId xmlns:a16="http://schemas.microsoft.com/office/drawing/2014/main" val="1581342893"/>
                  </a:ext>
                </a:extLst>
              </a:tr>
              <a:tr h="219490">
                <a:tc>
                  <a:txBody>
                    <a:bodyPr/>
                    <a:lstStyle/>
                    <a:p>
                      <a:pPr algn="l" fontAlgn="b"/>
                      <a:r>
                        <a:rPr lang="en-IN" sz="900" b="1" u="none" strike="noStrike" dirty="0">
                          <a:effectLst/>
                        </a:rPr>
                        <a:t>Intercept</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1.54073</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0.722816</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2.131567</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0.033091</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0.123695</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2.957764</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0.123695</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2.957764</a:t>
                      </a:r>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4266652481"/>
                  </a:ext>
                </a:extLst>
              </a:tr>
              <a:tr h="148325">
                <a:tc>
                  <a:txBody>
                    <a:bodyPr/>
                    <a:lstStyle/>
                    <a:p>
                      <a:pPr algn="l" fontAlgn="b"/>
                      <a:r>
                        <a:rPr lang="en-IN" sz="900" b="1" u="none" strike="noStrike" dirty="0">
                          <a:effectLst/>
                        </a:rPr>
                        <a:t>Lag1 </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-0.00121</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0.00064</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-1.89686</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0.057904</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-0.00247</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4.07E-05</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-0.00247</a:t>
                      </a:r>
                      <a:endParaRPr lang="en-IN" sz="900" b="1" i="0" u="none" strike="noStrike" dirty="0">
                        <a:solidFill>
                          <a:srgbClr val="000000"/>
                        </a:solidFill>
                        <a:effectLst/>
                        <a:latin typeface="Aptos Narrow"/>
                      </a:endParaRPr>
                    </a:p>
                  </a:txBody>
                  <a:tcPr marL="4597" marR="4597" marT="4597" marB="0" anchor="b"/>
                </a:tc>
                <a:tc>
                  <a:txBody>
                    <a:bodyPr/>
                    <a:lstStyle/>
                    <a:p>
                      <a:pPr algn="r" fontAlgn="b"/>
                      <a:r>
                        <a:rPr lang="en-IN" sz="900" b="1" u="none" strike="noStrike" dirty="0">
                          <a:effectLst/>
                        </a:rPr>
                        <a:t>4.07E-05</a:t>
                      </a:r>
                      <a:endParaRPr lang="en-IN" sz="900" b="1" i="0" u="none" strike="noStrike" dirty="0">
                        <a:solidFill>
                          <a:srgbClr val="000000"/>
                        </a:solidFill>
                        <a:effectLst/>
                        <a:latin typeface="Aptos Narrow"/>
                      </a:endParaRPr>
                    </a:p>
                  </a:txBody>
                  <a:tcPr marL="4597" marR="4597" marT="4597" marB="0" anchor="b"/>
                </a:tc>
                <a:extLst>
                  <a:ext uri="{0D108BD9-81ED-4DB2-BD59-A6C34878D82A}">
                    <a16:rowId xmlns:a16="http://schemas.microsoft.com/office/drawing/2014/main" val="1487988064"/>
                  </a:ext>
                </a:extLst>
              </a:tr>
            </a:tbl>
          </a:graphicData>
        </a:graphic>
      </p:graphicFrame>
    </p:spTree>
    <p:extLst>
      <p:ext uri="{BB962C8B-B14F-4D97-AF65-F5344CB8AC3E}">
        <p14:creationId xmlns:p14="http://schemas.microsoft.com/office/powerpoint/2010/main" val="19271466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7E2A1-A17E-83D0-6E2B-DF546BFB505F}"/>
              </a:ext>
            </a:extLst>
          </p:cNvPr>
          <p:cNvSpPr>
            <a:spLocks noGrp="1"/>
          </p:cNvSpPr>
          <p:nvPr>
            <p:ph type="title"/>
          </p:nvPr>
        </p:nvSpPr>
        <p:spPr>
          <a:xfrm>
            <a:off x="688340" y="348995"/>
            <a:ext cx="7917687" cy="677108"/>
          </a:xfrm>
        </p:spPr>
        <p:txBody>
          <a:bodyPr/>
          <a:lstStyle/>
          <a:p>
            <a:r>
              <a:rPr lang="en-IN" dirty="0"/>
              <a:t>Model type 2</a:t>
            </a:r>
          </a:p>
        </p:txBody>
      </p:sp>
      <p:graphicFrame>
        <p:nvGraphicFramePr>
          <p:cNvPr id="4" name="Content Placeholder 3">
            <a:extLst>
              <a:ext uri="{FF2B5EF4-FFF2-40B4-BE49-F238E27FC236}">
                <a16:creationId xmlns:a16="http://schemas.microsoft.com/office/drawing/2014/main" id="{C2AC1A23-F4E7-D4C0-E66C-5B35B78077E4}"/>
              </a:ext>
            </a:extLst>
          </p:cNvPr>
          <p:cNvGraphicFramePr>
            <a:graphicFrameLocks noGrp="1"/>
          </p:cNvGraphicFramePr>
          <p:nvPr>
            <p:ph idx="1"/>
          </p:nvPr>
        </p:nvGraphicFramePr>
        <p:xfrm>
          <a:off x="730046" y="2233844"/>
          <a:ext cx="7506931" cy="3595474"/>
        </p:xfrm>
        <a:graphic>
          <a:graphicData uri="http://schemas.openxmlformats.org/drawingml/2006/table">
            <a:tbl>
              <a:tblPr>
                <a:tableStyleId>{5C22544A-7EE6-4342-B048-85BDC9FD1C3A}</a:tableStyleId>
              </a:tblPr>
              <a:tblGrid>
                <a:gridCol w="698319">
                  <a:extLst>
                    <a:ext uri="{9D8B030D-6E8A-4147-A177-3AD203B41FA5}">
                      <a16:colId xmlns:a16="http://schemas.microsoft.com/office/drawing/2014/main" val="2442104641"/>
                    </a:ext>
                  </a:extLst>
                </a:gridCol>
                <a:gridCol w="698319">
                  <a:extLst>
                    <a:ext uri="{9D8B030D-6E8A-4147-A177-3AD203B41FA5}">
                      <a16:colId xmlns:a16="http://schemas.microsoft.com/office/drawing/2014/main" val="2476860841"/>
                    </a:ext>
                  </a:extLst>
                </a:gridCol>
                <a:gridCol w="872899">
                  <a:extLst>
                    <a:ext uri="{9D8B030D-6E8A-4147-A177-3AD203B41FA5}">
                      <a16:colId xmlns:a16="http://schemas.microsoft.com/office/drawing/2014/main" val="2860665104"/>
                    </a:ext>
                  </a:extLst>
                </a:gridCol>
                <a:gridCol w="872899">
                  <a:extLst>
                    <a:ext uri="{9D8B030D-6E8A-4147-A177-3AD203B41FA5}">
                      <a16:colId xmlns:a16="http://schemas.microsoft.com/office/drawing/2014/main" val="1262550541"/>
                    </a:ext>
                  </a:extLst>
                </a:gridCol>
                <a:gridCol w="872899">
                  <a:extLst>
                    <a:ext uri="{9D8B030D-6E8A-4147-A177-3AD203B41FA5}">
                      <a16:colId xmlns:a16="http://schemas.microsoft.com/office/drawing/2014/main" val="3137065362"/>
                    </a:ext>
                  </a:extLst>
                </a:gridCol>
                <a:gridCol w="872899">
                  <a:extLst>
                    <a:ext uri="{9D8B030D-6E8A-4147-A177-3AD203B41FA5}">
                      <a16:colId xmlns:a16="http://schemas.microsoft.com/office/drawing/2014/main" val="1404586740"/>
                    </a:ext>
                  </a:extLst>
                </a:gridCol>
                <a:gridCol w="872899">
                  <a:extLst>
                    <a:ext uri="{9D8B030D-6E8A-4147-A177-3AD203B41FA5}">
                      <a16:colId xmlns:a16="http://schemas.microsoft.com/office/drawing/2014/main" val="681633700"/>
                    </a:ext>
                  </a:extLst>
                </a:gridCol>
                <a:gridCol w="872899">
                  <a:extLst>
                    <a:ext uri="{9D8B030D-6E8A-4147-A177-3AD203B41FA5}">
                      <a16:colId xmlns:a16="http://schemas.microsoft.com/office/drawing/2014/main" val="1865880641"/>
                    </a:ext>
                  </a:extLst>
                </a:gridCol>
                <a:gridCol w="872899">
                  <a:extLst>
                    <a:ext uri="{9D8B030D-6E8A-4147-A177-3AD203B41FA5}">
                      <a16:colId xmlns:a16="http://schemas.microsoft.com/office/drawing/2014/main" val="4064383260"/>
                    </a:ext>
                  </a:extLst>
                </a:gridCol>
              </a:tblGrid>
              <a:tr h="199848">
                <a:tc gridSpan="2">
                  <a:txBody>
                    <a:bodyPr/>
                    <a:lstStyle/>
                    <a:p>
                      <a:pPr algn="l" fontAlgn="b"/>
                      <a:r>
                        <a:rPr lang="en-IN" sz="900" u="none" strike="noStrike" dirty="0">
                          <a:effectLst/>
                        </a:rPr>
                        <a:t>SUMMARY OUTPUT</a:t>
                      </a:r>
                      <a:endParaRPr lang="en-IN" sz="900" b="0" i="0" u="none" strike="noStrike" dirty="0">
                        <a:solidFill>
                          <a:srgbClr val="000000"/>
                        </a:solidFill>
                        <a:effectLst/>
                        <a:latin typeface="Aptos Narrow" panose="020B0004020202020204" pitchFamily="34" charset="0"/>
                      </a:endParaRPr>
                    </a:p>
                  </a:txBody>
                  <a:tcPr marL="4322" marR="4322" marT="4322" marB="0" anchor="b"/>
                </a:tc>
                <a:tc hMerge="1">
                  <a:txBody>
                    <a:bodyPr/>
                    <a:lstStyle/>
                    <a:p>
                      <a:endParaRPr lang="en-IN"/>
                    </a:p>
                  </a:txBody>
                  <a:tcPr/>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1319836075"/>
                  </a:ext>
                </a:extLst>
              </a:tr>
              <a:tr h="141482">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2362267638"/>
                  </a:ext>
                </a:extLst>
              </a:tr>
              <a:tr h="199848">
                <a:tc gridSpan="2">
                  <a:txBody>
                    <a:bodyPr/>
                    <a:lstStyle/>
                    <a:p>
                      <a:pPr algn="ctr" fontAlgn="b"/>
                      <a:r>
                        <a:rPr lang="en-IN" sz="900" u="none" strike="noStrike">
                          <a:effectLst/>
                        </a:rPr>
                        <a:t>Regression Statistics</a:t>
                      </a:r>
                      <a:endParaRPr lang="en-IN" sz="900" b="0" i="1" u="none" strike="noStrike">
                        <a:solidFill>
                          <a:srgbClr val="000000"/>
                        </a:solidFill>
                        <a:effectLst/>
                        <a:latin typeface="Aptos Narrow" panose="020B0004020202020204" pitchFamily="34" charset="0"/>
                      </a:endParaRPr>
                    </a:p>
                  </a:txBody>
                  <a:tcPr marL="4322" marR="4322" marT="4322" marB="0" anchor="b"/>
                </a:tc>
                <a:tc hMerge="1">
                  <a:txBody>
                    <a:bodyPr/>
                    <a:lstStyle/>
                    <a:p>
                      <a:endParaRPr lang="en-IN"/>
                    </a:p>
                  </a:txBody>
                  <a:tcPr/>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3410607274"/>
                  </a:ext>
                </a:extLst>
              </a:tr>
              <a:tr h="199848">
                <a:tc>
                  <a:txBody>
                    <a:bodyPr/>
                    <a:lstStyle/>
                    <a:p>
                      <a:pPr algn="l" fontAlgn="b"/>
                      <a:r>
                        <a:rPr lang="en-IN" sz="900" u="none" strike="noStrike">
                          <a:effectLst/>
                        </a:rPr>
                        <a:t>Multiple R</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0.073218</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2454884119"/>
                  </a:ext>
                </a:extLst>
              </a:tr>
              <a:tr h="199848">
                <a:tc>
                  <a:txBody>
                    <a:bodyPr/>
                    <a:lstStyle/>
                    <a:p>
                      <a:pPr algn="l" fontAlgn="b"/>
                      <a:r>
                        <a:rPr lang="en-IN" sz="900" u="none" strike="noStrike">
                          <a:effectLst/>
                        </a:rPr>
                        <a:t>R Square</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0.005361</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3144318455"/>
                  </a:ext>
                </a:extLst>
              </a:tr>
              <a:tr h="297551">
                <a:tc>
                  <a:txBody>
                    <a:bodyPr/>
                    <a:lstStyle/>
                    <a:p>
                      <a:pPr algn="l" fontAlgn="b"/>
                      <a:r>
                        <a:rPr lang="en-IN" sz="900" u="none" strike="noStrike">
                          <a:effectLst/>
                        </a:rPr>
                        <a:t>Adjusted R Square</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0.004964</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2122446525"/>
                  </a:ext>
                </a:extLst>
              </a:tr>
              <a:tr h="199848">
                <a:tc>
                  <a:txBody>
                    <a:bodyPr/>
                    <a:lstStyle/>
                    <a:p>
                      <a:pPr algn="l" fontAlgn="b"/>
                      <a:r>
                        <a:rPr lang="en-IN" sz="900" u="none" strike="noStrike">
                          <a:effectLst/>
                        </a:rPr>
                        <a:t>Standard Error</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13.21301</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1987327854"/>
                  </a:ext>
                </a:extLst>
              </a:tr>
              <a:tr h="199848">
                <a:tc>
                  <a:txBody>
                    <a:bodyPr/>
                    <a:lstStyle/>
                    <a:p>
                      <a:pPr algn="l" fontAlgn="b"/>
                      <a:r>
                        <a:rPr lang="en-IN" sz="900" u="none" strike="noStrike">
                          <a:effectLst/>
                        </a:rPr>
                        <a:t>Observations</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5014</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353410629"/>
                  </a:ext>
                </a:extLst>
              </a:tr>
              <a:tr h="141482">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1242238673"/>
                  </a:ext>
                </a:extLst>
              </a:tr>
              <a:tr h="141482">
                <a:tc>
                  <a:txBody>
                    <a:bodyPr/>
                    <a:lstStyle/>
                    <a:p>
                      <a:pPr algn="l" fontAlgn="b"/>
                      <a:r>
                        <a:rPr lang="en-IN" sz="900" u="none" strike="noStrike">
                          <a:effectLst/>
                        </a:rPr>
                        <a:t>ANOVA</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3955907821"/>
                  </a:ext>
                </a:extLst>
              </a:tr>
              <a:tr h="199848">
                <a:tc>
                  <a:txBody>
                    <a:bodyPr/>
                    <a:lstStyle/>
                    <a:p>
                      <a:pPr algn="ctr" fontAlgn="b"/>
                      <a:r>
                        <a:rPr lang="en-IN" sz="900" u="none" strike="noStrike">
                          <a:effectLst/>
                        </a:rPr>
                        <a:t> </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ctr" fontAlgn="b"/>
                      <a:r>
                        <a:rPr lang="en-IN" sz="900" u="none" strike="noStrike">
                          <a:effectLst/>
                        </a:rPr>
                        <a:t>df</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ctr" fontAlgn="b"/>
                      <a:r>
                        <a:rPr lang="en-IN" sz="900" u="none" strike="noStrike">
                          <a:effectLst/>
                        </a:rPr>
                        <a:t>SS</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ctr" fontAlgn="b"/>
                      <a:r>
                        <a:rPr lang="en-IN" sz="900" u="none" strike="noStrike">
                          <a:effectLst/>
                        </a:rPr>
                        <a:t>MS</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ctr" fontAlgn="b"/>
                      <a:r>
                        <a:rPr lang="en-IN" sz="900" u="none" strike="noStrike">
                          <a:effectLst/>
                        </a:rPr>
                        <a:t>F</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ctr" fontAlgn="b"/>
                      <a:r>
                        <a:rPr lang="en-IN" sz="900" u="none" strike="noStrike">
                          <a:effectLst/>
                        </a:rPr>
                        <a:t>Significance F</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664960004"/>
                  </a:ext>
                </a:extLst>
              </a:tr>
              <a:tr h="199848">
                <a:tc>
                  <a:txBody>
                    <a:bodyPr/>
                    <a:lstStyle/>
                    <a:p>
                      <a:pPr algn="l" fontAlgn="b"/>
                      <a:r>
                        <a:rPr lang="en-IN" sz="900" u="none" strike="noStrike">
                          <a:effectLst/>
                        </a:rPr>
                        <a:t>Regression</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2</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4715.206</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2357.603</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13.50414</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1.42E-06</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2297181998"/>
                  </a:ext>
                </a:extLst>
              </a:tr>
              <a:tr h="192337">
                <a:tc>
                  <a:txBody>
                    <a:bodyPr/>
                    <a:lstStyle/>
                    <a:p>
                      <a:pPr algn="l" fontAlgn="b"/>
                      <a:r>
                        <a:rPr lang="en-IN" sz="900" u="none" strike="noStrike">
                          <a:effectLst/>
                        </a:rPr>
                        <a:t>Residual</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5011</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874839</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174.5837</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2976424488"/>
                  </a:ext>
                </a:extLst>
              </a:tr>
              <a:tr h="141482">
                <a:tc>
                  <a:txBody>
                    <a:bodyPr/>
                    <a:lstStyle/>
                    <a:p>
                      <a:pPr algn="l" fontAlgn="b"/>
                      <a:r>
                        <a:rPr lang="en-IN" sz="900" u="none" strike="noStrike">
                          <a:effectLst/>
                        </a:rPr>
                        <a:t>Total</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5013</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879554.2</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r>
                        <a:rPr lang="en-IN" sz="900" u="none" strike="noStrike">
                          <a:effectLst/>
                        </a:rPr>
                        <a:t> </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r>
                        <a:rPr lang="en-IN" sz="900" u="none" strike="noStrike">
                          <a:effectLst/>
                        </a:rPr>
                        <a:t> </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r>
                        <a:rPr lang="en-IN" sz="900" u="none" strike="noStrike">
                          <a:effectLst/>
                        </a:rPr>
                        <a:t> </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650023051"/>
                  </a:ext>
                </a:extLst>
              </a:tr>
              <a:tr h="141482">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l" fontAlgn="b"/>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3008956262"/>
                  </a:ext>
                </a:extLst>
              </a:tr>
              <a:tr h="199848">
                <a:tc>
                  <a:txBody>
                    <a:bodyPr/>
                    <a:lstStyle/>
                    <a:p>
                      <a:pPr algn="ctr" fontAlgn="b"/>
                      <a:r>
                        <a:rPr lang="en-IN" sz="900" u="none" strike="noStrike">
                          <a:effectLst/>
                        </a:rPr>
                        <a:t> </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ctr" fontAlgn="b"/>
                      <a:r>
                        <a:rPr lang="en-IN" sz="900" u="none" strike="noStrike">
                          <a:effectLst/>
                        </a:rPr>
                        <a:t>Coefficients</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ctr" fontAlgn="b"/>
                      <a:r>
                        <a:rPr lang="en-IN" sz="900" u="none" strike="noStrike">
                          <a:effectLst/>
                        </a:rPr>
                        <a:t>Standard Error</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ctr" fontAlgn="b"/>
                      <a:r>
                        <a:rPr lang="en-IN" sz="900" u="none" strike="noStrike">
                          <a:effectLst/>
                        </a:rPr>
                        <a:t>t Stat</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ctr" fontAlgn="b"/>
                      <a:r>
                        <a:rPr lang="en-IN" sz="900" u="none" strike="noStrike">
                          <a:effectLst/>
                        </a:rPr>
                        <a:t>P-value</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ctr" fontAlgn="b"/>
                      <a:r>
                        <a:rPr lang="en-IN" sz="900" u="none" strike="noStrike">
                          <a:effectLst/>
                        </a:rPr>
                        <a:t>Lower 95%</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ctr" fontAlgn="b"/>
                      <a:r>
                        <a:rPr lang="en-IN" sz="900" u="none" strike="noStrike">
                          <a:effectLst/>
                        </a:rPr>
                        <a:t>Upper 95%</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ctr" fontAlgn="b"/>
                      <a:r>
                        <a:rPr lang="en-IN" sz="900" u="none" strike="noStrike">
                          <a:effectLst/>
                        </a:rPr>
                        <a:t>Lower 95.0%</a:t>
                      </a:r>
                      <a:endParaRPr lang="en-IN" sz="900" b="0" i="1" u="none" strike="noStrike">
                        <a:solidFill>
                          <a:srgbClr val="000000"/>
                        </a:solidFill>
                        <a:effectLst/>
                        <a:latin typeface="Aptos Narrow" panose="020B0004020202020204" pitchFamily="34" charset="0"/>
                      </a:endParaRPr>
                    </a:p>
                  </a:txBody>
                  <a:tcPr marL="4322" marR="4322" marT="4322" marB="0" anchor="b"/>
                </a:tc>
                <a:tc>
                  <a:txBody>
                    <a:bodyPr/>
                    <a:lstStyle/>
                    <a:p>
                      <a:pPr algn="ctr" fontAlgn="b"/>
                      <a:r>
                        <a:rPr lang="en-IN" sz="900" u="none" strike="noStrike" dirty="0">
                          <a:effectLst/>
                        </a:rPr>
                        <a:t>Upper 95.0%</a:t>
                      </a:r>
                      <a:endParaRPr lang="en-IN" sz="900" b="0" i="1"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2249776855"/>
                  </a:ext>
                </a:extLst>
              </a:tr>
              <a:tr h="199848">
                <a:tc>
                  <a:txBody>
                    <a:bodyPr/>
                    <a:lstStyle/>
                    <a:p>
                      <a:pPr algn="l" fontAlgn="b"/>
                      <a:r>
                        <a:rPr lang="en-IN" sz="900" u="none" strike="noStrike">
                          <a:effectLst/>
                        </a:rPr>
                        <a:t>Intercept</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1.494096</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0.721271</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2.071477</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0.038365</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0.08009</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2.908102</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0.08009</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dirty="0">
                          <a:effectLst/>
                        </a:rPr>
                        <a:t>2.908102</a:t>
                      </a:r>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1535267980"/>
                  </a:ext>
                </a:extLst>
              </a:tr>
              <a:tr h="199848">
                <a:tc>
                  <a:txBody>
                    <a:bodyPr/>
                    <a:lstStyle/>
                    <a:p>
                      <a:pPr algn="l" fontAlgn="b"/>
                      <a:r>
                        <a:rPr lang="en-IN" sz="900" u="none" strike="noStrike">
                          <a:effectLst/>
                        </a:rPr>
                        <a:t>Lag1 </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-0.00116</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0.000638</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-1.81271</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0.069937</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-0.00241</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9.43E-05</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-0.00241</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dirty="0">
                          <a:effectLst/>
                        </a:rPr>
                        <a:t>9.43E-05</a:t>
                      </a:r>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770311373"/>
                  </a:ext>
                </a:extLst>
              </a:tr>
              <a:tr h="199848">
                <a:tc>
                  <a:txBody>
                    <a:bodyPr/>
                    <a:lstStyle/>
                    <a:p>
                      <a:pPr algn="l" fontAlgn="b"/>
                      <a:r>
                        <a:rPr lang="en-IN" sz="900" u="none" strike="noStrike">
                          <a:effectLst/>
                        </a:rPr>
                        <a:t>lag1FirstDiff</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-0.06816</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0.014091</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-4.83675</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1.36E-06</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-0.09578</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-0.04053</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a:effectLst/>
                        </a:rPr>
                        <a:t>-0.09578</a:t>
                      </a:r>
                      <a:endParaRPr lang="en-IN" sz="900" b="0" i="0" u="none" strike="noStrike">
                        <a:solidFill>
                          <a:srgbClr val="000000"/>
                        </a:solidFill>
                        <a:effectLst/>
                        <a:latin typeface="Aptos Narrow" panose="020B0004020202020204" pitchFamily="34" charset="0"/>
                      </a:endParaRPr>
                    </a:p>
                  </a:txBody>
                  <a:tcPr marL="4322" marR="4322" marT="4322" marB="0" anchor="b"/>
                </a:tc>
                <a:tc>
                  <a:txBody>
                    <a:bodyPr/>
                    <a:lstStyle/>
                    <a:p>
                      <a:pPr algn="r" fontAlgn="b"/>
                      <a:r>
                        <a:rPr lang="en-IN" sz="900" u="none" strike="noStrike" dirty="0">
                          <a:effectLst/>
                        </a:rPr>
                        <a:t>-0.04053</a:t>
                      </a:r>
                      <a:endParaRPr lang="en-IN" sz="900" b="0" i="0" u="none" strike="noStrike" dirty="0">
                        <a:solidFill>
                          <a:srgbClr val="000000"/>
                        </a:solidFill>
                        <a:effectLst/>
                        <a:latin typeface="Aptos Narrow" panose="020B0004020202020204" pitchFamily="34" charset="0"/>
                      </a:endParaRPr>
                    </a:p>
                  </a:txBody>
                  <a:tcPr marL="4322" marR="4322" marT="4322" marB="0" anchor="b"/>
                </a:tc>
                <a:extLst>
                  <a:ext uri="{0D108BD9-81ED-4DB2-BD59-A6C34878D82A}">
                    <a16:rowId xmlns:a16="http://schemas.microsoft.com/office/drawing/2014/main" val="3171345742"/>
                  </a:ext>
                </a:extLst>
              </a:tr>
            </a:tbl>
          </a:graphicData>
        </a:graphic>
      </p:graphicFrame>
    </p:spTree>
    <p:extLst>
      <p:ext uri="{BB962C8B-B14F-4D97-AF65-F5344CB8AC3E}">
        <p14:creationId xmlns:p14="http://schemas.microsoft.com/office/powerpoint/2010/main" val="16446126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BD717-D0A0-467D-A063-5ACBA4EAB89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D82BD26-569D-482F-B814-BEFEC1577AE3}"/>
              </a:ext>
            </a:extLst>
          </p:cNvPr>
          <p:cNvSpPr>
            <a:spLocks noGrp="1"/>
          </p:cNvSpPr>
          <p:nvPr>
            <p:ph type="body" idx="1"/>
          </p:nvPr>
        </p:nvSpPr>
        <p:spPr/>
        <p:txBody>
          <a:bodyPr/>
          <a:lstStyle/>
          <a:p>
            <a:endParaRPr lang="en-IN" dirty="0"/>
          </a:p>
        </p:txBody>
      </p:sp>
      <p:graphicFrame>
        <p:nvGraphicFramePr>
          <p:cNvPr id="5" name="Table 4">
            <a:extLst>
              <a:ext uri="{FF2B5EF4-FFF2-40B4-BE49-F238E27FC236}">
                <a16:creationId xmlns:a16="http://schemas.microsoft.com/office/drawing/2014/main" id="{1D6563BD-0BB7-4073-AD77-87DDDADB1583}"/>
              </a:ext>
            </a:extLst>
          </p:cNvPr>
          <p:cNvGraphicFramePr>
            <a:graphicFrameLocks noGrp="1"/>
          </p:cNvGraphicFramePr>
          <p:nvPr>
            <p:extLst>
              <p:ext uri="{D42A27DB-BD31-4B8C-83A1-F6EECF244321}">
                <p14:modId xmlns:p14="http://schemas.microsoft.com/office/powerpoint/2010/main" val="2556314856"/>
              </p:ext>
            </p:extLst>
          </p:nvPr>
        </p:nvGraphicFramePr>
        <p:xfrm>
          <a:off x="0" y="0"/>
          <a:ext cx="9143999" cy="6857999"/>
        </p:xfrm>
        <a:graphic>
          <a:graphicData uri="http://schemas.openxmlformats.org/drawingml/2006/table">
            <a:tbl>
              <a:tblPr firstRow="1" firstCol="1" bandRow="1">
                <a:tableStyleId>{5C22544A-7EE6-4342-B048-85BDC9FD1C3A}</a:tableStyleId>
              </a:tblPr>
              <a:tblGrid>
                <a:gridCol w="9143999">
                  <a:extLst>
                    <a:ext uri="{9D8B030D-6E8A-4147-A177-3AD203B41FA5}">
                      <a16:colId xmlns:a16="http://schemas.microsoft.com/office/drawing/2014/main" val="2259938834"/>
                    </a:ext>
                  </a:extLst>
                </a:gridCol>
              </a:tblGrid>
              <a:tr h="6857999">
                <a:tc>
                  <a:txBody>
                    <a:bodyPr/>
                    <a:lstStyle/>
                    <a:p>
                      <a:pPr>
                        <a:lnSpc>
                          <a:spcPct val="100000"/>
                        </a:lnSpc>
                        <a:spcAft>
                          <a:spcPts val="800"/>
                        </a:spcAft>
                      </a:pPr>
                      <a:r>
                        <a:rPr lang="en-IN" sz="1200" dirty="0">
                          <a:solidFill>
                            <a:srgbClr val="FF0000"/>
                          </a:solidFill>
                          <a:effectLst/>
                          <a:latin typeface="Times New Roman" panose="02020603050405020304" pitchFamily="18" charset="0"/>
                          <a:cs typeface="Times New Roman" panose="02020603050405020304" pitchFamily="18" charset="0"/>
                        </a:rPr>
                        <a:t>Suppose you're working on a project involving time series forecasting for a company's sales data. You conduct an ADF test on the sales data and find the following results:</a:t>
                      </a:r>
                    </a:p>
                    <a:p>
                      <a:pPr marL="342900" lvl="0" indent="-342900">
                        <a:lnSpc>
                          <a:spcPct val="100000"/>
                        </a:lnSpc>
                        <a:spcAft>
                          <a:spcPts val="800"/>
                        </a:spcAft>
                        <a:buSzPts val="1000"/>
                        <a:buFont typeface="Symbol" panose="05050102010706020507" pitchFamily="18" charset="2"/>
                        <a:buChar char=""/>
                        <a:tabLst>
                          <a:tab pos="457200" algn="l"/>
                        </a:tabLst>
                      </a:pPr>
                      <a:r>
                        <a:rPr lang="en-IN" sz="1200" dirty="0">
                          <a:solidFill>
                            <a:srgbClr val="FF0000"/>
                          </a:solidFill>
                          <a:effectLst/>
                          <a:latin typeface="Times New Roman" panose="02020603050405020304" pitchFamily="18" charset="0"/>
                          <a:cs typeface="Times New Roman" panose="02020603050405020304" pitchFamily="18" charset="0"/>
                        </a:rPr>
                        <a:t>Test statistic: -2.10</a:t>
                      </a:r>
                    </a:p>
                    <a:p>
                      <a:pPr marL="342900" lvl="0" indent="-342900">
                        <a:lnSpc>
                          <a:spcPct val="100000"/>
                        </a:lnSpc>
                        <a:spcAft>
                          <a:spcPts val="800"/>
                        </a:spcAft>
                        <a:buSzPts val="1000"/>
                        <a:buFont typeface="Symbol" panose="05050102010706020507" pitchFamily="18" charset="2"/>
                        <a:buChar char=""/>
                        <a:tabLst>
                          <a:tab pos="457200" algn="l"/>
                        </a:tabLst>
                      </a:pPr>
                      <a:r>
                        <a:rPr lang="en-IN" sz="1200" dirty="0">
                          <a:solidFill>
                            <a:srgbClr val="FF0000"/>
                          </a:solidFill>
                          <a:effectLst/>
                          <a:latin typeface="Times New Roman" panose="02020603050405020304" pitchFamily="18" charset="0"/>
                          <a:cs typeface="Times New Roman" panose="02020603050405020304" pitchFamily="18" charset="0"/>
                        </a:rPr>
                        <a:t>p-value: 0.42</a:t>
                      </a:r>
                    </a:p>
                    <a:p>
                      <a:pPr marL="342900" lvl="0" indent="-342900">
                        <a:lnSpc>
                          <a:spcPct val="100000"/>
                        </a:lnSpc>
                        <a:spcAft>
                          <a:spcPts val="800"/>
                        </a:spcAft>
                        <a:buSzPts val="1000"/>
                        <a:buFont typeface="Symbol" panose="05050102010706020507" pitchFamily="18" charset="2"/>
                        <a:buChar char=""/>
                        <a:tabLst>
                          <a:tab pos="457200" algn="l"/>
                        </a:tabLst>
                      </a:pPr>
                      <a:r>
                        <a:rPr lang="en-IN" sz="1200" dirty="0">
                          <a:solidFill>
                            <a:srgbClr val="FF0000"/>
                          </a:solidFill>
                          <a:effectLst/>
                          <a:latin typeface="Times New Roman" panose="02020603050405020304" pitchFamily="18" charset="0"/>
                          <a:cs typeface="Times New Roman" panose="02020603050405020304" pitchFamily="18" charset="0"/>
                        </a:rPr>
                        <a:t>Critical values at 5%, -2.88, </a:t>
                      </a:r>
                    </a:p>
                    <a:p>
                      <a:pPr>
                        <a:lnSpc>
                          <a:spcPct val="100000"/>
                        </a:lnSpc>
                        <a:spcAft>
                          <a:spcPts val="800"/>
                        </a:spcAft>
                      </a:pPr>
                      <a:r>
                        <a:rPr lang="en-IN" sz="1200" dirty="0">
                          <a:solidFill>
                            <a:srgbClr val="FF0000"/>
                          </a:solidFill>
                          <a:effectLst/>
                          <a:latin typeface="Times New Roman" panose="02020603050405020304" pitchFamily="18" charset="0"/>
                          <a:cs typeface="Times New Roman" panose="02020603050405020304" pitchFamily="18" charset="0"/>
                        </a:rPr>
                        <a:t>Is this time series suitable for direct forecasting using models like ARIMA? What steps would you recommend before applying the forecasting model, based on the ADF test results?</a:t>
                      </a:r>
                    </a:p>
                    <a:p>
                      <a:pPr>
                        <a:lnSpc>
                          <a:spcPct val="100000"/>
                        </a:lnSpc>
                        <a:spcAft>
                          <a:spcPts val="800"/>
                        </a:spcAft>
                      </a:pPr>
                      <a:r>
                        <a:rPr lang="en-IN" sz="1200" dirty="0">
                          <a:effectLst/>
                          <a:latin typeface="Times New Roman" panose="02020603050405020304" pitchFamily="18" charset="0"/>
                          <a:cs typeface="Times New Roman" panose="02020603050405020304" pitchFamily="18" charset="0"/>
                        </a:rPr>
                        <a:t>The </a:t>
                      </a:r>
                      <a:r>
                        <a:rPr lang="en-IN" sz="1200" dirty="0">
                          <a:solidFill>
                            <a:schemeClr val="tx1"/>
                          </a:solidFill>
                          <a:effectLst/>
                          <a:latin typeface="Times New Roman" panose="02020603050405020304" pitchFamily="18" charset="0"/>
                          <a:cs typeface="Times New Roman" panose="02020603050405020304" pitchFamily="18" charset="0"/>
                        </a:rPr>
                        <a:t>Augmented Dickey-Fuller (ADF) test results on the company's sales data are as follows:</a:t>
                      </a:r>
                    </a:p>
                    <a:p>
                      <a:pPr marL="0" lvl="0" indent="0">
                        <a:lnSpc>
                          <a:spcPct val="100000"/>
                        </a:lnSpc>
                        <a:spcAft>
                          <a:spcPts val="800"/>
                        </a:spcAft>
                        <a:buSzPts val="1000"/>
                        <a:buFont typeface="Symbol" panose="05050102010706020507" pitchFamily="18" charset="2"/>
                        <a:buNone/>
                        <a:tabLst>
                          <a:tab pos="457200" algn="l"/>
                        </a:tabLst>
                      </a:pPr>
                      <a:r>
                        <a:rPr lang="en-IN" sz="1200" dirty="0">
                          <a:solidFill>
                            <a:schemeClr val="tx1"/>
                          </a:solidFill>
                          <a:effectLst/>
                          <a:latin typeface="Times New Roman" panose="02020603050405020304" pitchFamily="18" charset="0"/>
                          <a:cs typeface="Times New Roman" panose="02020603050405020304" pitchFamily="18" charset="0"/>
                        </a:rPr>
                        <a:t>         Test statistic: -2.10                                  p-value: 0.42                          Critical value at 5% significance level: -2.88</a:t>
                      </a:r>
                    </a:p>
                    <a:p>
                      <a:pPr>
                        <a:lnSpc>
                          <a:spcPct val="100000"/>
                        </a:lnSpc>
                        <a:spcAft>
                          <a:spcPts val="800"/>
                        </a:spcAft>
                      </a:pPr>
                      <a:r>
                        <a:rPr lang="en-IN" sz="1200" dirty="0">
                          <a:solidFill>
                            <a:schemeClr val="tx1"/>
                          </a:solidFill>
                          <a:effectLst/>
                          <a:latin typeface="Times New Roman" panose="02020603050405020304" pitchFamily="18" charset="0"/>
                          <a:cs typeface="Times New Roman" panose="02020603050405020304" pitchFamily="18" charset="0"/>
                        </a:rPr>
                        <a:t>Step-by-Step Interpretation:</a:t>
                      </a:r>
                    </a:p>
                    <a:p>
                      <a:pPr marL="342900" lvl="0" indent="-342900">
                        <a:lnSpc>
                          <a:spcPct val="100000"/>
                        </a:lnSpc>
                        <a:spcAft>
                          <a:spcPts val="800"/>
                        </a:spcAft>
                        <a:buFont typeface="+mj-lt"/>
                        <a:buAutoNum type="arabicPeriod"/>
                        <a:tabLst>
                          <a:tab pos="457200" algn="l"/>
                        </a:tabLst>
                      </a:pPr>
                      <a:r>
                        <a:rPr lang="en-IN" sz="1200" dirty="0">
                          <a:solidFill>
                            <a:schemeClr val="tx1"/>
                          </a:solidFill>
                          <a:effectLst/>
                          <a:latin typeface="Times New Roman" panose="02020603050405020304" pitchFamily="18" charset="0"/>
                          <a:cs typeface="Times New Roman" panose="02020603050405020304" pitchFamily="18" charset="0"/>
                        </a:rPr>
                        <a:t>Null Hypothesis (H₀): The time series has a unit root, meaning it is non-stationary.</a:t>
                      </a:r>
                    </a:p>
                    <a:p>
                      <a:pPr marL="342900" lvl="0" indent="-342900">
                        <a:lnSpc>
                          <a:spcPct val="100000"/>
                        </a:lnSpc>
                        <a:spcAft>
                          <a:spcPts val="800"/>
                        </a:spcAft>
                        <a:buFont typeface="+mj-lt"/>
                        <a:buAutoNum type="arabicPeriod"/>
                        <a:tabLst>
                          <a:tab pos="457200" algn="l"/>
                        </a:tabLst>
                      </a:pPr>
                      <a:r>
                        <a:rPr lang="en-IN" sz="1200" dirty="0">
                          <a:solidFill>
                            <a:schemeClr val="tx1"/>
                          </a:solidFill>
                          <a:effectLst/>
                          <a:latin typeface="Times New Roman" panose="02020603050405020304" pitchFamily="18" charset="0"/>
                          <a:cs typeface="Times New Roman" panose="02020603050405020304" pitchFamily="18" charset="0"/>
                        </a:rPr>
                        <a:t>Alternative Hypothesis (H₁): The time series does not have a unit root, meaning it is stationary.</a:t>
                      </a:r>
                    </a:p>
                    <a:p>
                      <a:pPr>
                        <a:lnSpc>
                          <a:spcPct val="100000"/>
                        </a:lnSpc>
                        <a:spcAft>
                          <a:spcPts val="800"/>
                        </a:spcAft>
                      </a:pPr>
                      <a:r>
                        <a:rPr lang="en-IN" sz="1200" dirty="0">
                          <a:solidFill>
                            <a:schemeClr val="tx1"/>
                          </a:solidFill>
                          <a:effectLst/>
                          <a:latin typeface="Times New Roman" panose="02020603050405020304" pitchFamily="18" charset="0"/>
                          <a:cs typeface="Times New Roman" panose="02020603050405020304" pitchFamily="18" charset="0"/>
                        </a:rPr>
                        <a:t>Comparison with Critical Value:</a:t>
                      </a:r>
                    </a:p>
                    <a:p>
                      <a:pPr marL="342900" lvl="0" indent="-342900">
                        <a:lnSpc>
                          <a:spcPct val="100000"/>
                        </a:lnSpc>
                        <a:spcAft>
                          <a:spcPts val="800"/>
                        </a:spcAft>
                        <a:buSzPts val="1000"/>
                        <a:buFont typeface="Symbol" panose="05050102010706020507" pitchFamily="18" charset="2"/>
                        <a:buChar char=""/>
                        <a:tabLst>
                          <a:tab pos="457200" algn="l"/>
                        </a:tabLst>
                      </a:pPr>
                      <a:r>
                        <a:rPr lang="en-IN" sz="1200" dirty="0">
                          <a:solidFill>
                            <a:schemeClr val="tx1"/>
                          </a:solidFill>
                          <a:effectLst/>
                          <a:latin typeface="Times New Roman" panose="02020603050405020304" pitchFamily="18" charset="0"/>
                          <a:cs typeface="Times New Roman" panose="02020603050405020304" pitchFamily="18" charset="0"/>
                        </a:rPr>
                        <a:t>The test statistic (-2.10) is less negative than the critical value at 5% (-2.88). This means we fail to reject the null hypothesis at the 5% significance level, indicating that the time series likely has a unit root and is non-stationary.</a:t>
                      </a:r>
                    </a:p>
                    <a:p>
                      <a:pPr>
                        <a:lnSpc>
                          <a:spcPct val="100000"/>
                        </a:lnSpc>
                        <a:spcAft>
                          <a:spcPts val="800"/>
                        </a:spcAft>
                      </a:pPr>
                      <a:r>
                        <a:rPr lang="en-IN" sz="1200" dirty="0">
                          <a:solidFill>
                            <a:schemeClr val="tx1"/>
                          </a:solidFill>
                          <a:effectLst/>
                          <a:latin typeface="Times New Roman" panose="02020603050405020304" pitchFamily="18" charset="0"/>
                          <a:cs typeface="Times New Roman" panose="02020603050405020304" pitchFamily="18" charset="0"/>
                        </a:rPr>
                        <a:t>p-value Interpretation:</a:t>
                      </a:r>
                    </a:p>
                    <a:p>
                      <a:pPr marL="342900" lvl="0" indent="-342900">
                        <a:lnSpc>
                          <a:spcPct val="100000"/>
                        </a:lnSpc>
                        <a:spcAft>
                          <a:spcPts val="800"/>
                        </a:spcAft>
                        <a:buSzPts val="1000"/>
                        <a:buFont typeface="Symbol" panose="05050102010706020507" pitchFamily="18" charset="2"/>
                        <a:buChar char=""/>
                        <a:tabLst>
                          <a:tab pos="457200" algn="l"/>
                        </a:tabLst>
                      </a:pPr>
                      <a:r>
                        <a:rPr lang="en-IN" sz="1200" dirty="0">
                          <a:solidFill>
                            <a:schemeClr val="tx1"/>
                          </a:solidFill>
                          <a:effectLst/>
                          <a:latin typeface="Times New Roman" panose="02020603050405020304" pitchFamily="18" charset="0"/>
                          <a:cs typeface="Times New Roman" panose="02020603050405020304" pitchFamily="18" charset="0"/>
                        </a:rPr>
                        <a:t>The p-value of 0.42 is significantly higher than the typical significance level of 0.05, further supporting that the time series is non-stationary.</a:t>
                      </a:r>
                    </a:p>
                    <a:p>
                      <a:pPr>
                        <a:lnSpc>
                          <a:spcPct val="100000"/>
                        </a:lnSpc>
                        <a:spcAft>
                          <a:spcPts val="800"/>
                        </a:spcAft>
                      </a:pPr>
                      <a:r>
                        <a:rPr lang="en-IN" sz="1200" dirty="0">
                          <a:solidFill>
                            <a:schemeClr val="tx1"/>
                          </a:solidFill>
                          <a:effectLst/>
                          <a:latin typeface="Times New Roman" panose="02020603050405020304" pitchFamily="18" charset="0"/>
                          <a:cs typeface="Times New Roman" panose="02020603050405020304" pitchFamily="18" charset="0"/>
                        </a:rPr>
                        <a:t>Conclusion:</a:t>
                      </a:r>
                    </a:p>
                    <a:p>
                      <a:pPr>
                        <a:lnSpc>
                          <a:spcPct val="100000"/>
                        </a:lnSpc>
                        <a:spcAft>
                          <a:spcPts val="800"/>
                        </a:spcAft>
                      </a:pPr>
                      <a:r>
                        <a:rPr lang="en-IN" sz="1200" dirty="0">
                          <a:solidFill>
                            <a:schemeClr val="tx1"/>
                          </a:solidFill>
                          <a:effectLst/>
                          <a:latin typeface="Times New Roman" panose="02020603050405020304" pitchFamily="18" charset="0"/>
                          <a:cs typeface="Times New Roman" panose="02020603050405020304" pitchFamily="18" charset="0"/>
                        </a:rPr>
                        <a:t>The ADF test indicates that the sales data is non-stationary. Since ARIMA models typically require the time series to be stationary (i.e., without trends or seasonality), the current sales data is not suitable for direct forecasting using ARIMA in its present form.</a:t>
                      </a:r>
                    </a:p>
                    <a:p>
                      <a:pPr>
                        <a:lnSpc>
                          <a:spcPct val="100000"/>
                        </a:lnSpc>
                        <a:spcAft>
                          <a:spcPts val="800"/>
                        </a:spcAft>
                      </a:pPr>
                      <a:r>
                        <a:rPr lang="en-IN" sz="1200" dirty="0">
                          <a:solidFill>
                            <a:schemeClr val="tx1"/>
                          </a:solidFill>
                          <a:effectLst/>
                          <a:latin typeface="Times New Roman" panose="02020603050405020304" pitchFamily="18" charset="0"/>
                          <a:cs typeface="Times New Roman" panose="02020603050405020304" pitchFamily="18" charset="0"/>
                        </a:rPr>
                        <a:t>Recommended Steps Before Applying ARIMA:</a:t>
                      </a:r>
                    </a:p>
                    <a:p>
                      <a:pPr marL="342900" lvl="0" indent="-342900">
                        <a:lnSpc>
                          <a:spcPct val="100000"/>
                        </a:lnSpc>
                        <a:spcAft>
                          <a:spcPts val="800"/>
                        </a:spcAft>
                        <a:buFont typeface="+mj-lt"/>
                        <a:buAutoNum type="arabicPeriod"/>
                        <a:tabLst>
                          <a:tab pos="457200" algn="l"/>
                        </a:tabLst>
                      </a:pPr>
                      <a:r>
                        <a:rPr lang="en-IN" sz="1200" dirty="0">
                          <a:solidFill>
                            <a:schemeClr val="tx1"/>
                          </a:solidFill>
                          <a:effectLst/>
                          <a:latin typeface="Times New Roman" panose="02020603050405020304" pitchFamily="18" charset="0"/>
                          <a:cs typeface="Times New Roman" panose="02020603050405020304" pitchFamily="18" charset="0"/>
                        </a:rPr>
                        <a:t>Differencing:</a:t>
                      </a:r>
                    </a:p>
                    <a:p>
                      <a:pPr marL="342900" lvl="0" indent="-342900">
                        <a:lnSpc>
                          <a:spcPct val="100000"/>
                        </a:lnSpc>
                        <a:spcAft>
                          <a:spcPts val="800"/>
                        </a:spcAft>
                        <a:buFont typeface="+mj-lt"/>
                        <a:buAutoNum type="arabicPeriod"/>
                        <a:tabLst>
                          <a:tab pos="457200" algn="l"/>
                        </a:tabLst>
                      </a:pPr>
                      <a:r>
                        <a:rPr lang="en-IN" sz="1200" dirty="0">
                          <a:solidFill>
                            <a:schemeClr val="tx1"/>
                          </a:solidFill>
                          <a:effectLst/>
                          <a:latin typeface="Times New Roman" panose="02020603050405020304" pitchFamily="18" charset="0"/>
                          <a:cs typeface="Times New Roman" panose="02020603050405020304" pitchFamily="18" charset="0"/>
                        </a:rPr>
                        <a:t>Recheck Stationarity:</a:t>
                      </a:r>
                    </a:p>
                    <a:p>
                      <a:pPr>
                        <a:lnSpc>
                          <a:spcPct val="100000"/>
                        </a:lnSpc>
                        <a:spcAft>
                          <a:spcPts val="800"/>
                        </a:spcAft>
                      </a:pPr>
                      <a:r>
                        <a:rPr lang="en-IN" sz="1200" dirty="0">
                          <a:solidFill>
                            <a:schemeClr val="tx1"/>
                          </a:solidFill>
                          <a:effectLst/>
                          <a:latin typeface="Times New Roman" panose="02020603050405020304" pitchFamily="18" charset="0"/>
                          <a:cs typeface="Times New Roman" panose="02020603050405020304" pitchFamily="18" charset="0"/>
                        </a:rPr>
                        <a:t>Final Recommendation: The sales data is not currently suitable for direct forecasting using ARIMA due to non-stationarity. Apply differencing and transformations (if needed) to make the series stationary before proceeding with ARIMA </a:t>
                      </a:r>
                      <a:r>
                        <a:rPr lang="en-IN" sz="1200" dirty="0" err="1">
                          <a:solidFill>
                            <a:schemeClr val="tx1"/>
                          </a:solidFill>
                          <a:effectLst/>
                          <a:latin typeface="Times New Roman" panose="02020603050405020304" pitchFamily="18" charset="0"/>
                          <a:cs typeface="Times New Roman" panose="02020603050405020304" pitchFamily="18" charset="0"/>
                        </a:rPr>
                        <a:t>modeling</a:t>
                      </a:r>
                      <a:r>
                        <a:rPr lang="en-IN" sz="1200" dirty="0">
                          <a:solidFill>
                            <a:schemeClr val="tx1"/>
                          </a:solidFill>
                          <a:effectLst/>
                          <a:latin typeface="Times New Roman" panose="02020603050405020304" pitchFamily="18" charset="0"/>
                          <a:cs typeface="Times New Roman" panose="02020603050405020304" pitchFamily="18" charset="0"/>
                        </a:rPr>
                        <a:t>.</a:t>
                      </a:r>
                    </a:p>
                  </a:txBody>
                  <a:tcPr marL="30197" marR="30197" marT="0" marB="0" anchor="ctr">
                    <a:solidFill>
                      <a:schemeClr val="bg1"/>
                    </a:solidFill>
                  </a:tcPr>
                </a:tc>
                <a:extLst>
                  <a:ext uri="{0D108BD9-81ED-4DB2-BD59-A6C34878D82A}">
                    <a16:rowId xmlns:a16="http://schemas.microsoft.com/office/drawing/2014/main" val="3967752409"/>
                  </a:ext>
                </a:extLst>
              </a:tr>
            </a:tbl>
          </a:graphicData>
        </a:graphic>
      </p:graphicFrame>
    </p:spTree>
    <p:extLst>
      <p:ext uri="{BB962C8B-B14F-4D97-AF65-F5344CB8AC3E}">
        <p14:creationId xmlns:p14="http://schemas.microsoft.com/office/powerpoint/2010/main" val="33739597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F4920B0-B68A-4D3A-A775-770030898E02}"/>
                  </a:ext>
                </a:extLst>
              </p:cNvPr>
              <p:cNvSpPr txBox="1"/>
              <p:nvPr/>
            </p:nvSpPr>
            <p:spPr>
              <a:xfrm>
                <a:off x="0" y="52776"/>
                <a:ext cx="8346054" cy="1295739"/>
              </a:xfrm>
              <a:prstGeom prst="rect">
                <a:avLst/>
              </a:prstGeom>
              <a:noFill/>
            </p:spPr>
            <p:txBody>
              <a:bodyPr wrap="square">
                <a:spAutoFit/>
              </a:bodyPr>
              <a:lstStyle/>
              <a:p>
                <a:pPr algn="just">
                  <a:spcAft>
                    <a:spcPts val="8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Apply </a:t>
                </a:r>
                <a:r>
                  <a:rPr lang="en-US" sz="1200" dirty="0" err="1">
                    <a:effectLst/>
                    <a:latin typeface="Times New Roman" panose="02020603050405020304" pitchFamily="18" charset="0"/>
                    <a:ea typeface="Times New Roman" panose="02020603050405020304" pitchFamily="18" charset="0"/>
                    <a:cs typeface="Times New Roman" panose="02020603050405020304" pitchFamily="18" charset="0"/>
                  </a:rPr>
                  <a:t>Ljung</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box test for the diagnostic of the residuals obtained after forecasting using an ARIMA model and check that the residuals are uncorrelated significantly up to lag 2 with 5% significance.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Consider –               1.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Residuals={0.4,−0.2,0.1,−0.3,0.2,−0.1,0.5,−0.4,0.2,0.5}</a:t>
                </a:r>
                <a:endParaRPr lang="en-IN" sz="1200" dirty="0">
                  <a:latin typeface="Times New Roman" panose="02020603050405020304" pitchFamily="18" charset="0"/>
                  <a:ea typeface="Calibri" panose="020F0502020204030204" pitchFamily="34" charset="0"/>
                  <a:cs typeface="Times New Roman" panose="02020603050405020304" pitchFamily="18" charset="0"/>
                </a:endParaRPr>
              </a:p>
              <a:p>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2. Correlation coefficient at lag 1 and lag2 are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0.3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and 0.2 respectively.  </a:t>
                </a:r>
              </a:p>
              <a:p>
                <a:r>
                  <a:rPr lang="en-IN" sz="1200" dirty="0">
                    <a:latin typeface="Times New Roman" panose="02020603050405020304" pitchFamily="18" charset="0"/>
                    <a:ea typeface="Calibri" panose="020F0502020204030204" pitchFamily="34" charset="0"/>
                    <a:cs typeface="Times New Roman" panose="02020603050405020304" pitchFamily="18" charset="0"/>
                  </a:rPr>
                  <a:t>                               3.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The Critical value of chi-square </a:t>
                </a:r>
                <a14:m>
                  <m:oMath xmlns:m="http://schemas.openxmlformats.org/officeDocument/2006/math">
                    <m:sSub>
                      <m:sSubPr>
                        <m:ctrlPr>
                          <a:rPr lang="en-IN" sz="12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200" i="1">
                            <a:effectLst/>
                            <a:latin typeface="Cambria Math" panose="02040503050406030204" pitchFamily="18" charset="0"/>
                            <a:ea typeface="Calibri" panose="020F0502020204030204" pitchFamily="34" charset="0"/>
                            <a:cs typeface="Times New Roman" panose="02020603050405020304" pitchFamily="18" charset="0"/>
                          </a:rPr>
                          <m:t>𝜒</m:t>
                        </m:r>
                      </m:e>
                      <m:sub>
                        <m:r>
                          <a:rPr lang="en-IN" sz="1200" i="1">
                            <a:effectLst/>
                            <a:latin typeface="Cambria Math" panose="02040503050406030204" pitchFamily="18" charset="0"/>
                            <a:ea typeface="Calibri" panose="020F0502020204030204" pitchFamily="34" charset="0"/>
                            <a:cs typeface="Times New Roman" panose="02020603050405020304" pitchFamily="18" charset="0"/>
                          </a:rPr>
                          <m:t>0.05,2</m:t>
                        </m:r>
                      </m:sub>
                    </m:sSub>
                    <m:r>
                      <a:rPr lang="en-IN" sz="1200" i="1">
                        <a:effectLst/>
                        <a:latin typeface="Cambria Math" panose="02040503050406030204" pitchFamily="18" charset="0"/>
                        <a:ea typeface="Calibri" panose="020F0502020204030204" pitchFamily="34" charset="0"/>
                        <a:cs typeface="Times New Roman" panose="02020603050405020304" pitchFamily="18" charset="0"/>
                      </a:rPr>
                      <m:t>=5.99</m:t>
                    </m:r>
                  </m:oMath>
                </a14:m>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1600200" lvl="3" indent="-228600">
                  <a:spcAft>
                    <a:spcPts val="800"/>
                  </a:spcAft>
                  <a:buFont typeface="+mj-lt"/>
                  <a:buAutoNum type="arabicPeriod"/>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2F4920B0-B68A-4D3A-A775-770030898E02}"/>
                  </a:ext>
                </a:extLst>
              </p:cNvPr>
              <p:cNvSpPr txBox="1">
                <a:spLocks noRot="1" noChangeAspect="1" noMove="1" noResize="1" noEditPoints="1" noAdjustHandles="1" noChangeArrowheads="1" noChangeShapeType="1" noTextEdit="1"/>
              </p:cNvSpPr>
              <p:nvPr/>
            </p:nvSpPr>
            <p:spPr>
              <a:xfrm>
                <a:off x="0" y="52776"/>
                <a:ext cx="8346054" cy="1295739"/>
              </a:xfrm>
              <a:prstGeom prst="rect">
                <a:avLst/>
              </a:prstGeom>
              <a:blipFill>
                <a:blip r:embed="rId2"/>
                <a:stretch>
                  <a:fillRect t="-472"/>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7F25AD15-3539-4F29-9D1C-6A079EE0F4F8}"/>
              </a:ext>
            </a:extLst>
          </p:cNvPr>
          <p:cNvPicPr/>
          <p:nvPr/>
        </p:nvPicPr>
        <p:blipFill>
          <a:blip r:embed="rId3"/>
          <a:stretch>
            <a:fillRect/>
          </a:stretch>
        </p:blipFill>
        <p:spPr>
          <a:xfrm>
            <a:off x="457200" y="1752600"/>
            <a:ext cx="4589145" cy="2926715"/>
          </a:xfrm>
          <a:prstGeom prst="rect">
            <a:avLst/>
          </a:prstGeom>
        </p:spPr>
      </p:pic>
      <p:pic>
        <p:nvPicPr>
          <p:cNvPr id="7" name="Picture 6">
            <a:extLst>
              <a:ext uri="{FF2B5EF4-FFF2-40B4-BE49-F238E27FC236}">
                <a16:creationId xmlns:a16="http://schemas.microsoft.com/office/drawing/2014/main" id="{227C2429-507F-4AC8-A789-C1591EA2B816}"/>
              </a:ext>
            </a:extLst>
          </p:cNvPr>
          <p:cNvPicPr/>
          <p:nvPr/>
        </p:nvPicPr>
        <p:blipFill>
          <a:blip r:embed="rId4"/>
          <a:stretch>
            <a:fillRect/>
          </a:stretch>
        </p:blipFill>
        <p:spPr>
          <a:xfrm>
            <a:off x="5181600" y="1811020"/>
            <a:ext cx="3398520" cy="3235960"/>
          </a:xfrm>
          <a:prstGeom prst="rect">
            <a:avLst/>
          </a:prstGeom>
        </p:spPr>
      </p:pic>
      <p:pic>
        <p:nvPicPr>
          <p:cNvPr id="8" name="Picture 7">
            <a:extLst>
              <a:ext uri="{FF2B5EF4-FFF2-40B4-BE49-F238E27FC236}">
                <a16:creationId xmlns:a16="http://schemas.microsoft.com/office/drawing/2014/main" id="{655E823E-6216-487E-9B3A-A0B69C9CE127}"/>
              </a:ext>
            </a:extLst>
          </p:cNvPr>
          <p:cNvPicPr/>
          <p:nvPr/>
        </p:nvPicPr>
        <p:blipFill>
          <a:blip r:embed="rId5"/>
          <a:stretch>
            <a:fillRect/>
          </a:stretch>
        </p:blipFill>
        <p:spPr>
          <a:xfrm>
            <a:off x="1752600" y="5024568"/>
            <a:ext cx="4589145" cy="1186180"/>
          </a:xfrm>
          <a:prstGeom prst="rect">
            <a:avLst/>
          </a:prstGeom>
        </p:spPr>
      </p:pic>
    </p:spTree>
    <p:extLst>
      <p:ext uri="{BB962C8B-B14F-4D97-AF65-F5344CB8AC3E}">
        <p14:creationId xmlns:p14="http://schemas.microsoft.com/office/powerpoint/2010/main" val="17433051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F50882DB5479844909E1F28D96D5EA6" ma:contentTypeVersion="3" ma:contentTypeDescription="Create a new document." ma:contentTypeScope="" ma:versionID="1e76a69f548f94a99f5b0d140e73a80d">
  <xsd:schema xmlns:xsd="http://www.w3.org/2001/XMLSchema" xmlns:xs="http://www.w3.org/2001/XMLSchema" xmlns:p="http://schemas.microsoft.com/office/2006/metadata/properties" xmlns:ns2="a5f8d943-1117-4cae-b572-469e7d8356c0" targetNamespace="http://schemas.microsoft.com/office/2006/metadata/properties" ma:root="true" ma:fieldsID="57c557a86ec1095b04888b0d3111bdad" ns2:_="">
    <xsd:import namespace="a5f8d943-1117-4cae-b572-469e7d8356c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f8d943-1117-4cae-b572-469e7d8356c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C1E8879-E1EE-46E0-ACE9-C44E65AF773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E500FFA-DFBC-45FC-8285-BB8625375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5f8d943-1117-4cae-b572-469e7d8356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2CE0E8D-ACAF-4EF6-92E9-E22A1F10F0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7312</TotalTime>
  <Words>5914</Words>
  <Application>Microsoft Office PowerPoint</Application>
  <PresentationFormat>On-screen Show (4:3)</PresentationFormat>
  <Paragraphs>648</Paragraphs>
  <Slides>59</Slides>
  <Notes>0</Notes>
  <HiddenSlides>0</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Office Theme</vt:lpstr>
      <vt:lpstr>TIME SERIES ANALYSIS Unit 3-4-5-6</vt:lpstr>
      <vt:lpstr>Differencing</vt:lpstr>
      <vt:lpstr>Differencing</vt:lpstr>
      <vt:lpstr>Auto-Regression</vt:lpstr>
      <vt:lpstr>Auto-Regression</vt:lpstr>
      <vt:lpstr>Auto-Regression</vt:lpstr>
      <vt:lpstr>Moving Average Models</vt:lpstr>
      <vt:lpstr>Moving Average Models</vt:lpstr>
      <vt:lpstr>Moving Average Models</vt:lpstr>
      <vt:lpstr>ARMA Models</vt:lpstr>
      <vt:lpstr>ARMA Models</vt:lpstr>
      <vt:lpstr>Non-seasonal ARIMA models</vt:lpstr>
      <vt:lpstr>Non-seasonal ARIMA models</vt:lpstr>
      <vt:lpstr>Non-seasonal ARIMA models</vt:lpstr>
      <vt:lpstr>Understanding ARIMA models</vt:lpstr>
      <vt:lpstr>ACF and PACF plots</vt:lpstr>
      <vt:lpstr>ACF and PACF plots</vt:lpstr>
      <vt:lpstr>ACF and PACF plots</vt:lpstr>
      <vt:lpstr>ACF and PACF plots</vt:lpstr>
      <vt:lpstr>Estimation and order selection</vt:lpstr>
      <vt:lpstr> Order selection - Information Criteria</vt:lpstr>
      <vt:lpstr>Calculating AICc</vt:lpstr>
      <vt:lpstr> Order selection - Information Criteria</vt:lpstr>
      <vt:lpstr> How does ARIMA works</vt:lpstr>
      <vt:lpstr> Hyndman-Khandakar algorithm</vt:lpstr>
      <vt:lpstr> Hyndman-Khandakar algorithm</vt:lpstr>
      <vt:lpstr> How does ARIMA works</vt:lpstr>
      <vt:lpstr> How does ARIMA works</vt:lpstr>
      <vt:lpstr> How does ARIMA works</vt:lpstr>
      <vt:lpstr> The Portmanteau test, also known as the Ljung-Box test</vt:lpstr>
      <vt:lpstr> The Portmanteau test, also known as the Ljung-Box test</vt:lpstr>
      <vt:lpstr> The Portmanteau test, also known as the Ljung-Box test</vt:lpstr>
      <vt:lpstr>Forecasts</vt:lpstr>
      <vt:lpstr>Forecasts</vt:lpstr>
      <vt:lpstr>Forecasts</vt:lpstr>
      <vt:lpstr>Seasonal ARIMA</vt:lpstr>
      <vt:lpstr>Seasonal ARIMA</vt:lpstr>
      <vt:lpstr>Seasonal ARIMA</vt:lpstr>
      <vt:lpstr>Seasonal ARIMA</vt:lpstr>
      <vt:lpstr>Seasonal ARIMA</vt:lpstr>
      <vt:lpstr>Seasonal ARIMA</vt:lpstr>
      <vt:lpstr>Seasonal ARIMA</vt:lpstr>
      <vt:lpstr>Seasonal ARIMA</vt:lpstr>
      <vt:lpstr>Regression with ARIMA errors</vt:lpstr>
      <vt:lpstr>Regression with ARIMA errors</vt:lpstr>
      <vt:lpstr>Regression with ARIMA errors</vt:lpstr>
      <vt:lpstr>Regression with ARIMA errors</vt:lpstr>
      <vt:lpstr>Regression with ARIMA errors</vt:lpstr>
      <vt:lpstr>Regression with ARIMA errors</vt:lpstr>
      <vt:lpstr>Regression with ARIMA errors</vt:lpstr>
      <vt:lpstr>Regression with ARIMA errors</vt:lpstr>
      <vt:lpstr>Information criteria </vt:lpstr>
      <vt:lpstr>ADF Test for checking Stationarity and selection of parameter d</vt:lpstr>
      <vt:lpstr>ADF Test Regression Equation </vt:lpstr>
      <vt:lpstr>Example – spx data</vt:lpstr>
      <vt:lpstr>Model type 1</vt:lpstr>
      <vt:lpstr>Model type 2</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ANALYSIS</dc:title>
  <dc:creator>Shailendra Aote</dc:creator>
  <cp:lastModifiedBy>Shailendra Aote</cp:lastModifiedBy>
  <cp:revision>163</cp:revision>
  <cp:lastPrinted>2024-08-10T03:43:00Z</cp:lastPrinted>
  <dcterms:created xsi:type="dcterms:W3CDTF">2024-07-10T05:44:00Z</dcterms:created>
  <dcterms:modified xsi:type="dcterms:W3CDTF">2026-08-26T13:52:56Z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2023-03-02T16:30:00Z</vt:filetime>
  </property>
  <property fmtid="{D5CDD505-2E9C-101B-9397-08002B2CF9AE}" pid="3" name="LastSaved">
    <vt:filetime>2024-07-10T16:30:00Z</vt:filetime>
  </property>
  <property fmtid="{D5CDD505-2E9C-101B-9397-08002B2CF9AE}" pid="4" name="Producer">
    <vt:lpwstr>macOS Version 13.2 (Build 22D49) Quartz PDFContext</vt:lpwstr>
  </property>
  <property fmtid="{D5CDD505-2E9C-101B-9397-08002B2CF9AE}" pid="5" name="ICV">
    <vt:lpwstr>1B8BA8D75D7F4659A0B42F9D685DAD75_12</vt:lpwstr>
  </property>
  <property fmtid="{D5CDD505-2E9C-101B-9397-08002B2CF9AE}" pid="6" name="KSOProductBuildVer">
    <vt:lpwstr>1033-12.2.0.17562</vt:lpwstr>
  </property>
  <property fmtid="{D5CDD505-2E9C-101B-9397-08002B2CF9AE}" pid="7" name="ContentTypeId">
    <vt:lpwstr>0x0101007F50882DB5479844909E1F28D96D5EA6</vt:lpwstr>
  </property>
</Properties>
</file>